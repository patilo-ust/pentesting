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5" d="100"/>
          <a:sy n="65" d="100"/>
        </p:scale>
        <p:origin x="62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4873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635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1393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1003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52248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9968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80726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8266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1724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362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1676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1344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487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3176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4326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1147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9286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0A3005C-69E2-423C-BD27-FCEB53B4520A}" type="datetimeFigureOut">
              <a:rPr lang="es-CL" smtClean="0"/>
              <a:t>17-08-2025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7D66B9A-75D4-4F14-A91D-A1D348BD1C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81375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ilto:John.Doe@cia.gov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3EBDB-E613-48A9-AC13-AF7BE4835C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noProof="0" dirty="0"/>
              <a:t>El Arte de Ser Invisible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C12A3A-1471-2C89-7C46-6A85BD9A24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noProof="0" dirty="0"/>
              <a:t>Clase 3 – </a:t>
            </a:r>
            <a:r>
              <a:rPr lang="es-CL" noProof="0" dirty="0" err="1"/>
              <a:t>Pentesting</a:t>
            </a:r>
            <a:endParaRPr lang="es-CL" noProof="0" dirty="0"/>
          </a:p>
          <a:p>
            <a:r>
              <a:rPr lang="es-CL" noProof="0" dirty="0"/>
              <a:t>Recopilación de Información Pasiva</a:t>
            </a:r>
          </a:p>
        </p:txBody>
      </p:sp>
    </p:spTree>
    <p:extLst>
      <p:ext uri="{BB962C8B-B14F-4D97-AF65-F5344CB8AC3E}">
        <p14:creationId xmlns:p14="http://schemas.microsoft.com/office/powerpoint/2010/main" val="240180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73F97-17D5-FDBB-C765-4D9321179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noProof="0" dirty="0"/>
              <a:t>La fase inicial de un </a:t>
            </a:r>
            <a:r>
              <a:rPr lang="es-CL" noProof="0" dirty="0" err="1"/>
              <a:t>pentesting</a:t>
            </a:r>
            <a:endParaRPr lang="es-CL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496088-3A1E-527D-258F-47CABBB67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b="1" noProof="0" dirty="0"/>
              <a:t>Recopilación pasiva vs. activa:</a:t>
            </a:r>
            <a:r>
              <a:rPr lang="es-CL" noProof="0" dirty="0"/>
              <a:t> La pasiva no genera tráfico directo al objetivo, por lo que es indetectable para la mayoría de los sistemas de seguridad</a:t>
            </a:r>
          </a:p>
          <a:p>
            <a:r>
              <a:rPr lang="es-CL" noProof="0" dirty="0"/>
              <a:t>Concepto de OSINT (</a:t>
            </a:r>
            <a:r>
              <a:rPr lang="es-CL" b="1" noProof="0" dirty="0"/>
              <a:t>Open-</a:t>
            </a:r>
            <a:r>
              <a:rPr lang="es-CL" b="1" noProof="0" dirty="0" err="1"/>
              <a:t>Source</a:t>
            </a:r>
            <a:r>
              <a:rPr lang="es-CL" b="1" noProof="0" dirty="0"/>
              <a:t> </a:t>
            </a:r>
            <a:r>
              <a:rPr lang="es-CL" b="1" noProof="0" dirty="0" err="1"/>
              <a:t>Intelligence</a:t>
            </a:r>
            <a:r>
              <a:rPr lang="es-CL" noProof="0" dirty="0"/>
              <a:t>): El uso de fuentes de información públicas para obtener datos sobre un objetivo</a:t>
            </a:r>
          </a:p>
          <a:p>
            <a:endParaRPr lang="es-CL" noProof="0" dirty="0"/>
          </a:p>
          <a:p>
            <a:r>
              <a:rPr lang="es-CL" b="1" noProof="0" dirty="0"/>
              <a:t>Objetivo:</a:t>
            </a:r>
            <a:r>
              <a:rPr lang="es-CL" noProof="0" dirty="0"/>
              <a:t> Crear un perfil detallado del objetivo (dominios, subdominios, tecnologías, empleados, etc.) antes de interactuar directamente</a:t>
            </a:r>
          </a:p>
        </p:txBody>
      </p:sp>
    </p:spTree>
    <p:extLst>
      <p:ext uri="{BB962C8B-B14F-4D97-AF65-F5344CB8AC3E}">
        <p14:creationId xmlns:p14="http://schemas.microsoft.com/office/powerpoint/2010/main" val="161053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1C169-3395-6A2E-BCD7-6C6ED4A53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970450"/>
          </a:xfrm>
        </p:spPr>
        <p:txBody>
          <a:bodyPr/>
          <a:lstStyle/>
          <a:p>
            <a:r>
              <a:rPr lang="es-CL" noProof="0" dirty="0" err="1"/>
              <a:t>Dorking</a:t>
            </a:r>
            <a:r>
              <a:rPr lang="es-CL" noProof="0" dirty="0"/>
              <a:t> Avanzado con Motores de Búsqueda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9ECFFE-79CC-AADF-605C-8F6C73CD3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66800"/>
            <a:ext cx="10353762" cy="4058751"/>
          </a:xfrm>
        </p:spPr>
        <p:txBody>
          <a:bodyPr/>
          <a:lstStyle/>
          <a:p>
            <a:r>
              <a:rPr lang="es-CL" b="1" noProof="0" dirty="0"/>
              <a:t>¿Qué es </a:t>
            </a:r>
            <a:r>
              <a:rPr lang="es-CL" b="1" noProof="0" dirty="0" err="1"/>
              <a:t>Dorking</a:t>
            </a:r>
            <a:r>
              <a:rPr lang="es-CL" b="1" noProof="0" dirty="0"/>
              <a:t>?:</a:t>
            </a:r>
            <a:r>
              <a:rPr lang="es-CL" noProof="0" dirty="0"/>
              <a:t> El uso de operadores de búsqueda avanzados para encontrar información específica y sensible en bases de datos indexadas por motores de búsqueda como Google.</a:t>
            </a:r>
          </a:p>
          <a:p>
            <a:r>
              <a:rPr lang="es-CL" noProof="0" dirty="0"/>
              <a:t>Ejemplos prácticos:</a:t>
            </a:r>
          </a:p>
          <a:p>
            <a:r>
              <a:rPr lang="es-CL" noProof="0" dirty="0"/>
              <a:t> site: ejemplo.com </a:t>
            </a:r>
            <a:r>
              <a:rPr lang="es-CL" noProof="0" dirty="0" err="1"/>
              <a:t>filetype:pdf</a:t>
            </a:r>
            <a:r>
              <a:rPr lang="es-CL" noProof="0" dirty="0"/>
              <a:t> </a:t>
            </a:r>
          </a:p>
          <a:p>
            <a:r>
              <a:rPr lang="es-CL" noProof="0" dirty="0"/>
              <a:t>para manuales o documentos. </a:t>
            </a:r>
            <a:r>
              <a:rPr lang="es-CL" noProof="0" dirty="0" err="1"/>
              <a:t>intitle</a:t>
            </a:r>
            <a:r>
              <a:rPr lang="es-CL" noProof="0" dirty="0"/>
              <a:t>:"</a:t>
            </a:r>
            <a:r>
              <a:rPr lang="es-CL" noProof="0" dirty="0" err="1"/>
              <a:t>index</a:t>
            </a:r>
            <a:r>
              <a:rPr lang="es-CL" noProof="0" dirty="0"/>
              <a:t> </a:t>
            </a:r>
            <a:r>
              <a:rPr lang="es-CL" noProof="0" dirty="0" err="1"/>
              <a:t>of</a:t>
            </a:r>
            <a:r>
              <a:rPr lang="es-CL" noProof="0" dirty="0"/>
              <a:t>" </a:t>
            </a:r>
          </a:p>
          <a:p>
            <a:r>
              <a:rPr lang="es-CL" noProof="0" dirty="0"/>
              <a:t>"</a:t>
            </a:r>
            <a:r>
              <a:rPr lang="es-CL" noProof="0" dirty="0" err="1"/>
              <a:t>parent</a:t>
            </a:r>
            <a:r>
              <a:rPr lang="es-CL" noProof="0" dirty="0"/>
              <a:t> </a:t>
            </a:r>
            <a:r>
              <a:rPr lang="es-CL" noProof="0" dirty="0" err="1"/>
              <a:t>directory</a:t>
            </a:r>
            <a:r>
              <a:rPr lang="es-CL" noProof="0" dirty="0"/>
              <a:t>" </a:t>
            </a:r>
            <a:r>
              <a:rPr lang="es-CL" noProof="0" dirty="0" err="1"/>
              <a:t>password</a:t>
            </a:r>
            <a:r>
              <a:rPr lang="es-CL" noProof="0" dirty="0"/>
              <a:t> para directorios expuestos.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E9208D3-B46F-6E0E-1FAC-8AFB3F3DA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969" y="4072513"/>
            <a:ext cx="6511413" cy="278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616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76B39-1338-D90A-7521-A93C56A4C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noProof="0" dirty="0"/>
              <a:t>Aplicando lo aprendido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282E47F-D4B8-B0C5-0173-BD56B08678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706745"/>
              </p:ext>
            </p:extLst>
          </p:nvPr>
        </p:nvGraphicFramePr>
        <p:xfrm>
          <a:off x="261257" y="1684587"/>
          <a:ext cx="11739153" cy="1354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4134">
                  <a:extLst>
                    <a:ext uri="{9D8B030D-6E8A-4147-A177-3AD203B41FA5}">
                      <a16:colId xmlns:a16="http://schemas.microsoft.com/office/drawing/2014/main" val="3094812249"/>
                    </a:ext>
                  </a:extLst>
                </a:gridCol>
                <a:gridCol w="2559787">
                  <a:extLst>
                    <a:ext uri="{9D8B030D-6E8A-4147-A177-3AD203B41FA5}">
                      <a16:colId xmlns:a16="http://schemas.microsoft.com/office/drawing/2014/main" val="3557138616"/>
                    </a:ext>
                  </a:extLst>
                </a:gridCol>
                <a:gridCol w="2576092">
                  <a:extLst>
                    <a:ext uri="{9D8B030D-6E8A-4147-A177-3AD203B41FA5}">
                      <a16:colId xmlns:a16="http://schemas.microsoft.com/office/drawing/2014/main" val="3801013970"/>
                    </a:ext>
                  </a:extLst>
                </a:gridCol>
                <a:gridCol w="3195659">
                  <a:extLst>
                    <a:ext uri="{9D8B030D-6E8A-4147-A177-3AD203B41FA5}">
                      <a16:colId xmlns:a16="http://schemas.microsoft.com/office/drawing/2014/main" val="731858639"/>
                    </a:ext>
                  </a:extLst>
                </a:gridCol>
                <a:gridCol w="1793481">
                  <a:extLst>
                    <a:ext uri="{9D8B030D-6E8A-4147-A177-3AD203B41FA5}">
                      <a16:colId xmlns:a16="http://schemas.microsoft.com/office/drawing/2014/main" val="2993885975"/>
                    </a:ext>
                  </a:extLst>
                </a:gridCol>
              </a:tblGrid>
              <a:tr h="2852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inurl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noProof="0" dirty="0">
                          <a:effectLst/>
                        </a:rPr>
                        <a:t>site: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filetype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intitle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ext</a:t>
                      </a:r>
                      <a:r>
                        <a:rPr lang="es-CL" sz="1100" u="none" strike="noStrike" noProof="0" dirty="0">
                          <a:effectLst/>
                        </a:rPr>
                        <a:t>: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4031065"/>
                  </a:ext>
                </a:extLst>
              </a:tr>
              <a:tr h="5347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inurl:admin</a:t>
                      </a:r>
                      <a:r>
                        <a:rPr lang="es-CL" sz="1100" u="none" strike="noStrike" noProof="0" dirty="0">
                          <a:effectLst/>
                        </a:rPr>
                        <a:t> </a:t>
                      </a:r>
                      <a:r>
                        <a:rPr lang="es-CL" sz="1100" u="none" strike="noStrike" noProof="0" dirty="0" err="1">
                          <a:effectLst/>
                        </a:rPr>
                        <a:t>login</a:t>
                      </a:r>
                      <a:r>
                        <a:rPr lang="es-CL" sz="1100" u="none" strike="noStrike" noProof="0" dirty="0">
                          <a:effectLst/>
                        </a:rPr>
                        <a:t>  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site:github.com</a:t>
                      </a:r>
                      <a:r>
                        <a:rPr lang="es-CL" sz="1100" u="none" strike="noStrike" noProof="0" dirty="0">
                          <a:effectLst/>
                        </a:rPr>
                        <a:t> </a:t>
                      </a:r>
                      <a:r>
                        <a:rPr lang="es-CL" sz="1100" u="none" strike="noStrike" noProof="0" dirty="0" err="1">
                          <a:effectLst/>
                        </a:rPr>
                        <a:t>password</a:t>
                      </a:r>
                      <a:r>
                        <a:rPr lang="es-CL" sz="1100" u="none" strike="noStrike" noProof="0" dirty="0">
                          <a:effectLst/>
                        </a:rPr>
                        <a:t>  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filetype:pdf</a:t>
                      </a:r>
                      <a:r>
                        <a:rPr lang="es-CL" sz="1100" u="none" strike="noStrike" noProof="0" dirty="0">
                          <a:effectLst/>
                        </a:rPr>
                        <a:t> "</a:t>
                      </a:r>
                      <a:r>
                        <a:rPr lang="es-CL" sz="1100" u="none" strike="noStrike" noProof="0" dirty="0" err="1">
                          <a:effectLst/>
                        </a:rPr>
                        <a:t>confidential</a:t>
                      </a:r>
                      <a:r>
                        <a:rPr lang="es-CL" sz="1100" u="none" strike="noStrike" noProof="0" dirty="0">
                          <a:effectLst/>
                        </a:rPr>
                        <a:t>"  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intitle</a:t>
                      </a:r>
                      <a:r>
                        <a:rPr lang="es-CL" sz="1100" u="none" strike="noStrike" noProof="0" dirty="0">
                          <a:effectLst/>
                        </a:rPr>
                        <a:t>:"</a:t>
                      </a:r>
                      <a:r>
                        <a:rPr lang="es-CL" sz="1100" u="none" strike="noStrike" noProof="0" dirty="0" err="1">
                          <a:effectLst/>
                        </a:rPr>
                        <a:t>index</a:t>
                      </a:r>
                      <a:r>
                        <a:rPr lang="es-CL" sz="1100" u="none" strike="noStrike" noProof="0" dirty="0">
                          <a:effectLst/>
                        </a:rPr>
                        <a:t> </a:t>
                      </a:r>
                      <a:r>
                        <a:rPr lang="es-CL" sz="1100" u="none" strike="noStrike" noProof="0" dirty="0" err="1">
                          <a:effectLst/>
                        </a:rPr>
                        <a:t>of</a:t>
                      </a:r>
                      <a:r>
                        <a:rPr lang="es-CL" sz="1100" u="none" strike="noStrike" noProof="0" dirty="0">
                          <a:effectLst/>
                        </a:rPr>
                        <a:t>" /</a:t>
                      </a:r>
                      <a:r>
                        <a:rPr lang="es-CL" sz="1100" u="none" strike="noStrike" noProof="0" dirty="0" err="1">
                          <a:effectLst/>
                        </a:rPr>
                        <a:t>backup</a:t>
                      </a:r>
                      <a:r>
                        <a:rPr lang="es-CL" sz="1100" u="none" strike="noStrike" noProof="0" dirty="0">
                          <a:effectLst/>
                        </a:rPr>
                        <a:t>  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ext:sql</a:t>
                      </a:r>
                      <a:r>
                        <a:rPr lang="es-CL" sz="1100" u="none" strike="noStrike" noProof="0" dirty="0">
                          <a:effectLst/>
                        </a:rPr>
                        <a:t> "CREATE TABLE"  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96265021"/>
                  </a:ext>
                </a:extLst>
              </a:tr>
              <a:tr h="5347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inurl:wp-admin</a:t>
                      </a:r>
                      <a:r>
                        <a:rPr lang="es-CL" sz="1100" u="none" strike="noStrike" noProof="0" dirty="0">
                          <a:effectLst/>
                        </a:rPr>
                        <a:t>/</a:t>
                      </a:r>
                      <a:r>
                        <a:rPr lang="es-CL" sz="1100" u="none" strike="noStrike" noProof="0" dirty="0" err="1">
                          <a:effectLst/>
                        </a:rPr>
                        <a:t>login</a:t>
                      </a:r>
                      <a:r>
                        <a:rPr lang="es-CL" sz="1100" u="none" strike="noStrike" noProof="0" dirty="0">
                          <a:effectLst/>
                        </a:rPr>
                        <a:t>  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site:twitter.com</a:t>
                      </a:r>
                      <a:r>
                        <a:rPr lang="es-CL" sz="1100" u="none" strike="noStrike" noProof="0" dirty="0">
                          <a:effectLst/>
                        </a:rPr>
                        <a:t> "</a:t>
                      </a:r>
                      <a:r>
                        <a:rPr lang="es-CL" sz="1100" u="none" strike="noStrike" noProof="0" dirty="0" err="1">
                          <a:effectLst/>
                        </a:rPr>
                        <a:t>forgot</a:t>
                      </a:r>
                      <a:r>
                        <a:rPr lang="es-CL" sz="1100" u="none" strike="noStrike" noProof="0" dirty="0">
                          <a:effectLst/>
                        </a:rPr>
                        <a:t> </a:t>
                      </a:r>
                      <a:r>
                        <a:rPr lang="es-CL" sz="1100" u="none" strike="noStrike" noProof="0" dirty="0" err="1">
                          <a:effectLst/>
                        </a:rPr>
                        <a:t>password</a:t>
                      </a:r>
                      <a:r>
                        <a:rPr lang="es-CL" sz="1100" u="none" strike="noStrike" noProof="0" dirty="0">
                          <a:effectLst/>
                        </a:rPr>
                        <a:t>"  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filetype:xlsx</a:t>
                      </a:r>
                      <a:r>
                        <a:rPr lang="es-CL" sz="1100" u="none" strike="noStrike" noProof="0" dirty="0">
                          <a:effectLst/>
                        </a:rPr>
                        <a:t> "</a:t>
                      </a:r>
                      <a:r>
                        <a:rPr lang="es-CL" sz="1100" u="none" strike="noStrike" noProof="0" dirty="0" err="1">
                          <a:effectLst/>
                        </a:rPr>
                        <a:t>financial</a:t>
                      </a:r>
                      <a:r>
                        <a:rPr lang="es-CL" sz="1100" u="none" strike="noStrike" noProof="0" dirty="0">
                          <a:effectLst/>
                        </a:rPr>
                        <a:t> </a:t>
                      </a:r>
                      <a:r>
                        <a:rPr lang="es-CL" sz="1100" u="none" strike="noStrike" noProof="0" dirty="0" err="1">
                          <a:effectLst/>
                        </a:rPr>
                        <a:t>report</a:t>
                      </a:r>
                      <a:r>
                        <a:rPr lang="es-CL" sz="1100" u="none" strike="noStrike" noProof="0" dirty="0">
                          <a:effectLst/>
                        </a:rPr>
                        <a:t>" 2023  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intitle</a:t>
                      </a:r>
                      <a:r>
                        <a:rPr lang="es-CL" sz="1100" u="none" strike="noStrike" noProof="0" dirty="0">
                          <a:effectLst/>
                        </a:rPr>
                        <a:t>:"</a:t>
                      </a:r>
                      <a:r>
                        <a:rPr lang="es-CL" sz="1100" u="none" strike="noStrike" noProof="0" dirty="0" err="1">
                          <a:effectLst/>
                        </a:rPr>
                        <a:t>dashboard</a:t>
                      </a:r>
                      <a:r>
                        <a:rPr lang="es-CL" sz="1100" u="none" strike="noStrike" noProof="0" dirty="0">
                          <a:effectLst/>
                        </a:rPr>
                        <a:t>" "</a:t>
                      </a:r>
                      <a:r>
                        <a:rPr lang="es-CL" sz="1100" u="none" strike="noStrike" noProof="0" dirty="0" err="1">
                          <a:effectLst/>
                        </a:rPr>
                        <a:t>username</a:t>
                      </a:r>
                      <a:r>
                        <a:rPr lang="es-CL" sz="1100" u="none" strike="noStrike" noProof="0" dirty="0">
                          <a:effectLst/>
                        </a:rPr>
                        <a:t>" "</a:t>
                      </a:r>
                      <a:r>
                        <a:rPr lang="es-CL" sz="1100" u="none" strike="noStrike" noProof="0" dirty="0" err="1">
                          <a:effectLst/>
                        </a:rPr>
                        <a:t>password</a:t>
                      </a:r>
                      <a:r>
                        <a:rPr lang="es-CL" sz="1100" u="none" strike="noStrike" noProof="0" dirty="0">
                          <a:effectLst/>
                        </a:rPr>
                        <a:t>"  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ext:env</a:t>
                      </a:r>
                      <a:r>
                        <a:rPr lang="es-CL" sz="1100" u="none" strike="noStrike" noProof="0" dirty="0">
                          <a:effectLst/>
                        </a:rPr>
                        <a:t> DB_PASSWORD  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96958922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CCE2D0A-BE40-411A-02FF-9E90AB3C7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37341"/>
              </p:ext>
            </p:extLst>
          </p:nvPr>
        </p:nvGraphicFramePr>
        <p:xfrm>
          <a:off x="2963997" y="3620816"/>
          <a:ext cx="5927453" cy="14649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4327">
                  <a:extLst>
                    <a:ext uri="{9D8B030D-6E8A-4147-A177-3AD203B41FA5}">
                      <a16:colId xmlns:a16="http://schemas.microsoft.com/office/drawing/2014/main" val="69786547"/>
                    </a:ext>
                  </a:extLst>
                </a:gridCol>
                <a:gridCol w="2623126">
                  <a:extLst>
                    <a:ext uri="{9D8B030D-6E8A-4147-A177-3AD203B41FA5}">
                      <a16:colId xmlns:a16="http://schemas.microsoft.com/office/drawing/2014/main" val="2365155196"/>
                    </a:ext>
                  </a:extLst>
                </a:gridCol>
              </a:tblGrid>
              <a:tr h="25664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dorks</a:t>
                      </a:r>
                      <a:r>
                        <a:rPr lang="es-CL" sz="1100" u="none" strike="noStrike" noProof="0" dirty="0">
                          <a:effectLst/>
                        </a:rPr>
                        <a:t> avanzados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955820"/>
                  </a:ext>
                </a:extLst>
              </a:tr>
              <a:tr h="4812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noProof="0" dirty="0" err="1">
                          <a:effectLst/>
                        </a:rPr>
                        <a:t>Backups</a:t>
                      </a:r>
                      <a:r>
                        <a:rPr lang="es-CL" sz="1000" u="none" strike="noStrike" noProof="0" dirty="0">
                          <a:effectLst/>
                        </a:rPr>
                        <a:t> expuestos:</a:t>
                      </a:r>
                      <a:endParaRPr lang="es-CL" sz="10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site:example.com</a:t>
                      </a:r>
                      <a:r>
                        <a:rPr lang="es-CL" sz="1100" u="none" strike="noStrike" noProof="0" dirty="0">
                          <a:effectLst/>
                        </a:rPr>
                        <a:t> </a:t>
                      </a:r>
                      <a:r>
                        <a:rPr lang="es-CL" sz="1100" u="none" strike="noStrike" noProof="0" dirty="0" err="1">
                          <a:effectLst/>
                        </a:rPr>
                        <a:t>ext:bak</a:t>
                      </a:r>
                      <a:r>
                        <a:rPr lang="es-CL" sz="1100" u="none" strike="noStrike" noProof="0" dirty="0">
                          <a:effectLst/>
                        </a:rPr>
                        <a:t> | </a:t>
                      </a:r>
                      <a:r>
                        <a:rPr lang="es-CL" sz="1100" u="none" strike="noStrike" noProof="0" dirty="0" err="1">
                          <a:effectLst/>
                        </a:rPr>
                        <a:t>ext:zip</a:t>
                      </a:r>
                      <a:r>
                        <a:rPr lang="es-CL" sz="1100" u="none" strike="noStrike" noProof="0" dirty="0">
                          <a:effectLst/>
                        </a:rPr>
                        <a:t> | </a:t>
                      </a:r>
                      <a:r>
                        <a:rPr lang="es-CL" sz="1100" u="none" strike="noStrike" noProof="0" dirty="0" err="1">
                          <a:effectLst/>
                        </a:rPr>
                        <a:t>ext:tar</a:t>
                      </a:r>
                      <a:r>
                        <a:rPr lang="es-CL" sz="1100" u="none" strike="noStrike" noProof="0" dirty="0">
                          <a:effectLst/>
                        </a:rPr>
                        <a:t>  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43517701"/>
                  </a:ext>
                </a:extLst>
              </a:tr>
              <a:tr h="2459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noProof="0" dirty="0">
                          <a:effectLst/>
                        </a:rPr>
                        <a:t>Configuraciones sensibles: </a:t>
                      </a:r>
                      <a:endParaRPr lang="es-CL" sz="10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intitle</a:t>
                      </a:r>
                      <a:r>
                        <a:rPr lang="es-CL" sz="1100" u="none" strike="noStrike" noProof="0" dirty="0">
                          <a:effectLst/>
                        </a:rPr>
                        <a:t>:"</a:t>
                      </a:r>
                      <a:r>
                        <a:rPr lang="es-CL" sz="1100" u="none" strike="noStrike" noProof="0" dirty="0" err="1">
                          <a:effectLst/>
                        </a:rPr>
                        <a:t>index</a:t>
                      </a:r>
                      <a:r>
                        <a:rPr lang="es-CL" sz="1100" u="none" strike="noStrike" noProof="0" dirty="0">
                          <a:effectLst/>
                        </a:rPr>
                        <a:t> </a:t>
                      </a:r>
                      <a:r>
                        <a:rPr lang="es-CL" sz="1100" u="none" strike="noStrike" noProof="0" dirty="0" err="1">
                          <a:effectLst/>
                        </a:rPr>
                        <a:t>of</a:t>
                      </a:r>
                      <a:r>
                        <a:rPr lang="es-CL" sz="1100" u="none" strike="noStrike" noProof="0" dirty="0">
                          <a:effectLst/>
                        </a:rPr>
                        <a:t>" ".</a:t>
                      </a:r>
                      <a:r>
                        <a:rPr lang="es-CL" sz="1100" u="none" strike="noStrike" noProof="0" dirty="0" err="1">
                          <a:effectLst/>
                        </a:rPr>
                        <a:t>ssh</a:t>
                      </a:r>
                      <a:r>
                        <a:rPr lang="es-CL" sz="1100" u="none" strike="noStrike" noProof="0" dirty="0">
                          <a:effectLst/>
                        </a:rPr>
                        <a:t>" </a:t>
                      </a:r>
                      <a:r>
                        <a:rPr lang="es-CL" sz="1100" u="none" strike="noStrike" noProof="0" dirty="0" err="1">
                          <a:effectLst/>
                        </a:rPr>
                        <a:t>id_rsa</a:t>
                      </a:r>
                      <a:r>
                        <a:rPr lang="es-CL" sz="1100" u="none" strike="noStrike" noProof="0" dirty="0">
                          <a:effectLst/>
                        </a:rPr>
                        <a:t>  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50292679"/>
                  </a:ext>
                </a:extLst>
              </a:tr>
              <a:tr h="4812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noProof="0" dirty="0">
                          <a:effectLst/>
                        </a:rPr>
                        <a:t>Cámaras IP públicas:</a:t>
                      </a:r>
                      <a:endParaRPr lang="es-CL" sz="10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 noProof="0" dirty="0" err="1">
                          <a:effectLst/>
                        </a:rPr>
                        <a:t>inurl</a:t>
                      </a:r>
                      <a:r>
                        <a:rPr lang="es-CL" sz="1100" u="none" strike="noStrike" noProof="0" dirty="0">
                          <a:effectLst/>
                        </a:rPr>
                        <a:t>:/view.shtml </a:t>
                      </a:r>
                      <a:r>
                        <a:rPr lang="es-CL" sz="1100" u="none" strike="noStrike" noProof="0" dirty="0" err="1">
                          <a:effectLst/>
                        </a:rPr>
                        <a:t>intitle</a:t>
                      </a:r>
                      <a:r>
                        <a:rPr lang="es-CL" sz="1100" u="none" strike="noStrike" noProof="0" dirty="0">
                          <a:effectLst/>
                        </a:rPr>
                        <a:t>:"Live View"  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8499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048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488E5F-05E2-9BC5-9822-C4FF133A8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noProof="0" dirty="0"/>
              <a:t>Whois: El Registro de Dominios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B6A0C6-8555-796E-80F1-994A89CA1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515951"/>
          </a:xfrm>
        </p:spPr>
        <p:txBody>
          <a:bodyPr/>
          <a:lstStyle/>
          <a:p>
            <a:pPr algn="ctr"/>
            <a:r>
              <a:rPr lang="es-CL" b="1" noProof="0" dirty="0"/>
              <a:t>Whois: La Tarjeta de Identificación de un Dominio</a:t>
            </a:r>
          </a:p>
          <a:p>
            <a:r>
              <a:rPr lang="es-CL" b="1" noProof="0" dirty="0"/>
              <a:t>¿Qué es Whois?:</a:t>
            </a:r>
            <a:r>
              <a:rPr lang="es-CL" noProof="0" dirty="0"/>
              <a:t> Un protocolo de consulta que proporciona información sobre un dominio registrado.</a:t>
            </a:r>
          </a:p>
          <a:p>
            <a:r>
              <a:rPr lang="es-CL" b="1" noProof="0" dirty="0"/>
              <a:t>Datos que se pueden obtener:</a:t>
            </a:r>
            <a:endParaRPr lang="es-CL" noProof="0" dirty="0"/>
          </a:p>
          <a:p>
            <a:r>
              <a:rPr lang="es-CL" sz="1200" noProof="0" dirty="0"/>
              <a:t>Propietario del dominio y contacto (nombre, organización, dirección, correo electrónico).</a:t>
            </a:r>
          </a:p>
          <a:p>
            <a:r>
              <a:rPr lang="es-CL" sz="1200" noProof="0" dirty="0"/>
              <a:t>Fecha de creación, actualización y expiración del dominio.</a:t>
            </a:r>
          </a:p>
          <a:p>
            <a:r>
              <a:rPr lang="es-CL" sz="1200" b="1" noProof="0" dirty="0"/>
              <a:t>Servidores DNS</a:t>
            </a:r>
            <a:r>
              <a:rPr lang="es-CL" sz="1200" noProof="0" dirty="0"/>
              <a:t> asociados.</a:t>
            </a:r>
          </a:p>
          <a:p>
            <a:r>
              <a:rPr lang="es-CL" sz="1200" noProof="0" dirty="0"/>
              <a:t>Registrador del dominio.</a:t>
            </a:r>
          </a:p>
          <a:p>
            <a:r>
              <a:rPr lang="es-CL" b="1" noProof="0" dirty="0"/>
              <a:t>Herramientas:</a:t>
            </a:r>
            <a:r>
              <a:rPr lang="es-CL" noProof="0" dirty="0"/>
              <a:t> Hay muchos servicios web y herramientas de línea de comandos para realizar consultas Whois.</a:t>
            </a:r>
          </a:p>
          <a:p>
            <a:r>
              <a:rPr lang="es-CL" b="1" noProof="0" dirty="0"/>
              <a:t>Importancia:</a:t>
            </a:r>
            <a:r>
              <a:rPr lang="es-CL" noProof="0" dirty="0"/>
              <a:t> Revela la propiedad y la infraestructura básica de un dominio, lo cual es vital para el </a:t>
            </a:r>
            <a:r>
              <a:rPr lang="es-CL" noProof="0" dirty="0" err="1"/>
              <a:t>pentester</a:t>
            </a:r>
            <a:r>
              <a:rPr lang="es-CL" noProof="0" dirty="0"/>
              <a:t>.</a:t>
            </a:r>
            <a:endParaRPr lang="es-CL" b="1" noProof="0" dirty="0"/>
          </a:p>
        </p:txBody>
      </p:sp>
    </p:spTree>
    <p:extLst>
      <p:ext uri="{BB962C8B-B14F-4D97-AF65-F5344CB8AC3E}">
        <p14:creationId xmlns:p14="http://schemas.microsoft.com/office/powerpoint/2010/main" val="1264191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D6A4F-1CB8-74F5-A83D-169C95B4A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noProof="0" dirty="0"/>
              <a:t>Aplicando lo aprendido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79858D-EACD-4C50-B46B-E7AD0B76F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noProof="0" dirty="0"/>
              <a:t>Ejemplo básico con tu terminal de Kali o </a:t>
            </a:r>
            <a:r>
              <a:rPr lang="es-CL" noProof="0" dirty="0" err="1"/>
              <a:t>parrot</a:t>
            </a:r>
            <a:endParaRPr lang="es-CL" noProof="0" dirty="0"/>
          </a:p>
          <a:p>
            <a:r>
              <a:rPr lang="es-CL" i="1" noProof="0" dirty="0"/>
              <a:t>whois google.com</a:t>
            </a:r>
          </a:p>
          <a:p>
            <a:r>
              <a:rPr lang="es-CL" noProof="0" dirty="0"/>
              <a:t>Ejemplo avanzado donde busca la línea donde sale el nombre del registrante</a:t>
            </a:r>
          </a:p>
          <a:p>
            <a:r>
              <a:rPr lang="es-CL" i="1" noProof="0" dirty="0"/>
              <a:t>whois google.com | grep -i "</a:t>
            </a:r>
            <a:r>
              <a:rPr lang="es-CL" i="1" noProof="0" dirty="0" err="1"/>
              <a:t>registrant</a:t>
            </a:r>
            <a:r>
              <a:rPr lang="es-CL" i="1" noProof="0" dirty="0"/>
              <a:t>“</a:t>
            </a:r>
          </a:p>
          <a:p>
            <a:r>
              <a:rPr lang="es-CL" noProof="0" dirty="0"/>
              <a:t>Ejemplo para </a:t>
            </a:r>
            <a:r>
              <a:rPr lang="es-CL" noProof="0" dirty="0" err="1"/>
              <a:t>ips</a:t>
            </a:r>
            <a:endParaRPr lang="es-CL" noProof="0" dirty="0"/>
          </a:p>
          <a:p>
            <a:r>
              <a:rPr lang="es-CL" i="1" noProof="0" dirty="0"/>
              <a:t>whois 8.8.8.8</a:t>
            </a:r>
          </a:p>
          <a:p>
            <a:pPr algn="ctr"/>
            <a:r>
              <a:rPr lang="es-CL" i="1" noProof="0" dirty="0"/>
              <a:t>sudo </a:t>
            </a:r>
            <a:r>
              <a:rPr lang="es-CL" i="1" noProof="0" dirty="0" err="1"/>
              <a:t>apt</a:t>
            </a:r>
            <a:r>
              <a:rPr lang="es-CL" i="1" noProof="0" dirty="0"/>
              <a:t> </a:t>
            </a:r>
            <a:r>
              <a:rPr lang="es-CL" i="1" noProof="0" dirty="0" err="1"/>
              <a:t>install</a:t>
            </a:r>
            <a:r>
              <a:rPr lang="es-CL" i="1" noProof="0" dirty="0"/>
              <a:t> whois  #en caso de q no lo tengan instalado</a:t>
            </a:r>
          </a:p>
        </p:txBody>
      </p:sp>
    </p:spTree>
    <p:extLst>
      <p:ext uri="{BB962C8B-B14F-4D97-AF65-F5344CB8AC3E}">
        <p14:creationId xmlns:p14="http://schemas.microsoft.com/office/powerpoint/2010/main" val="3288766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B5C57-F648-C5D4-B4B1-7B23B0603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noProof="0" dirty="0"/>
              <a:t>Subdominios: La Puerta Trasera al 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7A4CC7-8DF1-3229-F5F0-C6E014F97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CL" noProof="0" dirty="0"/>
              <a:t>Subdominios: No Te Limites al Dominio Principal</a:t>
            </a:r>
          </a:p>
          <a:p>
            <a:r>
              <a:rPr lang="es-CL" noProof="0" dirty="0"/>
              <a:t>¿Por qué buscar subdominios?: A menudo, los subdominios </a:t>
            </a:r>
          </a:p>
          <a:p>
            <a:pPr marL="36900" indent="0">
              <a:buNone/>
            </a:pPr>
            <a:r>
              <a:rPr lang="es-CL" noProof="0" dirty="0"/>
              <a:t>(ej. dev.ejemplo.com, blog.ejemplo.com) son menos seguros que el dominio principal.</a:t>
            </a:r>
          </a:p>
          <a:p>
            <a:r>
              <a:rPr lang="es-CL" b="1" noProof="0" dirty="0">
                <a:effectLst/>
              </a:rPr>
              <a:t>Técnicas de búsqueda pasiva:</a:t>
            </a:r>
            <a:endParaRPr lang="es-CL" noProof="0" dirty="0">
              <a:effectLst/>
            </a:endParaRPr>
          </a:p>
          <a:p>
            <a:pPr lvl="0"/>
            <a:r>
              <a:rPr lang="es-CL" b="1" noProof="0" dirty="0">
                <a:effectLst/>
              </a:rPr>
              <a:t>Google </a:t>
            </a:r>
            <a:r>
              <a:rPr lang="es-CL" b="1" noProof="0" dirty="0" err="1">
                <a:effectLst/>
              </a:rPr>
              <a:t>Dorking</a:t>
            </a:r>
            <a:r>
              <a:rPr lang="es-CL" b="1" noProof="0" dirty="0">
                <a:effectLst/>
              </a:rPr>
              <a:t>:</a:t>
            </a:r>
            <a:r>
              <a:rPr lang="es-CL" noProof="0" dirty="0">
                <a:effectLst/>
              </a:rPr>
              <a:t> site:*.ejemplo.com.</a:t>
            </a:r>
          </a:p>
          <a:p>
            <a:pPr lvl="0"/>
            <a:r>
              <a:rPr lang="es-CL" b="1" noProof="0" dirty="0">
                <a:effectLst/>
              </a:rPr>
              <a:t>Certificados SSL/TLS:</a:t>
            </a:r>
            <a:r>
              <a:rPr lang="es-CL" noProof="0" dirty="0">
                <a:effectLst/>
              </a:rPr>
              <a:t> Muchos servicios (crt.sh, </a:t>
            </a:r>
            <a:r>
              <a:rPr lang="es-CL" noProof="0" dirty="0" err="1">
                <a:effectLst/>
              </a:rPr>
              <a:t>Censys</a:t>
            </a:r>
            <a:r>
              <a:rPr lang="es-CL" noProof="0" dirty="0">
                <a:effectLst/>
              </a:rPr>
              <a:t>) indexan los certificados y revelan nombres de host.</a:t>
            </a:r>
          </a:p>
          <a:p>
            <a:pPr lvl="0"/>
            <a:r>
              <a:rPr lang="es-CL" b="1" noProof="0" dirty="0">
                <a:effectLst/>
              </a:rPr>
              <a:t>Servicios de inteligencia:</a:t>
            </a:r>
            <a:r>
              <a:rPr lang="es-CL" noProof="0" dirty="0">
                <a:effectLst/>
              </a:rPr>
              <a:t> Plataformas como </a:t>
            </a:r>
            <a:r>
              <a:rPr lang="es-CL" b="1" noProof="0" dirty="0" err="1">
                <a:effectLst/>
              </a:rPr>
              <a:t>Shodan</a:t>
            </a:r>
            <a:r>
              <a:rPr lang="es-CL" noProof="0" dirty="0">
                <a:effectLst/>
              </a:rPr>
              <a:t> o </a:t>
            </a:r>
            <a:r>
              <a:rPr lang="es-CL" b="1" noProof="0" dirty="0" err="1">
                <a:effectLst/>
              </a:rPr>
              <a:t>VirusTotal</a:t>
            </a:r>
            <a:r>
              <a:rPr lang="es-CL" noProof="0" dirty="0">
                <a:effectLst/>
              </a:rPr>
              <a:t> a menudo tienen datos sobre subdominios.</a:t>
            </a:r>
          </a:p>
          <a:p>
            <a:pPr marL="36900" indent="0">
              <a:buNone/>
            </a:pPr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2092159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80033-A88B-D499-068F-42ED467D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noProof="0" dirty="0" err="1"/>
              <a:t>Shodan</a:t>
            </a:r>
            <a:r>
              <a:rPr lang="es-CL" noProof="0" dirty="0"/>
              <a:t>: El Motor de Búsqueda para Dispositivos Conectados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522191-8557-8E98-E7B8-699F3D480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929608"/>
          </a:xfrm>
        </p:spPr>
        <p:txBody>
          <a:bodyPr>
            <a:normAutofit/>
          </a:bodyPr>
          <a:lstStyle/>
          <a:p>
            <a:pPr algn="ctr"/>
            <a:r>
              <a:rPr lang="es-CL" noProof="0" dirty="0" err="1"/>
              <a:t>Shodan</a:t>
            </a:r>
            <a:r>
              <a:rPr lang="es-CL" noProof="0" dirty="0"/>
              <a:t>: El Google de los Dispositivos </a:t>
            </a:r>
            <a:r>
              <a:rPr lang="es-CL" noProof="0" dirty="0" err="1"/>
              <a:t>IoT</a:t>
            </a:r>
            <a:endParaRPr lang="es-CL" noProof="0" dirty="0"/>
          </a:p>
          <a:p>
            <a:r>
              <a:rPr lang="es-CL" b="1" noProof="0" dirty="0">
                <a:effectLst/>
              </a:rPr>
              <a:t>¿Qué es </a:t>
            </a:r>
            <a:r>
              <a:rPr lang="es-CL" b="1" noProof="0" dirty="0" err="1">
                <a:effectLst/>
              </a:rPr>
              <a:t>Shodan</a:t>
            </a:r>
            <a:r>
              <a:rPr lang="es-CL" b="1" noProof="0" dirty="0">
                <a:effectLst/>
              </a:rPr>
              <a:t>?: Un motor de búsqueda que indexa dispositivos y servicios conectados a Internet.</a:t>
            </a:r>
            <a:endParaRPr lang="es-CL" noProof="0" dirty="0">
              <a:effectLst/>
            </a:endParaRPr>
          </a:p>
          <a:p>
            <a:r>
              <a:rPr lang="es-CL" b="1" noProof="0" dirty="0">
                <a:effectLst/>
              </a:rPr>
              <a:t>Diferencia clave: No busca contenido web, sino banners de servicios, puertos abiertos, y meta</a:t>
            </a:r>
            <a:endParaRPr lang="es-CL" noProof="0" dirty="0">
              <a:effectLst/>
            </a:endParaRPr>
          </a:p>
          <a:p>
            <a:r>
              <a:rPr lang="es-CL" b="1" noProof="0" dirty="0">
                <a:effectLst/>
              </a:rPr>
              <a:t>Búsquedas útiles:</a:t>
            </a:r>
            <a:endParaRPr lang="es-CL" noProof="0" dirty="0">
              <a:effectLst/>
            </a:endParaRPr>
          </a:p>
          <a:p>
            <a:pPr lvl="0">
              <a:buFont typeface="Courier New" panose="02070309020205020404" pitchFamily="49" charset="0"/>
              <a:buChar char="o"/>
            </a:pPr>
            <a:r>
              <a:rPr lang="es-CL" i="1" noProof="0" dirty="0" err="1">
                <a:effectLst/>
              </a:rPr>
              <a:t>country:US</a:t>
            </a:r>
            <a:endParaRPr lang="es-CL" i="1" noProof="0" dirty="0">
              <a:effectLst/>
            </a:endParaRPr>
          </a:p>
          <a:p>
            <a:pPr lvl="0">
              <a:buFont typeface="Courier New" panose="02070309020205020404" pitchFamily="49" charset="0"/>
              <a:buChar char="o"/>
            </a:pPr>
            <a:r>
              <a:rPr lang="es-CL" i="1" noProof="0" dirty="0">
                <a:effectLst/>
              </a:rPr>
              <a:t>port:8080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s-CL" i="1" noProof="0" dirty="0">
                <a:effectLst/>
              </a:rPr>
              <a:t>http.</a:t>
            </a:r>
            <a:r>
              <a:rPr lang="es-CL" i="1" noProof="0" dirty="0" err="1">
                <a:effectLst/>
              </a:rPr>
              <a:t>title</a:t>
            </a:r>
            <a:r>
              <a:rPr lang="es-CL" i="1" noProof="0" dirty="0">
                <a:effectLst/>
              </a:rPr>
              <a:t>:"</a:t>
            </a:r>
            <a:r>
              <a:rPr lang="es-CL" i="1" noProof="0" dirty="0" err="1">
                <a:effectLst/>
              </a:rPr>
              <a:t>Login</a:t>
            </a:r>
            <a:r>
              <a:rPr lang="es-CL" i="1" noProof="0" dirty="0">
                <a:effectLst/>
              </a:rPr>
              <a:t>"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s-CL" i="1" noProof="0" dirty="0" err="1">
                <a:effectLst/>
              </a:rPr>
              <a:t>product</a:t>
            </a:r>
            <a:r>
              <a:rPr lang="es-CL" i="1" noProof="0" dirty="0">
                <a:effectLst/>
              </a:rPr>
              <a:t>:"</a:t>
            </a:r>
            <a:r>
              <a:rPr lang="es-CL" i="1" noProof="0" dirty="0" err="1">
                <a:effectLst/>
              </a:rPr>
              <a:t>nginx</a:t>
            </a:r>
            <a:r>
              <a:rPr lang="es-CL" i="1" noProof="0" dirty="0">
                <a:effectLst/>
              </a:rPr>
              <a:t>"</a:t>
            </a:r>
          </a:p>
          <a:p>
            <a:r>
              <a:rPr lang="es-CL" noProof="0" dirty="0"/>
              <a:t>Permite identificar tecnologías, versiones de software, y posibles vulnerabilidades sin escanear activamente.</a:t>
            </a:r>
          </a:p>
        </p:txBody>
      </p:sp>
    </p:spTree>
    <p:extLst>
      <p:ext uri="{BB962C8B-B14F-4D97-AF65-F5344CB8AC3E}">
        <p14:creationId xmlns:p14="http://schemas.microsoft.com/office/powerpoint/2010/main" val="1003420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7C959-A231-A9B3-3E44-444902DD0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noProof="0" dirty="0"/>
              <a:t>Aplicando lo aprendido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3A5707-9CD3-513A-040E-E6BF170AE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212" y="1732449"/>
            <a:ext cx="11895908" cy="4058751"/>
          </a:xfrm>
        </p:spPr>
        <p:txBody>
          <a:bodyPr/>
          <a:lstStyle/>
          <a:p>
            <a:r>
              <a:rPr lang="es-CL" noProof="0" dirty="0"/>
              <a:t>Es posible usarlo tanto en la web como en la terminal de Linux</a:t>
            </a:r>
          </a:p>
          <a:p>
            <a:r>
              <a:rPr lang="es-CL" i="1" noProof="0" dirty="0" err="1"/>
              <a:t>pip</a:t>
            </a:r>
            <a:r>
              <a:rPr lang="es-CL" i="1" noProof="0" dirty="0"/>
              <a:t> </a:t>
            </a:r>
            <a:r>
              <a:rPr lang="es-CL" i="1" noProof="0" dirty="0" err="1"/>
              <a:t>install</a:t>
            </a:r>
            <a:r>
              <a:rPr lang="es-CL" i="1" noProof="0" dirty="0"/>
              <a:t> --</a:t>
            </a:r>
            <a:r>
              <a:rPr lang="es-CL" i="1" noProof="0" dirty="0" err="1"/>
              <a:t>upgrade</a:t>
            </a:r>
            <a:r>
              <a:rPr lang="es-CL" i="1" noProof="0" dirty="0"/>
              <a:t> </a:t>
            </a:r>
            <a:r>
              <a:rPr lang="es-CL" i="1" noProof="0" dirty="0" err="1"/>
              <a:t>shodan</a:t>
            </a:r>
            <a:r>
              <a:rPr lang="es-CL" i="1" noProof="0" dirty="0"/>
              <a:t>       </a:t>
            </a:r>
            <a:r>
              <a:rPr lang="es-CL" noProof="0" dirty="0"/>
              <a:t>luego de instalarlo: </a:t>
            </a:r>
            <a:r>
              <a:rPr lang="es-CL" i="1" noProof="0" dirty="0" err="1"/>
              <a:t>shodan</a:t>
            </a:r>
            <a:r>
              <a:rPr lang="es-CL" i="1" noProof="0" dirty="0"/>
              <a:t> –versión</a:t>
            </a:r>
          </a:p>
          <a:p>
            <a:r>
              <a:rPr lang="es-CL" i="1" noProof="0" dirty="0" err="1"/>
              <a:t>shodan</a:t>
            </a:r>
            <a:r>
              <a:rPr lang="es-CL" i="1" noProof="0" dirty="0"/>
              <a:t> </a:t>
            </a:r>
            <a:r>
              <a:rPr lang="es-CL" i="1" noProof="0" dirty="0" err="1"/>
              <a:t>init</a:t>
            </a:r>
            <a:r>
              <a:rPr lang="es-CL" i="1" noProof="0" dirty="0"/>
              <a:t> TU_API_KEY       </a:t>
            </a:r>
            <a:r>
              <a:rPr lang="es-CL" noProof="0" dirty="0"/>
              <a:t> ingresamos la api </a:t>
            </a:r>
            <a:r>
              <a:rPr lang="es-CL" noProof="0" dirty="0" err="1"/>
              <a:t>key</a:t>
            </a:r>
            <a:r>
              <a:rPr lang="es-CL" noProof="0" dirty="0"/>
              <a:t> que nos otorga desde la plataforma web</a:t>
            </a:r>
          </a:p>
          <a:p>
            <a:r>
              <a:rPr lang="es-CL" noProof="0" dirty="0"/>
              <a:t>Al terminar de configurarlo podemos buscar un dominio o </a:t>
            </a:r>
            <a:r>
              <a:rPr lang="es-CL" noProof="0" dirty="0" err="1"/>
              <a:t>ip</a:t>
            </a:r>
            <a:r>
              <a:rPr lang="es-CL" noProof="0" dirty="0"/>
              <a:t> directamente</a:t>
            </a:r>
          </a:p>
          <a:p>
            <a:r>
              <a:rPr lang="es-CL" i="1" noProof="0" dirty="0" err="1"/>
              <a:t>shodan</a:t>
            </a:r>
            <a:r>
              <a:rPr lang="es-CL" i="1" noProof="0" dirty="0"/>
              <a:t> </a:t>
            </a:r>
            <a:r>
              <a:rPr lang="es-CL" i="1" noProof="0" dirty="0" err="1"/>
              <a:t>domain</a:t>
            </a:r>
            <a:r>
              <a:rPr lang="es-CL" i="1" noProof="0" dirty="0"/>
              <a:t> twitter.com   </a:t>
            </a:r>
            <a:r>
              <a:rPr lang="es-CL" noProof="0" dirty="0"/>
              <a:t>esta nos mostrara los </a:t>
            </a:r>
            <a:r>
              <a:rPr lang="es-CL" noProof="0" dirty="0" err="1"/>
              <a:t>subdiminios</a:t>
            </a:r>
            <a:endParaRPr lang="es-CL" noProof="0" dirty="0"/>
          </a:p>
          <a:p>
            <a:r>
              <a:rPr lang="es-CL" i="1" noProof="0" dirty="0" err="1"/>
              <a:t>shodan</a:t>
            </a:r>
            <a:r>
              <a:rPr lang="es-CL" i="1" noProof="0" dirty="0"/>
              <a:t> </a:t>
            </a:r>
            <a:r>
              <a:rPr lang="es-CL" i="1" noProof="0" dirty="0" err="1"/>
              <a:t>search</a:t>
            </a:r>
            <a:r>
              <a:rPr lang="es-CL" i="1" noProof="0" dirty="0"/>
              <a:t> "</a:t>
            </a:r>
            <a:r>
              <a:rPr lang="es-CL" i="1" noProof="0" dirty="0" err="1"/>
              <a:t>hostname:ejemplo.com</a:t>
            </a:r>
            <a:r>
              <a:rPr lang="es-CL" i="1" noProof="0" dirty="0"/>
              <a:t>“   </a:t>
            </a:r>
            <a:r>
              <a:rPr lang="es-CL" noProof="0" dirty="0"/>
              <a:t>nos muestra la </a:t>
            </a:r>
            <a:r>
              <a:rPr lang="es-CL" noProof="0" dirty="0" err="1"/>
              <a:t>ip</a:t>
            </a:r>
            <a:r>
              <a:rPr lang="es-CL" noProof="0" dirty="0"/>
              <a:t> asociada a un dominio</a:t>
            </a:r>
          </a:p>
          <a:p>
            <a:r>
              <a:rPr lang="es-CL" i="1" noProof="0" dirty="0" err="1"/>
              <a:t>shodan</a:t>
            </a:r>
            <a:r>
              <a:rPr lang="es-CL" i="1" noProof="0" dirty="0"/>
              <a:t> </a:t>
            </a:r>
            <a:r>
              <a:rPr lang="es-CL" i="1" noProof="0" dirty="0" err="1"/>
              <a:t>search</a:t>
            </a:r>
            <a:r>
              <a:rPr lang="es-CL" i="1" noProof="0" dirty="0"/>
              <a:t> "</a:t>
            </a:r>
            <a:r>
              <a:rPr lang="es-CL" i="1" noProof="0" dirty="0" err="1"/>
              <a:t>hostname</a:t>
            </a:r>
            <a:r>
              <a:rPr lang="es-CL" i="1" noProof="0" dirty="0"/>
              <a:t>:*.banxico.org.mx port:443 </a:t>
            </a:r>
            <a:r>
              <a:rPr lang="es-CL" i="1" noProof="0" dirty="0" err="1"/>
              <a:t>country:MX</a:t>
            </a:r>
            <a:r>
              <a:rPr lang="es-CL" i="1" noProof="0" dirty="0"/>
              <a:t>“  </a:t>
            </a:r>
            <a:r>
              <a:rPr lang="es-CL" noProof="0" dirty="0"/>
              <a:t>busca con Puerto y país México</a:t>
            </a:r>
          </a:p>
          <a:p>
            <a:r>
              <a:rPr lang="es-CL" i="1" noProof="0" dirty="0" err="1"/>
              <a:t>shodan</a:t>
            </a:r>
            <a:r>
              <a:rPr lang="es-CL" i="1" noProof="0" dirty="0"/>
              <a:t> </a:t>
            </a:r>
            <a:r>
              <a:rPr lang="es-CL" i="1" noProof="0" dirty="0" err="1"/>
              <a:t>search</a:t>
            </a:r>
            <a:r>
              <a:rPr lang="es-CL" i="1" noProof="0" dirty="0"/>
              <a:t> "</a:t>
            </a:r>
            <a:r>
              <a:rPr lang="es-CL" i="1" noProof="0" dirty="0" err="1"/>
              <a:t>hostname</a:t>
            </a:r>
            <a:r>
              <a:rPr lang="es-CL" i="1" noProof="0" dirty="0"/>
              <a:t>:*.microsoft.com http.</a:t>
            </a:r>
            <a:r>
              <a:rPr lang="es-CL" i="1" noProof="0" dirty="0" err="1"/>
              <a:t>title</a:t>
            </a:r>
            <a:r>
              <a:rPr lang="es-CL" i="1" noProof="0" dirty="0"/>
              <a:t>:'IIS“    </a:t>
            </a:r>
            <a:r>
              <a:rPr lang="es-CL" i="1" noProof="0" dirty="0">
                <a:effectLst/>
              </a:rPr>
              <a:t>b</a:t>
            </a:r>
            <a:r>
              <a:rPr lang="es-CL" noProof="0" dirty="0">
                <a:effectLst/>
              </a:rPr>
              <a:t>usca subdominios de Microsoft que usen IIS</a:t>
            </a:r>
          </a:p>
          <a:p>
            <a:r>
              <a:rPr lang="es-CL" i="1" noProof="0" dirty="0" err="1"/>
              <a:t>shodan</a:t>
            </a:r>
            <a:r>
              <a:rPr lang="es-CL" i="1" noProof="0" dirty="0"/>
              <a:t> </a:t>
            </a:r>
            <a:r>
              <a:rPr lang="es-CL" i="1" noProof="0" dirty="0" err="1"/>
              <a:t>search</a:t>
            </a:r>
            <a:r>
              <a:rPr lang="es-CL" i="1" noProof="0" dirty="0"/>
              <a:t> "</a:t>
            </a:r>
            <a:r>
              <a:rPr lang="es-CL" i="1" noProof="0" dirty="0" err="1"/>
              <a:t>hostname</a:t>
            </a:r>
            <a:r>
              <a:rPr lang="es-CL" i="1" noProof="0" dirty="0"/>
              <a:t>:*.example.com vuln:cve-2023-1234“   </a:t>
            </a:r>
            <a:r>
              <a:rPr lang="es-CL" noProof="0" dirty="0"/>
              <a:t>busca directamente las vulnerabilidades </a:t>
            </a:r>
            <a:r>
              <a:rPr lang="es-CL" noProof="0" dirty="0" err="1"/>
              <a:t>cve</a:t>
            </a:r>
            <a:endParaRPr lang="es-CL" i="1" noProof="0" dirty="0"/>
          </a:p>
        </p:txBody>
      </p:sp>
    </p:spTree>
    <p:extLst>
      <p:ext uri="{BB962C8B-B14F-4D97-AF65-F5344CB8AC3E}">
        <p14:creationId xmlns:p14="http://schemas.microsoft.com/office/powerpoint/2010/main" val="1331232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3C7F8-687B-EEF5-DF23-894FF6A44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Metadatos: El Tesoro Oculto en Archivos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67432F-6434-739D-D18B-BC0FB1979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732449"/>
            <a:ext cx="11652069" cy="4825105"/>
          </a:xfrm>
        </p:spPr>
        <p:txBody>
          <a:bodyPr/>
          <a:lstStyle/>
          <a:p>
            <a:pPr algn="ctr"/>
            <a:r>
              <a:rPr lang="es-MX" dirty="0"/>
              <a:t>Metadatos: Lo que un archivo nos cuenta sin leerlo</a:t>
            </a:r>
          </a:p>
          <a:p>
            <a:r>
              <a:rPr lang="es-CL" b="1" dirty="0">
                <a:effectLst/>
              </a:rPr>
              <a:t>¿Qué son los metadatos?: Datos incrustados en archivos (PDF, Word, imágenes JPEG) que describen otros datos.</a:t>
            </a:r>
            <a:endParaRPr lang="es-CL" dirty="0">
              <a:effectLst/>
            </a:endParaRPr>
          </a:p>
          <a:p>
            <a:r>
              <a:rPr lang="es-CL" b="1" dirty="0">
                <a:effectLst/>
              </a:rPr>
              <a:t> Información que pueden revelar:</a:t>
            </a:r>
            <a:endParaRPr lang="es-CL" dirty="0">
              <a:effectLst/>
            </a:endParaRPr>
          </a:p>
          <a:p>
            <a:pPr lvl="0">
              <a:buFont typeface="Courier New" panose="02070309020205020404" pitchFamily="49" charset="0"/>
              <a:buChar char="o"/>
            </a:pPr>
            <a:r>
              <a:rPr lang="es-CL" sz="1600" b="1" dirty="0">
                <a:effectLst/>
              </a:rPr>
              <a:t>Nombre del autor del documento.</a:t>
            </a:r>
            <a:endParaRPr lang="es-CL" sz="1600" dirty="0">
              <a:effectLst/>
            </a:endParaRPr>
          </a:p>
          <a:p>
            <a:pPr lvl="0">
              <a:buFont typeface="Courier New" panose="02070309020205020404" pitchFamily="49" charset="0"/>
              <a:buChar char="o"/>
            </a:pPr>
            <a:r>
              <a:rPr lang="es-CL" sz="1600" b="1" dirty="0">
                <a:effectLst/>
              </a:rPr>
              <a:t>Software utilizado para crearlo.</a:t>
            </a:r>
            <a:endParaRPr lang="es-CL" sz="1600" dirty="0">
              <a:effectLst/>
            </a:endParaRPr>
          </a:p>
          <a:p>
            <a:pPr lvl="0">
              <a:buFont typeface="Courier New" panose="02070309020205020404" pitchFamily="49" charset="0"/>
              <a:buChar char="o"/>
            </a:pPr>
            <a:r>
              <a:rPr lang="es-CL" sz="1600" b="1" dirty="0">
                <a:effectLst/>
              </a:rPr>
              <a:t>Sistema operativo.</a:t>
            </a:r>
            <a:endParaRPr lang="es-CL" sz="1600" dirty="0">
              <a:effectLst/>
            </a:endParaRPr>
          </a:p>
          <a:p>
            <a:pPr lvl="0">
              <a:buFont typeface="Courier New" panose="02070309020205020404" pitchFamily="49" charset="0"/>
              <a:buChar char="o"/>
            </a:pPr>
            <a:r>
              <a:rPr lang="es-CL" sz="1600" b="1" dirty="0">
                <a:effectLst/>
              </a:rPr>
              <a:t>Fecha y hora de creación.</a:t>
            </a:r>
            <a:endParaRPr lang="es-CL" sz="1600" dirty="0">
              <a:effectLst/>
            </a:endParaRPr>
          </a:p>
          <a:p>
            <a:pPr lvl="0">
              <a:buFont typeface="Courier New" panose="02070309020205020404" pitchFamily="49" charset="0"/>
              <a:buChar char="o"/>
            </a:pPr>
            <a:r>
              <a:rPr lang="es-CL" sz="1600" b="1" dirty="0">
                <a:effectLst/>
              </a:rPr>
              <a:t>Datos de geolocalización (en imágenes).</a:t>
            </a:r>
            <a:endParaRPr lang="es-CL" sz="1600" dirty="0">
              <a:effectLst/>
            </a:endParaRPr>
          </a:p>
          <a:p>
            <a:r>
              <a:rPr lang="es-CL" b="1" dirty="0">
                <a:effectLst/>
              </a:rPr>
              <a:t>Importancia: Revela información sobre los empleados, la infraestructura de TI y el entorno de trabajo del objetivo.</a:t>
            </a:r>
            <a:endParaRPr lang="es-CL" dirty="0">
              <a:effectLst/>
            </a:endParaRPr>
          </a:p>
          <a:p>
            <a:endParaRPr lang="es-MX" dirty="0"/>
          </a:p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4455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49045-5070-D1C8-7BCF-25BD6E6B1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Aplicando lo aprendido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4B2051-2C03-43E3-ABE8-B9A27BF20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5007985"/>
          </a:xfrm>
        </p:spPr>
        <p:txBody>
          <a:bodyPr/>
          <a:lstStyle/>
          <a:p>
            <a:r>
              <a:rPr lang="es-MX" dirty="0"/>
              <a:t>Herramienta para </a:t>
            </a:r>
            <a:r>
              <a:rPr lang="es-MX" dirty="0" err="1"/>
              <a:t>pdf</a:t>
            </a:r>
            <a:r>
              <a:rPr lang="es-MX" dirty="0"/>
              <a:t> - </a:t>
            </a:r>
            <a:r>
              <a:rPr lang="es-CL" dirty="0">
                <a:effectLst/>
              </a:rPr>
              <a:t>sudo </a:t>
            </a:r>
            <a:r>
              <a:rPr lang="es-CL" dirty="0" err="1">
                <a:effectLst/>
              </a:rPr>
              <a:t>apt</a:t>
            </a:r>
            <a:r>
              <a:rPr lang="es-CL" dirty="0">
                <a:effectLst/>
              </a:rPr>
              <a:t> </a:t>
            </a:r>
            <a:r>
              <a:rPr lang="es-CL" dirty="0" err="1">
                <a:effectLst/>
              </a:rPr>
              <a:t>install</a:t>
            </a:r>
            <a:r>
              <a:rPr lang="es-CL" dirty="0">
                <a:effectLst/>
              </a:rPr>
              <a:t> </a:t>
            </a:r>
            <a:r>
              <a:rPr lang="es-CL" dirty="0" err="1">
                <a:effectLst/>
              </a:rPr>
              <a:t>poppler-utils</a:t>
            </a:r>
            <a:endParaRPr lang="es-MX" dirty="0"/>
          </a:p>
          <a:p>
            <a:r>
              <a:rPr lang="es-CL" i="1" dirty="0" err="1"/>
              <a:t>pdfinfo</a:t>
            </a:r>
            <a:r>
              <a:rPr lang="es-CL" i="1" dirty="0"/>
              <a:t> documento.pdf</a:t>
            </a:r>
          </a:p>
          <a:p>
            <a:r>
              <a:rPr lang="es-CL" dirty="0"/>
              <a:t>Herramienta para JPEG/PNG o EXIF  - </a:t>
            </a:r>
            <a:r>
              <a:rPr lang="es-CL" dirty="0">
                <a:effectLst/>
              </a:rPr>
              <a:t>sudo </a:t>
            </a:r>
            <a:r>
              <a:rPr lang="es-CL" dirty="0" err="1">
                <a:effectLst/>
              </a:rPr>
              <a:t>apt</a:t>
            </a:r>
            <a:r>
              <a:rPr lang="es-CL" dirty="0">
                <a:effectLst/>
              </a:rPr>
              <a:t> </a:t>
            </a:r>
            <a:r>
              <a:rPr lang="es-CL" dirty="0" err="1">
                <a:effectLst/>
              </a:rPr>
              <a:t>install</a:t>
            </a:r>
            <a:r>
              <a:rPr lang="es-CL" dirty="0">
                <a:effectLst/>
              </a:rPr>
              <a:t> </a:t>
            </a:r>
            <a:r>
              <a:rPr lang="es-CL" dirty="0" err="1">
                <a:effectLst/>
              </a:rPr>
              <a:t>exiftool</a:t>
            </a:r>
            <a:endParaRPr lang="es-CL" dirty="0"/>
          </a:p>
          <a:p>
            <a:r>
              <a:rPr lang="es-CL" i="1" dirty="0" err="1"/>
              <a:t>exiftool</a:t>
            </a:r>
            <a:r>
              <a:rPr lang="es-CL" i="1" dirty="0"/>
              <a:t> foto.jpg</a:t>
            </a:r>
          </a:p>
          <a:p>
            <a:r>
              <a:rPr lang="es-CL" dirty="0"/>
              <a:t>Herramienta para ofimática   - </a:t>
            </a:r>
            <a:r>
              <a:rPr lang="es-CL" dirty="0">
                <a:effectLst/>
              </a:rPr>
              <a:t>sudo </a:t>
            </a:r>
            <a:r>
              <a:rPr lang="es-CL" dirty="0" err="1">
                <a:effectLst/>
              </a:rPr>
              <a:t>pip</a:t>
            </a:r>
            <a:r>
              <a:rPr lang="es-CL" dirty="0">
                <a:effectLst/>
              </a:rPr>
              <a:t> </a:t>
            </a:r>
            <a:r>
              <a:rPr lang="es-CL" dirty="0" err="1">
                <a:effectLst/>
              </a:rPr>
              <a:t>install</a:t>
            </a:r>
            <a:r>
              <a:rPr lang="es-CL" dirty="0">
                <a:effectLst/>
              </a:rPr>
              <a:t> </a:t>
            </a:r>
            <a:r>
              <a:rPr lang="es-CL" dirty="0" err="1">
                <a:effectLst/>
              </a:rPr>
              <a:t>oletools</a:t>
            </a:r>
            <a:endParaRPr lang="es-CL" dirty="0"/>
          </a:p>
          <a:p>
            <a:r>
              <a:rPr lang="en-US" i="1" dirty="0"/>
              <a:t>strings informe.docx | grep -</a:t>
            </a:r>
            <a:r>
              <a:rPr lang="en-US" i="1" dirty="0" err="1"/>
              <a:t>i</a:t>
            </a:r>
            <a:r>
              <a:rPr lang="en-US" i="1" dirty="0"/>
              <a:t> "author\|company“</a:t>
            </a:r>
          </a:p>
          <a:p>
            <a:r>
              <a:rPr lang="en-US" dirty="0" err="1"/>
              <a:t>Herramienta</a:t>
            </a:r>
            <a:r>
              <a:rPr lang="en-US" dirty="0"/>
              <a:t> para Código Fuente</a:t>
            </a:r>
          </a:p>
          <a:p>
            <a:r>
              <a:rPr lang="es-CL" i="1" dirty="0"/>
              <a:t>grep -r "</a:t>
            </a:r>
            <a:r>
              <a:rPr lang="es-CL" i="1" dirty="0" err="1"/>
              <a:t>author</a:t>
            </a:r>
            <a:r>
              <a:rPr lang="es-CL" i="1" dirty="0"/>
              <a:t>\|</a:t>
            </a:r>
            <a:r>
              <a:rPr lang="es-CL" i="1" dirty="0" err="1"/>
              <a:t>license</a:t>
            </a:r>
            <a:r>
              <a:rPr lang="es-CL" i="1" dirty="0"/>
              <a:t>\|</a:t>
            </a:r>
            <a:r>
              <a:rPr lang="es-CL" i="1" dirty="0" err="1"/>
              <a:t>version</a:t>
            </a:r>
            <a:r>
              <a:rPr lang="es-CL" i="1" dirty="0"/>
              <a:t>" proyecto/</a:t>
            </a:r>
          </a:p>
          <a:p>
            <a:r>
              <a:rPr lang="es-CL" dirty="0"/>
              <a:t>Herramienta para Correos .</a:t>
            </a:r>
            <a:r>
              <a:rPr lang="es-CL" dirty="0" err="1"/>
              <a:t>eml</a:t>
            </a:r>
            <a:endParaRPr lang="es-CL" dirty="0"/>
          </a:p>
          <a:p>
            <a:r>
              <a:rPr lang="en-US" i="1" dirty="0"/>
              <a:t>grep -</a:t>
            </a:r>
            <a:r>
              <a:rPr lang="en-US" i="1" dirty="0" err="1"/>
              <a:t>i</a:t>
            </a:r>
            <a:r>
              <a:rPr lang="en-US" i="1" dirty="0"/>
              <a:t> "from\|to\|date\|received" email.eml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2858600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BF146-6B17-3843-02C1-F173582B9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OJO CON LOS METADATOS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46593D-C316-D8BB-729F-8690108F6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>
                <a:effectLst/>
              </a:rPr>
              <a:t>Por qué son Peligrosos los Metadatos?</a:t>
            </a:r>
            <a:endParaRPr lang="es-MX" dirty="0">
              <a:effectLst/>
            </a:endParaRPr>
          </a:p>
          <a:p>
            <a:r>
              <a:rPr lang="es-MX" b="1" dirty="0" err="1">
                <a:effectLst/>
              </a:rPr>
              <a:t>Doxing</a:t>
            </a:r>
            <a:r>
              <a:rPr lang="es-MX" dirty="0">
                <a:effectLst/>
              </a:rPr>
              <a:t>: Si un atacante obtiene un PDF con tu nombre y correo, puede usarlo para phishing.</a:t>
            </a:r>
          </a:p>
          <a:p>
            <a:r>
              <a:rPr lang="es-MX" b="1" dirty="0">
                <a:effectLst/>
              </a:rPr>
              <a:t>Reconocimiento</a:t>
            </a:r>
            <a:r>
              <a:rPr lang="es-MX" dirty="0">
                <a:effectLst/>
              </a:rPr>
              <a:t>: Las coordenadas GPS en una foto pueden revelar ubicaciones sensibles.</a:t>
            </a:r>
          </a:p>
          <a:p>
            <a:r>
              <a:rPr lang="es-MX" b="1" dirty="0">
                <a:effectLst/>
              </a:rPr>
              <a:t>Filtración de información interna</a:t>
            </a:r>
            <a:r>
              <a:rPr lang="es-MX" dirty="0">
                <a:effectLst/>
              </a:rPr>
              <a:t>: Un documento de Word puede exponer la versión de Windows que usa la empresa.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47024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A7C39-2986-BC94-C316-FE51CC6E1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Y COMO NOS DEFENDEMOS?..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072E7C-B70D-4265-E32D-BAF820747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Para imágenes:</a:t>
            </a:r>
          </a:p>
          <a:p>
            <a:r>
              <a:rPr lang="es-CL" dirty="0" err="1"/>
              <a:t>exiftool</a:t>
            </a:r>
            <a:r>
              <a:rPr lang="es-CL" dirty="0"/>
              <a:t> -</a:t>
            </a:r>
            <a:r>
              <a:rPr lang="es-CL" dirty="0" err="1"/>
              <a:t>all</a:t>
            </a:r>
            <a:r>
              <a:rPr lang="es-CL" dirty="0"/>
              <a:t>= foto.jpg</a:t>
            </a:r>
          </a:p>
          <a:p>
            <a:r>
              <a:rPr lang="es-CL" dirty="0"/>
              <a:t>PDF</a:t>
            </a:r>
          </a:p>
          <a:p>
            <a:r>
              <a:rPr lang="es-CL" dirty="0" err="1"/>
              <a:t>qpdf</a:t>
            </a:r>
            <a:r>
              <a:rPr lang="es-CL" dirty="0"/>
              <a:t> --</a:t>
            </a:r>
            <a:r>
              <a:rPr lang="es-CL" dirty="0" err="1"/>
              <a:t>linearize</a:t>
            </a:r>
            <a:r>
              <a:rPr lang="es-CL" dirty="0"/>
              <a:t> --</a:t>
            </a:r>
            <a:r>
              <a:rPr lang="es-CL" dirty="0" err="1"/>
              <a:t>remove-metadata</a:t>
            </a:r>
            <a:r>
              <a:rPr lang="es-CL" dirty="0"/>
              <a:t> documento.pdf documento_limpio.pdf</a:t>
            </a:r>
          </a:p>
        </p:txBody>
      </p:sp>
    </p:spTree>
    <p:extLst>
      <p:ext uri="{BB962C8B-B14F-4D97-AF65-F5344CB8AC3E}">
        <p14:creationId xmlns:p14="http://schemas.microsoft.com/office/powerpoint/2010/main" val="3044282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Wazowski no ordenaste tu papeleo anoche - Monster Inc. || Mejores escenas  en Español - YouTube">
            <a:extLst>
              <a:ext uri="{FF2B5EF4-FFF2-40B4-BE49-F238E27FC236}">
                <a16:creationId xmlns:a16="http://schemas.microsoft.com/office/drawing/2014/main" id="{F4823745-2285-1EAB-4F59-E2ED515E2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7" b="18333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E72C53-6548-447D-3FE3-9C818400E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058751"/>
          </a:xfrm>
        </p:spPr>
        <p:txBody>
          <a:bodyPr anchor="ctr">
            <a:normAutofit/>
          </a:bodyPr>
          <a:lstStyle/>
          <a:p>
            <a:pPr>
              <a:buClr>
                <a:srgbClr val="F6F98E"/>
              </a:buClr>
            </a:pPr>
            <a:r>
              <a:rPr lang="es-MX" b="1" dirty="0">
                <a:effectLst/>
              </a:rPr>
              <a:t>Caso Real: Metadatos en un Documento Gubernamental</a:t>
            </a:r>
            <a:endParaRPr lang="es-MX">
              <a:effectLst/>
            </a:endParaRPr>
          </a:p>
          <a:p>
            <a:pPr>
              <a:buClr>
                <a:srgbClr val="F6F98E"/>
              </a:buClr>
            </a:pPr>
            <a:r>
              <a:rPr lang="es-MX" dirty="0">
                <a:effectLst/>
              </a:rPr>
              <a:t>En </a:t>
            </a:r>
            <a:r>
              <a:rPr lang="es-MX" b="1" dirty="0">
                <a:effectLst/>
              </a:rPr>
              <a:t>2017</a:t>
            </a:r>
            <a:r>
              <a:rPr lang="es-MX" dirty="0">
                <a:effectLst/>
              </a:rPr>
              <a:t>, periodistas descubrieron que un PDF filtrado por el gobierno de EE.UU. contenía metadatos que revelaban:</a:t>
            </a:r>
            <a:endParaRPr lang="es-MX">
              <a:effectLst/>
            </a:endParaRPr>
          </a:p>
          <a:p>
            <a:pPr>
              <a:buClr>
                <a:srgbClr val="F6F98E"/>
              </a:buClr>
            </a:pPr>
            <a:r>
              <a:rPr lang="es-MX" b="1" dirty="0">
                <a:effectLst/>
              </a:rPr>
              <a:t>Autor</a:t>
            </a:r>
            <a:r>
              <a:rPr lang="es-MX" dirty="0">
                <a:effectLst/>
              </a:rPr>
              <a:t>: "</a:t>
            </a:r>
            <a:r>
              <a:rPr lang="es-MX" dirty="0">
                <a:effectLst/>
                <a:hlinkClick r:id="rId4"/>
              </a:rPr>
              <a:t>John.Doe@cia.gov</a:t>
            </a:r>
            <a:r>
              <a:rPr lang="es-MX" dirty="0">
                <a:effectLst/>
              </a:rPr>
              <a:t>".</a:t>
            </a:r>
            <a:endParaRPr lang="es-MX">
              <a:effectLst/>
            </a:endParaRPr>
          </a:p>
          <a:p>
            <a:pPr>
              <a:buClr>
                <a:srgbClr val="F6F98E"/>
              </a:buClr>
            </a:pPr>
            <a:r>
              <a:rPr lang="es-MX" b="1" dirty="0">
                <a:effectLst/>
              </a:rPr>
              <a:t>Software</a:t>
            </a:r>
            <a:r>
              <a:rPr lang="es-MX" dirty="0">
                <a:effectLst/>
              </a:rPr>
              <a:t>: "Adobe Acrobat Pro DC".</a:t>
            </a:r>
            <a:endParaRPr lang="es-MX">
              <a:effectLst/>
            </a:endParaRPr>
          </a:p>
          <a:p>
            <a:pPr>
              <a:buClr>
                <a:srgbClr val="F6F98E"/>
              </a:buClr>
            </a:pPr>
            <a:r>
              <a:rPr lang="es-MX" b="1" dirty="0">
                <a:effectLst/>
              </a:rPr>
              <a:t>Fecha de modificación</a:t>
            </a:r>
            <a:r>
              <a:rPr lang="es-MX" dirty="0">
                <a:effectLst/>
              </a:rPr>
              <a:t>: Horas antes de la filtración.</a:t>
            </a:r>
            <a:endParaRPr lang="es-MX">
              <a:effectLst/>
            </a:endParaRPr>
          </a:p>
          <a:p>
            <a:pPr>
              <a:buClr>
                <a:srgbClr val="F6F98E"/>
              </a:buClr>
            </a:pPr>
            <a:r>
              <a:rPr lang="es-MX" b="1" dirty="0">
                <a:effectLst/>
              </a:rPr>
              <a:t>Conclusión</a:t>
            </a:r>
            <a:r>
              <a:rPr lang="es-MX" dirty="0">
                <a:effectLst/>
              </a:rPr>
              <a:t>: Los metadatos delataron al posible responsable.</a:t>
            </a:r>
            <a:endParaRPr lang="es-MX">
              <a:effectLst/>
            </a:endParaRPr>
          </a:p>
          <a:p>
            <a:pPr>
              <a:buClr>
                <a:srgbClr val="F6F98E"/>
              </a:buClr>
            </a:pP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1202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6CB56-BDCB-A681-607F-396558FAC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Conclusión y Próximos Pasos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3D6FAA-88C5-7514-8826-AADE17064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999277"/>
          </a:xfrm>
        </p:spPr>
        <p:txBody>
          <a:bodyPr/>
          <a:lstStyle/>
          <a:p>
            <a:pPr algn="ctr"/>
            <a:r>
              <a:rPr lang="es-MX" dirty="0"/>
              <a:t>Recopilación Pasiva: El Fundamento de un </a:t>
            </a:r>
            <a:r>
              <a:rPr lang="es-MX" dirty="0" err="1"/>
              <a:t>Pentest</a:t>
            </a:r>
            <a:r>
              <a:rPr lang="es-MX" dirty="0"/>
              <a:t> Exitoso</a:t>
            </a:r>
          </a:p>
          <a:p>
            <a:r>
              <a:rPr lang="es-MX" dirty="0"/>
              <a:t>La recopilación de información pasiva es una fase crítica.</a:t>
            </a:r>
          </a:p>
          <a:p>
            <a:r>
              <a:rPr lang="es-MX" b="1" dirty="0"/>
              <a:t>No es intrusiva:</a:t>
            </a:r>
            <a:r>
              <a:rPr lang="es-MX" dirty="0"/>
              <a:t> Permite obtener un panorama completo sin levantar sospechas.</a:t>
            </a:r>
          </a:p>
          <a:p>
            <a:r>
              <a:rPr lang="es-MX" b="1" dirty="0"/>
              <a:t>Preparación para la fase activa:</a:t>
            </a:r>
            <a:r>
              <a:rPr lang="es-MX" dirty="0"/>
              <a:t> La información recopilada (versiones de software, subdominios, nombres de empleados) es la base para diseñar los ataques.</a:t>
            </a:r>
          </a:p>
          <a:p>
            <a:endParaRPr lang="es-MX" dirty="0"/>
          </a:p>
          <a:p>
            <a:endParaRPr lang="es-MX" dirty="0"/>
          </a:p>
          <a:p>
            <a:pPr marL="36900" indent="0">
              <a:buNone/>
            </a:pPr>
            <a:endParaRPr lang="es-MX" dirty="0"/>
          </a:p>
          <a:p>
            <a:pPr marL="36900" indent="0">
              <a:buNone/>
            </a:pPr>
            <a:endParaRPr lang="es-MX" dirty="0"/>
          </a:p>
          <a:p>
            <a:pPr marL="36900" indent="0">
              <a:buNone/>
            </a:pPr>
            <a:endParaRPr lang="es-MX" dirty="0"/>
          </a:p>
          <a:p>
            <a:r>
              <a:rPr lang="es-MX" dirty="0"/>
              <a:t>Un buen </a:t>
            </a:r>
            <a:r>
              <a:rPr lang="es-MX" dirty="0" err="1"/>
              <a:t>pentester</a:t>
            </a:r>
            <a:r>
              <a:rPr lang="es-MX" dirty="0"/>
              <a:t> sabe que la inteligencia es más valiosa que el escaneo indiscriminado.</a:t>
            </a:r>
            <a:endParaRPr lang="es-CL" dirty="0"/>
          </a:p>
        </p:txBody>
      </p:sp>
      <p:pic>
        <p:nvPicPr>
          <p:cNvPr id="7176" name="Picture 8" descr="Create meme &quot;anonymous mask, blurred image&quot; - Pictures - Meme-arsenal.com">
            <a:extLst>
              <a:ext uri="{FF2B5EF4-FFF2-40B4-BE49-F238E27FC236}">
                <a16:creationId xmlns:a16="http://schemas.microsoft.com/office/drawing/2014/main" id="{2685BB65-689C-A1CA-C2BF-EF3EA0305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893" y="3829783"/>
            <a:ext cx="3612009" cy="203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79226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79</TotalTime>
  <Words>1204</Words>
  <Application>Microsoft Office PowerPoint</Application>
  <PresentationFormat>Panorámica</PresentationFormat>
  <Paragraphs>131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Aptos Narrow</vt:lpstr>
      <vt:lpstr>Arial</vt:lpstr>
      <vt:lpstr>Calisto MT</vt:lpstr>
      <vt:lpstr>Courier New</vt:lpstr>
      <vt:lpstr>Wingdings 2</vt:lpstr>
      <vt:lpstr>Pizarra</vt:lpstr>
      <vt:lpstr>El Arte de Ser Invisible</vt:lpstr>
      <vt:lpstr>La fase inicial de un pentesting</vt:lpstr>
      <vt:lpstr>Dorking Avanzado con Motores de Búsqueda</vt:lpstr>
      <vt:lpstr>Aplicando lo aprendido</vt:lpstr>
      <vt:lpstr>Whois: El Registro de Dominios</vt:lpstr>
      <vt:lpstr>Aplicando lo aprendido</vt:lpstr>
      <vt:lpstr>Subdominios: La Puerta Trasera al Objetivo</vt:lpstr>
      <vt:lpstr>Shodan: El Motor de Búsqueda para Dispositivos Conectados</vt:lpstr>
      <vt:lpstr>Aplicando lo aprendido</vt:lpstr>
      <vt:lpstr>Metadatos: El Tesoro Oculto en Archivos</vt:lpstr>
      <vt:lpstr>Aplicando lo aprendido</vt:lpstr>
      <vt:lpstr>OJO CON LOS METADATOS</vt:lpstr>
      <vt:lpstr>Y COMO NOS DEFENDEMOS?..</vt:lpstr>
      <vt:lpstr>Presentación de PowerPoint</vt:lpstr>
      <vt:lpstr>Conclusión y Próximos Pasos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Ignacio Carrasco Zura</dc:creator>
  <cp:lastModifiedBy>Patricio Ignacio Carrasco Zura</cp:lastModifiedBy>
  <cp:revision>1</cp:revision>
  <dcterms:created xsi:type="dcterms:W3CDTF">2025-08-18T03:20:49Z</dcterms:created>
  <dcterms:modified xsi:type="dcterms:W3CDTF">2025-08-18T04:40:16Z</dcterms:modified>
</cp:coreProperties>
</file>