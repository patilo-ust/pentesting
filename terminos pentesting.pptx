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58" r:id="rId6"/>
    <p:sldId id="259" r:id="rId7"/>
    <p:sldId id="260" r:id="rId8"/>
    <p:sldId id="261" r:id="rId9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5" autoAdjust="0"/>
  </p:normalViewPr>
  <p:slideViewPr>
    <p:cSldViewPr>
      <p:cViewPr varScale="1">
        <p:scale>
          <a:sx n="74" d="100"/>
          <a:sy n="74" d="100"/>
        </p:scale>
        <p:origin x="66" y="102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24/08/2025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24/08/2025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Glosario Hacking &amp; </a:t>
            </a:r>
            <a:r>
              <a:rPr lang="es-ES" dirty="0" err="1"/>
              <a:t>pentest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9DC917-4AA8-45AD-BB0B-22DD564A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562075"/>
          </a:xfrm>
        </p:spPr>
        <p:txBody>
          <a:bodyPr>
            <a:normAutofit fontScale="90000"/>
          </a:bodyPr>
          <a:lstStyle/>
          <a:p>
            <a:r>
              <a:rPr lang="es-CL" dirty="0"/>
              <a:t>Phishing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2287C3-39BD-B34F-1157-D36CDFDBBEB1}"/>
              </a:ext>
            </a:extLst>
          </p:cNvPr>
          <p:cNvSpPr txBox="1"/>
          <p:nvPr/>
        </p:nvSpPr>
        <p:spPr>
          <a:xfrm>
            <a:off x="909836" y="980728"/>
            <a:ext cx="11449272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s-MX" b="0" i="0" dirty="0">
                <a:solidFill>
                  <a:srgbClr val="F8FAFF"/>
                </a:solidFill>
                <a:effectLst/>
                <a:latin typeface="quote-cjk-patch"/>
              </a:rPr>
              <a:t>📧</a:t>
            </a:r>
            <a:r>
              <a:rPr lang="es-MX" dirty="0">
                <a:solidFill>
                  <a:srgbClr val="F8FAFF"/>
                </a:solidFill>
                <a:latin typeface="quote-cjk-patch"/>
              </a:rPr>
              <a:t>s</a:t>
            </a:r>
            <a:r>
              <a:rPr lang="es-MX" b="0" i="0" dirty="0">
                <a:solidFill>
                  <a:srgbClr val="F8FAFF"/>
                </a:solidFill>
                <a:effectLst/>
                <a:latin typeface="quote-cjk-patch"/>
              </a:rPr>
              <a:t>e entiende como la suplantación de identidad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  <a:buNone/>
            </a:pPr>
            <a:r>
              <a:rPr lang="es-MX" sz="1800" b="1" i="0" dirty="0">
                <a:solidFill>
                  <a:srgbClr val="F8FAFF"/>
                </a:solidFill>
                <a:effectLst/>
                <a:latin typeface="quote-cjk-patch"/>
              </a:rPr>
              <a:t>Concepto:</a:t>
            </a:r>
            <a:endParaRPr lang="es-MX" sz="1800" b="0" i="0" dirty="0">
              <a:solidFill>
                <a:srgbClr val="F8FAFF"/>
              </a:solidFill>
              <a:effectLst/>
              <a:latin typeface="quote-cjk-patch"/>
            </a:endParaRP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es-MX" sz="1800" b="0" i="0" dirty="0">
                <a:solidFill>
                  <a:srgbClr val="F8FAFF"/>
                </a:solidFill>
                <a:effectLst/>
                <a:latin typeface="quote-cjk-patch"/>
              </a:rPr>
              <a:t>El phishing es un ataque de ingeniería social que utiliza </a:t>
            </a:r>
            <a:r>
              <a:rPr lang="es-MX" sz="1800" b="1" i="0" dirty="0">
                <a:solidFill>
                  <a:srgbClr val="F8FAFF"/>
                </a:solidFill>
                <a:effectLst/>
                <a:latin typeface="quote-cjk-patch"/>
              </a:rPr>
              <a:t>correos electrónicos fraudulentos</a:t>
            </a:r>
            <a:r>
              <a:rPr lang="es-MX" sz="1800" b="0" i="0" dirty="0">
                <a:solidFill>
                  <a:srgbClr val="F8FAFF"/>
                </a:solidFill>
                <a:effectLst/>
                <a:latin typeface="quote-cjk-patch"/>
              </a:rPr>
              <a:t> para engañar a las víctimas y hacer que revelen información sensible, hagan clic en enlaces maliciosos o descarguen archivos infectados.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BC5ADF-97D1-F141-71B0-8F42E8C58EC3}"/>
              </a:ext>
            </a:extLst>
          </p:cNvPr>
          <p:cNvSpPr txBox="1"/>
          <p:nvPr/>
        </p:nvSpPr>
        <p:spPr>
          <a:xfrm>
            <a:off x="1181723" y="4797152"/>
            <a:ext cx="11161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dirty="0"/>
              <a:t>Asunto: Alerta de seguridad de su cuenta</a:t>
            </a:r>
          </a:p>
          <a:p>
            <a:r>
              <a:rPr lang="es-CL" sz="2000" dirty="0"/>
              <a:t>De: Microsoft Security &lt;security@microsoft-support.com&gt;</a:t>
            </a:r>
          </a:p>
          <a:p>
            <a:r>
              <a:rPr lang="es-CL" sz="2000" dirty="0"/>
              <a:t>Mensaje: "Alguien inició sesión desde una nueva ubicación. </a:t>
            </a:r>
          </a:p>
          <a:p>
            <a:r>
              <a:rPr lang="es-CL" sz="2000" dirty="0"/>
              <a:t>Verifique su actividad: http://microsoft-account-verify.net"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C868EF1-452D-352C-F638-775268901D34}"/>
              </a:ext>
            </a:extLst>
          </p:cNvPr>
          <p:cNvSpPr txBox="1"/>
          <p:nvPr/>
        </p:nvSpPr>
        <p:spPr>
          <a:xfrm>
            <a:off x="1175458" y="2989343"/>
            <a:ext cx="95274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dirty="0"/>
              <a:t>Asunto: Urgente: Su cuenta ha sido suspendida</a:t>
            </a:r>
          </a:p>
          <a:p>
            <a:r>
              <a:rPr lang="es-CL" sz="2000" dirty="0"/>
              <a:t>De: seguridad@banco-oficial.com (</a:t>
            </a:r>
            <a:r>
              <a:rPr lang="es-CL" dirty="0"/>
              <a:t>falso</a:t>
            </a:r>
            <a:r>
              <a:rPr lang="es-CL" sz="2000" dirty="0"/>
              <a:t>)</a:t>
            </a:r>
          </a:p>
          <a:p>
            <a:r>
              <a:rPr lang="es-CL" sz="2000" dirty="0"/>
              <a:t>Mensaje: "Estimado cliente, detectamos actividad sospechosa. </a:t>
            </a:r>
          </a:p>
          <a:p>
            <a:r>
              <a:rPr lang="es-CL" sz="2000" dirty="0"/>
              <a:t>Haga clic aquí para verificar su identidad: http://banco-oficial.secure-login.com"</a:t>
            </a:r>
          </a:p>
        </p:txBody>
      </p:sp>
    </p:spTree>
    <p:extLst>
      <p:ext uri="{BB962C8B-B14F-4D97-AF65-F5344CB8AC3E}">
        <p14:creationId xmlns:p14="http://schemas.microsoft.com/office/powerpoint/2010/main" val="362938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6CD436-645A-83A0-4C23-62F0F875A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91596"/>
            <a:ext cx="10360501" cy="804669"/>
          </a:xfrm>
        </p:spPr>
        <p:txBody>
          <a:bodyPr/>
          <a:lstStyle/>
          <a:p>
            <a:r>
              <a:rPr lang="es-CL" dirty="0" err="1"/>
              <a:t>Sniffing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5D0E47-11B2-7374-A8F7-1D5F74149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0" y="1268760"/>
            <a:ext cx="10360501" cy="804669"/>
          </a:xfrm>
        </p:spPr>
        <p:txBody>
          <a:bodyPr>
            <a:normAutofit/>
          </a:bodyPr>
          <a:lstStyle/>
          <a:p>
            <a:r>
              <a:rPr lang="es-CL" sz="2000" dirty="0"/>
              <a:t>👃 Es la interceptación y captura de </a:t>
            </a:r>
            <a:r>
              <a:rPr lang="es-MX" sz="2000" dirty="0"/>
              <a:t>tráfico de red para analizar y obtener información sensible como contraseñas, datos personales o información confidencial.</a:t>
            </a:r>
            <a:endParaRPr lang="es-CL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B4ACFA-D95F-7815-4CE6-F51A84C2FB9E}"/>
              </a:ext>
            </a:extLst>
          </p:cNvPr>
          <p:cNvSpPr txBox="1"/>
          <p:nvPr/>
        </p:nvSpPr>
        <p:spPr>
          <a:xfrm>
            <a:off x="941514" y="1916832"/>
            <a:ext cx="107291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 En una red corporativa:</a:t>
            </a:r>
          </a:p>
          <a:p>
            <a:r>
              <a:rPr lang="es-MX" sz="1800" dirty="0"/>
              <a:t>Ejecutar ARP </a:t>
            </a:r>
            <a:r>
              <a:rPr lang="es-MX" sz="1800" dirty="0" err="1"/>
              <a:t>spoofing</a:t>
            </a:r>
            <a:r>
              <a:rPr lang="es-MX" sz="1800" dirty="0"/>
              <a:t> y capturar tráfico</a:t>
            </a:r>
          </a:p>
          <a:p>
            <a:r>
              <a:rPr lang="es-MX" sz="1800" i="1" dirty="0" err="1"/>
              <a:t>arpspoof</a:t>
            </a:r>
            <a:r>
              <a:rPr lang="es-MX" sz="1800" i="1" dirty="0"/>
              <a:t> -i eth0 -t 192.168.1.105 192.168.1.1</a:t>
            </a:r>
          </a:p>
          <a:p>
            <a:r>
              <a:rPr lang="es-MX" sz="1800" dirty="0"/>
              <a:t>Luego capturar todo el tráfico que pasa por el </a:t>
            </a:r>
            <a:r>
              <a:rPr lang="es-MX" sz="1800" dirty="0" err="1"/>
              <a:t>router</a:t>
            </a:r>
            <a:endParaRPr lang="es-CL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86F623-DCD0-51D3-F91E-B4A6D2CEC98B}"/>
              </a:ext>
            </a:extLst>
          </p:cNvPr>
          <p:cNvSpPr txBox="1"/>
          <p:nvPr/>
        </p:nvSpPr>
        <p:spPr>
          <a:xfrm>
            <a:off x="941514" y="3284984"/>
            <a:ext cx="610458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800" dirty="0"/>
              <a:t>Atacante en café con herramientas como:</a:t>
            </a:r>
          </a:p>
          <a:p>
            <a:r>
              <a:rPr lang="es-CL" sz="1800" dirty="0"/>
              <a:t>Wireshark (para redes)</a:t>
            </a:r>
          </a:p>
          <a:p>
            <a:r>
              <a:rPr lang="es-CL" sz="1800" dirty="0" err="1"/>
              <a:t>tcpdump</a:t>
            </a:r>
            <a:endParaRPr lang="es-CL" sz="1800" dirty="0"/>
          </a:p>
          <a:p>
            <a:r>
              <a:rPr lang="es-CL" sz="1800" dirty="0" err="1"/>
              <a:t>airodump</a:t>
            </a:r>
            <a:r>
              <a:rPr lang="es-CL" sz="1800" dirty="0"/>
              <a:t>-ng</a:t>
            </a:r>
          </a:p>
          <a:p>
            <a:r>
              <a:rPr lang="es-CL" sz="1800" dirty="0" err="1"/>
              <a:t>Ettercap</a:t>
            </a:r>
            <a:endParaRPr lang="es-CL" sz="1800" dirty="0"/>
          </a:p>
          <a:p>
            <a:r>
              <a:rPr lang="es-CL" sz="1800" dirty="0" err="1"/>
              <a:t>Burp</a:t>
            </a:r>
            <a:r>
              <a:rPr lang="es-CL" sz="1800" dirty="0"/>
              <a:t> suite (una de las mas importantes para web)</a:t>
            </a:r>
          </a:p>
          <a:p>
            <a:r>
              <a:rPr lang="es-CL" sz="1800" dirty="0"/>
              <a:t>Captura tráfico HTTP no cifrado y obtiene:</a:t>
            </a:r>
          </a:p>
          <a:p>
            <a:r>
              <a:rPr lang="es-CL" sz="1800" dirty="0"/>
              <a:t>- Credenciales de </a:t>
            </a:r>
            <a:r>
              <a:rPr lang="es-CL" sz="1800" dirty="0" err="1"/>
              <a:t>login</a:t>
            </a:r>
            <a:endParaRPr lang="es-CL" sz="1800" dirty="0"/>
          </a:p>
          <a:p>
            <a:r>
              <a:rPr lang="es-CL" sz="1800" dirty="0"/>
              <a:t>- Cookies de sesión</a:t>
            </a:r>
          </a:p>
          <a:p>
            <a:r>
              <a:rPr lang="es-CL" sz="1800" dirty="0"/>
              <a:t>- Información personal</a:t>
            </a:r>
          </a:p>
        </p:txBody>
      </p:sp>
    </p:spTree>
    <p:extLst>
      <p:ext uri="{BB962C8B-B14F-4D97-AF65-F5344CB8AC3E}">
        <p14:creationId xmlns:p14="http://schemas.microsoft.com/office/powerpoint/2010/main" val="376490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0B979-5B5E-E651-2FE7-1CBB57F23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s-CL" dirty="0" err="1"/>
              <a:t>Vishing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78D93-0078-A989-7AB6-AB7F4DD5A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23249"/>
            <a:ext cx="10360501" cy="893583"/>
          </a:xfrm>
        </p:spPr>
        <p:txBody>
          <a:bodyPr/>
          <a:lstStyle/>
          <a:p>
            <a:r>
              <a:rPr lang="es-CL" dirty="0"/>
              <a:t>📞 </a:t>
            </a:r>
            <a:r>
              <a:rPr lang="es-MX" sz="2400" dirty="0"/>
              <a:t>El </a:t>
            </a:r>
            <a:r>
              <a:rPr lang="es-MX" sz="2400" dirty="0" err="1"/>
              <a:t>vishing</a:t>
            </a:r>
            <a:r>
              <a:rPr lang="es-MX" sz="2400" dirty="0"/>
              <a:t> (</a:t>
            </a:r>
            <a:r>
              <a:rPr lang="es-MX" sz="2400" dirty="0" err="1"/>
              <a:t>voice</a:t>
            </a:r>
            <a:r>
              <a:rPr lang="es-MX" sz="2400" dirty="0"/>
              <a:t> + phishing) utiliza </a:t>
            </a:r>
            <a:r>
              <a:rPr lang="es-MX" sz="2400" b="1" dirty="0"/>
              <a:t>llamadas telefónicas</a:t>
            </a:r>
            <a:r>
              <a:rPr lang="es-MX" sz="2400" dirty="0"/>
              <a:t> para engañar a las víctimas y obtener información confidencial o acceso a sistemas.</a:t>
            </a:r>
            <a:endParaRPr lang="es-CL" sz="2400" dirty="0"/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73052E-6A69-F9AA-9FBB-9EA9057D8286}"/>
              </a:ext>
            </a:extLst>
          </p:cNvPr>
          <p:cNvSpPr txBox="1"/>
          <p:nvPr/>
        </p:nvSpPr>
        <p:spPr>
          <a:xfrm>
            <a:off x="3042119" y="1959353"/>
            <a:ext cx="61045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"Buenos días, hablamos de Microsoft. </a:t>
            </a:r>
          </a:p>
          <a:p>
            <a:r>
              <a:rPr lang="es-CL" dirty="0"/>
              <a:t>Detectamos un virus en su computadora. </a:t>
            </a:r>
          </a:p>
          <a:p>
            <a:r>
              <a:rPr lang="es-CL" dirty="0"/>
              <a:t>Necesitamos acceso remoto para solucionarlo."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2EEBC3-9E7C-1BAE-C051-C87A36430960}"/>
              </a:ext>
            </a:extLst>
          </p:cNvPr>
          <p:cNvSpPr txBox="1"/>
          <p:nvPr/>
        </p:nvSpPr>
        <p:spPr>
          <a:xfrm>
            <a:off x="3042119" y="3186067"/>
            <a:ext cx="61045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"Somos del departamento de seguridad de su banco.</a:t>
            </a:r>
          </a:p>
          <a:p>
            <a:r>
              <a:rPr lang="es-CL" dirty="0"/>
              <a:t>Detectamos transacciones sospechosas. </a:t>
            </a:r>
          </a:p>
          <a:p>
            <a:r>
              <a:rPr lang="es-CL" dirty="0"/>
              <a:t>Necesitamos verificar su identidad con su PIN."</a:t>
            </a:r>
          </a:p>
        </p:txBody>
      </p:sp>
    </p:spTree>
    <p:extLst>
      <p:ext uri="{BB962C8B-B14F-4D97-AF65-F5344CB8AC3E}">
        <p14:creationId xmlns:p14="http://schemas.microsoft.com/office/powerpoint/2010/main" val="276590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FF191-BF7A-76CC-9BEC-12FA7C31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s-CL" dirty="0" err="1"/>
              <a:t>Smishing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797AC5-6E50-9826-04BB-A279A183A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3"/>
            <a:ext cx="10360501" cy="936104"/>
          </a:xfrm>
        </p:spPr>
        <p:txBody>
          <a:bodyPr>
            <a:normAutofit/>
          </a:bodyPr>
          <a:lstStyle/>
          <a:p>
            <a:r>
              <a:rPr lang="es-CL" sz="2400" dirty="0"/>
              <a:t>📱</a:t>
            </a:r>
            <a:r>
              <a:rPr lang="es-MX" sz="2400" dirty="0"/>
              <a:t>El </a:t>
            </a:r>
            <a:r>
              <a:rPr lang="es-MX" sz="2400" dirty="0" err="1"/>
              <a:t>smishing</a:t>
            </a:r>
            <a:r>
              <a:rPr lang="es-MX" sz="2400" dirty="0"/>
              <a:t> (SMS + phishing) utiliza </a:t>
            </a:r>
            <a:r>
              <a:rPr lang="es-MX" sz="2400" b="1" dirty="0"/>
              <a:t>mensajes de texto SMS</a:t>
            </a:r>
            <a:r>
              <a:rPr lang="es-MX" sz="2400" dirty="0"/>
              <a:t> para engañar a las víctimas con enlaces maliciosos o números de teléfono fraudulentos.</a:t>
            </a:r>
            <a:endParaRPr lang="es-CL" sz="2400" dirty="0"/>
          </a:p>
          <a:p>
            <a:endParaRPr lang="es-CL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C18E3C-3025-46F1-09B0-8E67FBD35237}"/>
              </a:ext>
            </a:extLst>
          </p:cNvPr>
          <p:cNvSpPr txBox="1"/>
          <p:nvPr/>
        </p:nvSpPr>
        <p:spPr>
          <a:xfrm>
            <a:off x="3042118" y="2131948"/>
            <a:ext cx="7372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SMS: "UPS: Su paquete no se pudo entregar. </a:t>
            </a:r>
          </a:p>
          <a:p>
            <a:r>
              <a:rPr lang="es-CL" dirty="0"/>
              <a:t>Actualice su dirección: http://ups-package-update.com"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B0BCF91-5785-6499-A639-2CA168ECF5CA}"/>
              </a:ext>
            </a:extLst>
          </p:cNvPr>
          <p:cNvSpPr txBox="1"/>
          <p:nvPr/>
        </p:nvSpPr>
        <p:spPr>
          <a:xfrm>
            <a:off x="3014368" y="2972567"/>
            <a:ext cx="7184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SMS: "Banco: Actividad sospechosa en su cuenta. </a:t>
            </a:r>
          </a:p>
          <a:p>
            <a:r>
              <a:rPr lang="es-CL" dirty="0"/>
              <a:t>Bloquee su tarjeta: http://banco-security-alert.com"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E6F265F-0689-8230-A828-CD50CBB83D51}"/>
              </a:ext>
            </a:extLst>
          </p:cNvPr>
          <p:cNvSpPr txBox="1"/>
          <p:nvPr/>
        </p:nvSpPr>
        <p:spPr>
          <a:xfrm>
            <a:off x="3014367" y="3802655"/>
            <a:ext cx="74005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SMS: "FELICIDADES: Ganó un iPhone gratis!</a:t>
            </a:r>
          </a:p>
          <a:p>
            <a:r>
              <a:rPr lang="es-CL" dirty="0"/>
              <a:t>Reclame su premio: http://apple-giveaway-win.com"</a:t>
            </a:r>
          </a:p>
        </p:txBody>
      </p:sp>
    </p:spTree>
    <p:extLst>
      <p:ext uri="{BB962C8B-B14F-4D97-AF65-F5344CB8AC3E}">
        <p14:creationId xmlns:p14="http://schemas.microsoft.com/office/powerpoint/2010/main" val="171271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16</TotalTime>
  <Words>397</Words>
  <Application>Microsoft Office PowerPoint</Application>
  <PresentationFormat>Personalizado</PresentationFormat>
  <Paragraphs>46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quote-cjk-patch</vt:lpstr>
      <vt:lpstr>Tecnología 16x9</vt:lpstr>
      <vt:lpstr>Glosario Hacking &amp; pentest</vt:lpstr>
      <vt:lpstr>Phishing</vt:lpstr>
      <vt:lpstr>Sniffing</vt:lpstr>
      <vt:lpstr>Vishing</vt:lpstr>
      <vt:lpstr>Smishing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2025-08-25T03:36:30Z</dcterms:created>
  <dcterms:modified xsi:type="dcterms:W3CDTF">2025-08-25T03:53:02Z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