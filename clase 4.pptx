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4DD2E-7B8A-4EBD-A46A-D93919FD17F5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01B96-D1DB-4F0E-8ADE-C254D7C9FF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949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01B96-D1DB-4F0E-8ADE-C254D7C9FFAC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665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2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6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9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5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0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4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5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1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7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2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22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B9464-E8FB-83A8-7091-2E181AAAF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673" y="380448"/>
            <a:ext cx="5657899" cy="3450844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Escuchando en la Oscuridad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52DF1-C6EB-5FA2-5BC2-341651974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818126"/>
            <a:ext cx="5657899" cy="1268984"/>
          </a:xfrm>
        </p:spPr>
        <p:txBody>
          <a:bodyPr>
            <a:normAutofit/>
          </a:bodyPr>
          <a:lstStyle/>
          <a:p>
            <a:r>
              <a:rPr lang="es-CL" dirty="0" err="1"/>
              <a:t>Pentesting</a:t>
            </a:r>
            <a:endParaRPr lang="es-CL" dirty="0"/>
          </a:p>
          <a:p>
            <a:r>
              <a:rPr lang="es-CL" dirty="0"/>
              <a:t>Fase: reconocimiento activo</a:t>
            </a:r>
          </a:p>
        </p:txBody>
      </p:sp>
      <p:pic>
        <p:nvPicPr>
          <p:cNvPr id="4" name="Picture 3" descr="Luces de láser de neón alineadas para formar un triángulo">
            <a:extLst>
              <a:ext uri="{FF2B5EF4-FFF2-40B4-BE49-F238E27FC236}">
                <a16:creationId xmlns:a16="http://schemas.microsoft.com/office/drawing/2014/main" id="{A400F20C-4337-5C07-D786-234DCBE63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44" r="26933"/>
          <a:stretch>
            <a:fillRect/>
          </a:stretch>
        </p:blipFill>
        <p:spPr>
          <a:xfrm>
            <a:off x="7087167" y="10"/>
            <a:ext cx="510483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7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C1B2C-0A53-53AA-69AA-4108404B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la Recopilación de Información Activa?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49A393-90A2-3B82-7AF0-2A461822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el siguiente paso lógico en el </a:t>
            </a:r>
            <a:r>
              <a:rPr lang="es-MX" dirty="0" err="1"/>
              <a:t>pentesting</a:t>
            </a:r>
            <a:r>
              <a:rPr lang="es-MX" dirty="0"/>
              <a:t>, donde se </a:t>
            </a:r>
            <a:r>
              <a:rPr lang="es-MX" b="1" dirty="0"/>
              <a:t>interactúa directamente</a:t>
            </a:r>
            <a:r>
              <a:rPr lang="es-MX" dirty="0"/>
              <a:t> con los sistemas del objetivo para obtener un mapa de la red.</a:t>
            </a:r>
          </a:p>
          <a:p>
            <a:r>
              <a:rPr lang="es-MX" dirty="0"/>
              <a:t>Diferencia clave con la fase pasiva: Mientras que la recopilación pasiva es como observar un edificio desde lejos (información pública), la activa es como acercarse y tocar la puerta para ver si alguien contesta.</a:t>
            </a:r>
          </a:p>
          <a:p>
            <a:r>
              <a:rPr lang="es-MX" b="1" dirty="0"/>
              <a:t>Objetivo:</a:t>
            </a:r>
            <a:r>
              <a:rPr lang="es-MX" dirty="0"/>
              <a:t> Identificar hosts activos, puertos abiertos, servicios en ejecución y sus versiones para encontrar posibles puntos de entrada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8719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90EC3F-1375-2555-3D35-0116B3E6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38" y="1247140"/>
            <a:ext cx="5981312" cy="290875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700" dirty="0" err="1"/>
              <a:t>Herramientas</a:t>
            </a:r>
            <a:r>
              <a:rPr lang="en-US" sz="4700" dirty="0"/>
              <a:t> del arsenal </a:t>
            </a:r>
            <a:r>
              <a:rPr lang="en-US" sz="4700" dirty="0" err="1"/>
              <a:t>activo</a:t>
            </a:r>
            <a:br>
              <a:rPr lang="en-US" sz="4700" dirty="0"/>
            </a:br>
            <a:r>
              <a:rPr lang="en-US" sz="4700" dirty="0"/>
              <a:t>Tus </a:t>
            </a:r>
            <a:r>
              <a:rPr lang="en-US" sz="4700" dirty="0" err="1"/>
              <a:t>Primeras</a:t>
            </a:r>
            <a:r>
              <a:rPr lang="en-US" sz="4700" dirty="0"/>
              <a:t> </a:t>
            </a:r>
            <a:r>
              <a:rPr lang="en-US" sz="4700" dirty="0" err="1"/>
              <a:t>Herramientas</a:t>
            </a:r>
            <a:r>
              <a:rPr lang="en-US" sz="4700" dirty="0"/>
              <a:t>: </a:t>
            </a:r>
            <a:br>
              <a:rPr lang="en-US" sz="4700" dirty="0"/>
            </a:br>
            <a:r>
              <a:rPr lang="en-US" sz="4700" dirty="0"/>
              <a:t>DNS y Nmap</a:t>
            </a:r>
          </a:p>
        </p:txBody>
      </p:sp>
      <p:pic>
        <p:nvPicPr>
          <p:cNvPr id="1026" name="Picture 2" descr="Nmap, the Tool for Mapping and Assessing Network Security">
            <a:extLst>
              <a:ext uri="{FF2B5EF4-FFF2-40B4-BE49-F238E27FC236}">
                <a16:creationId xmlns:a16="http://schemas.microsoft.com/office/drawing/2014/main" id="{6D08273A-252B-35B7-A3D4-A2D9E16576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74" r="30833" b="-1"/>
          <a:stretch>
            <a:fillRect/>
          </a:stretch>
        </p:blipFill>
        <p:spPr bwMode="auto">
          <a:xfrm>
            <a:off x="7889077" y="10"/>
            <a:ext cx="4302923" cy="57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2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97BFB-2A1B-9D3A-2C0B-F901E61D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Zona DNS (</a:t>
            </a:r>
            <a:r>
              <a:rPr lang="es-CL" dirty="0" err="1"/>
              <a:t>dig</a:t>
            </a:r>
            <a:r>
              <a:rPr lang="es-CL" dirty="0"/>
              <a:t>/host)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BDF685-8299-5380-3E3A-33F96E309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Transferencia de Zona DNS (</a:t>
            </a:r>
            <a:r>
              <a:rPr lang="es-MX" b="1" dirty="0" err="1"/>
              <a:t>dig</a:t>
            </a:r>
            <a:r>
              <a:rPr lang="es-MX" b="1" dirty="0"/>
              <a:t>/host):</a:t>
            </a:r>
            <a:r>
              <a:rPr lang="es-MX" dirty="0"/>
              <a:t> Un método simple para obtener una lista completa de los registros DNS de un dominio si el servidor está mal configurado.</a:t>
            </a:r>
          </a:p>
          <a:p>
            <a:r>
              <a:rPr lang="es-CL" i="1" dirty="0" err="1"/>
              <a:t>dig</a:t>
            </a:r>
            <a:r>
              <a:rPr lang="es-CL" i="1" dirty="0"/>
              <a:t> @ns1.ejemplo.cl ejemplo.cl </a:t>
            </a:r>
            <a:r>
              <a:rPr lang="es-CL" i="1" dirty="0" err="1"/>
              <a:t>axfr</a:t>
            </a:r>
            <a:endParaRPr lang="es-CL" i="1" dirty="0"/>
          </a:p>
          <a:p>
            <a:r>
              <a:rPr lang="es-MX" b="1" dirty="0"/>
              <a:t>Propósito:</a:t>
            </a:r>
            <a:r>
              <a:rPr lang="es-MX" dirty="0"/>
              <a:t> Mapea la infraestructura del dominio, revelando subdominios y direcciones IP internas.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263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C7E1C-1A0C-B983-6E6F-8541A297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Nmap</a:t>
            </a:r>
            <a:r>
              <a:rPr lang="es-MX" dirty="0"/>
              <a:t>: El Cartógrafo de Redes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F318F4-E847-3393-AA91-F2784F318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la herramienta fundamental para el escaneo de puertos y la detección de servicios.</a:t>
            </a:r>
          </a:p>
          <a:p>
            <a:r>
              <a:rPr lang="es-MX" b="1" dirty="0"/>
              <a:t>Propósito:</a:t>
            </a:r>
            <a:r>
              <a:rPr lang="es-MX" dirty="0"/>
              <a:t> </a:t>
            </a:r>
            <a:r>
              <a:rPr lang="es-MX" dirty="0" err="1"/>
              <a:t>Nmap</a:t>
            </a:r>
            <a:r>
              <a:rPr lang="es-MX" dirty="0"/>
              <a:t> te permite descubrir qué servicios están corriendo en un host, lo que es crucial para la fase de explotación.</a:t>
            </a:r>
          </a:p>
          <a:p>
            <a:r>
              <a:rPr lang="es-MX" b="1" dirty="0"/>
              <a:t>Riesgo:</a:t>
            </a:r>
            <a:r>
              <a:rPr lang="es-MX" dirty="0"/>
              <a:t> El uso de </a:t>
            </a:r>
            <a:r>
              <a:rPr lang="es-MX" dirty="0" err="1"/>
              <a:t>Nmap</a:t>
            </a:r>
            <a:r>
              <a:rPr lang="es-MX" dirty="0"/>
              <a:t> puede ser </a:t>
            </a:r>
            <a:r>
              <a:rPr lang="es-MX" b="1" dirty="0"/>
              <a:t>ruidoso</a:t>
            </a:r>
            <a:r>
              <a:rPr lang="es-MX" dirty="0"/>
              <a:t> y ser detectado por los sistemas de seguridad.,</a:t>
            </a:r>
          </a:p>
          <a:p>
            <a:r>
              <a:rPr lang="es-CL" dirty="0"/>
              <a:t>Nuestro primer paso es ver si tenemos </a:t>
            </a:r>
            <a:r>
              <a:rPr lang="es-CL" dirty="0" err="1"/>
              <a:t>nmap</a:t>
            </a:r>
            <a:r>
              <a:rPr lang="es-CL" dirty="0"/>
              <a:t> (Kali y </a:t>
            </a:r>
            <a:r>
              <a:rPr lang="es-CL" dirty="0" err="1"/>
              <a:t>parrot</a:t>
            </a:r>
            <a:r>
              <a:rPr lang="es-CL" dirty="0"/>
              <a:t> lo tienen</a:t>
            </a:r>
          </a:p>
          <a:p>
            <a:r>
              <a:rPr lang="es-CL" dirty="0"/>
              <a:t>Por default)  </a:t>
            </a:r>
            <a:r>
              <a:rPr lang="es-CL" dirty="0" err="1"/>
              <a:t>nmap</a:t>
            </a:r>
            <a:r>
              <a:rPr lang="es-CL" dirty="0"/>
              <a:t> -v</a:t>
            </a:r>
          </a:p>
        </p:txBody>
      </p:sp>
    </p:spTree>
    <p:extLst>
      <p:ext uri="{BB962C8B-B14F-4D97-AF65-F5344CB8AC3E}">
        <p14:creationId xmlns:p14="http://schemas.microsoft.com/office/powerpoint/2010/main" val="55506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E3848-0E51-5195-B06F-94D22A06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185017"/>
            <a:ext cx="9486690" cy="721431"/>
          </a:xfrm>
        </p:spPr>
        <p:txBody>
          <a:bodyPr>
            <a:normAutofit fontScale="90000"/>
          </a:bodyPr>
          <a:lstStyle/>
          <a:p>
            <a:r>
              <a:rPr lang="es-CL" dirty="0"/>
              <a:t>Iniciando en </a:t>
            </a:r>
            <a:r>
              <a:rPr lang="es-CL" dirty="0" err="1"/>
              <a:t>nmap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C77EB-9D01-0510-479D-365FD0F1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906449"/>
            <a:ext cx="9486690" cy="5951552"/>
          </a:xfrm>
        </p:spPr>
        <p:txBody>
          <a:bodyPr/>
          <a:lstStyle/>
          <a:p>
            <a:r>
              <a:rPr lang="es-MX" dirty="0"/>
              <a:t>Escanear toda la subred (ajusta según tu red)</a:t>
            </a:r>
          </a:p>
          <a:p>
            <a:r>
              <a:rPr lang="es-MX" i="1" dirty="0" err="1"/>
              <a:t>nmap</a:t>
            </a:r>
            <a:r>
              <a:rPr lang="es-MX" i="1" dirty="0"/>
              <a:t> -</a:t>
            </a:r>
            <a:r>
              <a:rPr lang="es-MX" i="1" dirty="0" err="1"/>
              <a:t>sn</a:t>
            </a:r>
            <a:r>
              <a:rPr lang="es-MX" i="1" dirty="0"/>
              <a:t> 192.168.1.0/24</a:t>
            </a:r>
          </a:p>
          <a:p>
            <a:r>
              <a:rPr lang="es-MX" dirty="0"/>
              <a:t>O usando tu rango de IP automáticamente</a:t>
            </a:r>
          </a:p>
          <a:p>
            <a:r>
              <a:rPr lang="es-MX" i="1" dirty="0" err="1"/>
              <a:t>nmap</a:t>
            </a:r>
            <a:r>
              <a:rPr lang="es-MX" i="1" dirty="0"/>
              <a:t> -</a:t>
            </a:r>
            <a:r>
              <a:rPr lang="es-MX" i="1" dirty="0" err="1"/>
              <a:t>sn</a:t>
            </a:r>
            <a:r>
              <a:rPr lang="es-MX" i="1" dirty="0"/>
              <a:t> 192.168.0.0/24</a:t>
            </a:r>
          </a:p>
          <a:p>
            <a:r>
              <a:rPr lang="es-MX" i="1" dirty="0" err="1"/>
              <a:t>nmap</a:t>
            </a:r>
            <a:r>
              <a:rPr lang="es-MX" i="1" dirty="0"/>
              <a:t> -</a:t>
            </a:r>
            <a:r>
              <a:rPr lang="es-MX" i="1" dirty="0" err="1"/>
              <a:t>sn</a:t>
            </a:r>
            <a:r>
              <a:rPr lang="es-MX" i="1" dirty="0"/>
              <a:t> 10.0.0.0/24</a:t>
            </a:r>
          </a:p>
          <a:p>
            <a:r>
              <a:rPr lang="es-MX" dirty="0"/>
              <a:t>Pero tenemos un comando mas especifico y limitado</a:t>
            </a:r>
          </a:p>
          <a:p>
            <a:r>
              <a:rPr lang="es-MX" i="1" dirty="0" err="1"/>
              <a:t>nmap</a:t>
            </a:r>
            <a:r>
              <a:rPr lang="es-MX" i="1" dirty="0"/>
              <a:t> -</a:t>
            </a:r>
            <a:r>
              <a:rPr lang="es-MX" i="1" dirty="0" err="1"/>
              <a:t>sn</a:t>
            </a:r>
            <a:r>
              <a:rPr lang="es-MX" i="1" dirty="0"/>
              <a:t> 192.168.1.*</a:t>
            </a:r>
          </a:p>
          <a:p>
            <a:r>
              <a:rPr lang="es-MX" dirty="0"/>
              <a:t>Es exactamente igual a:</a:t>
            </a:r>
          </a:p>
          <a:p>
            <a:r>
              <a:rPr lang="es-MX" i="1" dirty="0" err="1"/>
              <a:t>nmap</a:t>
            </a:r>
            <a:r>
              <a:rPr lang="es-MX" i="1" dirty="0"/>
              <a:t> -</a:t>
            </a:r>
            <a:r>
              <a:rPr lang="es-MX" i="1" dirty="0" err="1"/>
              <a:t>sn</a:t>
            </a:r>
            <a:r>
              <a:rPr lang="es-MX" i="1" dirty="0"/>
              <a:t> 192.168.1.0/24</a:t>
            </a:r>
          </a:p>
          <a:p>
            <a:r>
              <a:rPr lang="es-CL" dirty="0"/>
              <a:t>¿Cuál deberías usar?</a:t>
            </a:r>
          </a:p>
          <a:p>
            <a:r>
              <a:rPr lang="es-CL" dirty="0"/>
              <a:t>Para redes normales y domesticas se usa el quebrado / o *</a:t>
            </a:r>
          </a:p>
        </p:txBody>
      </p:sp>
    </p:spTree>
    <p:extLst>
      <p:ext uri="{BB962C8B-B14F-4D97-AF65-F5344CB8AC3E}">
        <p14:creationId xmlns:p14="http://schemas.microsoft.com/office/powerpoint/2010/main" val="30579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9CE31-AF06-E206-B016-A3C9F36A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524786"/>
            <a:ext cx="9486690" cy="5561382"/>
          </a:xfrm>
        </p:spPr>
        <p:txBody>
          <a:bodyPr/>
          <a:lstStyle/>
          <a:p>
            <a:r>
              <a:rPr lang="es-CL" dirty="0"/>
              <a:t>Para puertos </a:t>
            </a:r>
            <a:r>
              <a:rPr lang="es-CL" dirty="0" err="1"/>
              <a:t>tcp</a:t>
            </a:r>
            <a:r>
              <a:rPr lang="es-CL" dirty="0"/>
              <a:t> utilizaremos SYN </a:t>
            </a:r>
            <a:r>
              <a:rPr lang="es-CL" dirty="0" err="1"/>
              <a:t>Scan</a:t>
            </a:r>
            <a:r>
              <a:rPr lang="es-CL" dirty="0"/>
              <a:t> (</a:t>
            </a:r>
            <a:r>
              <a:rPr lang="es-CL" dirty="0" err="1"/>
              <a:t>stealth</a:t>
            </a:r>
            <a:r>
              <a:rPr lang="es-CL" dirty="0"/>
              <a:t>)</a:t>
            </a:r>
          </a:p>
          <a:p>
            <a:r>
              <a:rPr lang="es-MX" sz="1800" b="1" dirty="0"/>
              <a:t>SYN </a:t>
            </a:r>
            <a:r>
              <a:rPr lang="es-MX" sz="1800" b="1" dirty="0" err="1"/>
              <a:t>Scan</a:t>
            </a:r>
            <a:r>
              <a:rPr lang="es-MX" sz="1800" b="1" dirty="0"/>
              <a:t> (</a:t>
            </a:r>
            <a:r>
              <a:rPr lang="es-MX" sz="1800" b="1" dirty="0" err="1"/>
              <a:t>Stealth</a:t>
            </a:r>
            <a:r>
              <a:rPr lang="es-MX" sz="1800" b="1" dirty="0"/>
              <a:t>):</a:t>
            </a:r>
            <a:r>
              <a:rPr lang="es-MX" sz="1800" dirty="0"/>
              <a:t> Es el escaneo por defecto y más popular. Envía un paquete SYN y espera la respuesta SYN/ACK sin completar la conexión. Es más sigiloso que un escaneo completo.</a:t>
            </a:r>
          </a:p>
          <a:p>
            <a:r>
              <a:rPr lang="es-MX" sz="1800" dirty="0"/>
              <a:t>Ejemplo: </a:t>
            </a:r>
            <a:r>
              <a:rPr lang="es-MX" sz="1800" i="1" dirty="0" err="1"/>
              <a:t>nmap</a:t>
            </a:r>
            <a:r>
              <a:rPr lang="es-MX" sz="1800" i="1" dirty="0"/>
              <a:t> –</a:t>
            </a:r>
            <a:r>
              <a:rPr lang="es-MX" sz="1800" i="1" dirty="0" err="1"/>
              <a:t>sS</a:t>
            </a:r>
            <a:r>
              <a:rPr lang="es-MX" sz="1800" i="1" dirty="0"/>
              <a:t> </a:t>
            </a:r>
            <a:r>
              <a:rPr lang="es-CL" sz="1800" i="1" dirty="0"/>
              <a:t>[objetivo]</a:t>
            </a:r>
          </a:p>
          <a:p>
            <a:r>
              <a:rPr lang="es-CL" sz="1800" dirty="0"/>
              <a:t>Escaneo de puertos solo agregamos una P</a:t>
            </a:r>
          </a:p>
          <a:p>
            <a:r>
              <a:rPr lang="es-CL" sz="1800" dirty="0"/>
              <a:t>Ejemplo: </a:t>
            </a:r>
            <a:r>
              <a:rPr lang="es-MX" sz="1800" i="1" dirty="0" err="1"/>
              <a:t>nmap</a:t>
            </a:r>
            <a:r>
              <a:rPr lang="es-MX" sz="1800" i="1" dirty="0"/>
              <a:t> –</a:t>
            </a:r>
            <a:r>
              <a:rPr lang="es-MX" sz="1800" i="1" dirty="0" err="1"/>
              <a:t>sS</a:t>
            </a:r>
            <a:r>
              <a:rPr lang="es-MX" sz="1800" i="1" dirty="0"/>
              <a:t> -p </a:t>
            </a:r>
            <a:r>
              <a:rPr lang="es-CL" sz="1800" i="1" dirty="0"/>
              <a:t>[objetivo]</a:t>
            </a:r>
          </a:p>
          <a:p>
            <a:r>
              <a:rPr lang="es-CL" sz="1800" i="1" dirty="0"/>
              <a:t>Escaneo de UDP</a:t>
            </a:r>
          </a:p>
          <a:p>
            <a:r>
              <a:rPr lang="es-CL" sz="1800" dirty="0"/>
              <a:t>Ejemplo: </a:t>
            </a:r>
            <a:r>
              <a:rPr lang="es-CL" sz="1800" dirty="0" err="1"/>
              <a:t>nmap</a:t>
            </a:r>
            <a:r>
              <a:rPr lang="es-CL" sz="1800" dirty="0"/>
              <a:t> -</a:t>
            </a:r>
            <a:r>
              <a:rPr lang="es-CL" sz="1800" dirty="0" err="1"/>
              <a:t>sU</a:t>
            </a:r>
            <a:r>
              <a:rPr lang="es-CL" sz="1800" dirty="0"/>
              <a:t> [objetivo]</a:t>
            </a:r>
            <a:endParaRPr lang="es-CL" sz="1800" i="1" dirty="0"/>
          </a:p>
          <a:p>
            <a:r>
              <a:rPr lang="es-MX" sz="1800" dirty="0"/>
              <a:t>Escanea puertos UDP. A menudo es más lento debido a la naturaleza sin conexión del protocolo.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66894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64FA3-3182-1CD4-3A0B-2C5E0CA4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126947"/>
          </a:xfrm>
        </p:spPr>
        <p:txBody>
          <a:bodyPr>
            <a:noAutofit/>
          </a:bodyPr>
          <a:lstStyle/>
          <a:p>
            <a:r>
              <a:rPr lang="es-CL" sz="3200" dirty="0"/>
              <a:t>Comandos de Recopilación Detallada</a:t>
            </a:r>
            <a:br>
              <a:rPr lang="es-CL" sz="3200" dirty="0"/>
            </a:br>
            <a:r>
              <a:rPr lang="es-MX" sz="3200" dirty="0"/>
              <a:t>Desvelando la Identidad de los Servicios</a:t>
            </a:r>
            <a:endParaRPr lang="es-CL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C8E61-C595-870C-B88D-E218DEB9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645919"/>
            <a:ext cx="9997340" cy="5041127"/>
          </a:xfrm>
        </p:spPr>
        <p:txBody>
          <a:bodyPr>
            <a:normAutofit/>
          </a:bodyPr>
          <a:lstStyle/>
          <a:p>
            <a:r>
              <a:rPr lang="es-CL" sz="2000" dirty="0"/>
              <a:t>Ya no solo necesitamos la IP y el puerto, también para saber si nuestro objetivo es vulnerable, necesitamos saber sistema operativo y la versión que esta utilizando</a:t>
            </a:r>
          </a:p>
          <a:p>
            <a:r>
              <a:rPr lang="es-CL" sz="2000" dirty="0"/>
              <a:t>Detectando Versiones: </a:t>
            </a:r>
            <a:r>
              <a:rPr lang="es-CL" sz="2000" i="1" dirty="0" err="1"/>
              <a:t>nmap</a:t>
            </a:r>
            <a:r>
              <a:rPr lang="es-CL" sz="2000" i="1" dirty="0"/>
              <a:t> –</a:t>
            </a:r>
            <a:r>
              <a:rPr lang="es-CL" sz="2000" i="1" dirty="0" err="1"/>
              <a:t>sV</a:t>
            </a:r>
            <a:r>
              <a:rPr lang="es-CL" sz="2000" i="1" dirty="0"/>
              <a:t> [objetivo]</a:t>
            </a:r>
          </a:p>
          <a:p>
            <a:r>
              <a:rPr lang="es-MX" sz="1800" dirty="0" err="1"/>
              <a:t>Nmap</a:t>
            </a:r>
            <a:r>
              <a:rPr lang="es-MX" sz="1800" dirty="0"/>
              <a:t> intenta adivinar el servicio y su versión exacta en cada puerto abierto, lo que te permite buscar vulnerabilidades específicas.</a:t>
            </a:r>
          </a:p>
          <a:p>
            <a:r>
              <a:rPr lang="es-MX" sz="1800" dirty="0"/>
              <a:t>Detectando S.O: </a:t>
            </a:r>
            <a:r>
              <a:rPr lang="es-MX" sz="1800" i="1" dirty="0" err="1"/>
              <a:t>nmap</a:t>
            </a:r>
            <a:r>
              <a:rPr lang="es-MX" sz="1800" i="1" dirty="0"/>
              <a:t> –O </a:t>
            </a:r>
            <a:r>
              <a:rPr lang="es-CL" sz="1800" i="1" dirty="0"/>
              <a:t>[objetivo]</a:t>
            </a:r>
          </a:p>
          <a:p>
            <a:r>
              <a:rPr lang="es-MX" sz="1800" dirty="0"/>
              <a:t>Intenta determinar el sistema operativo del host analizando las huellas de su pila TCP/IP.</a:t>
            </a:r>
          </a:p>
          <a:p>
            <a:r>
              <a:rPr lang="es-MX" sz="1800" dirty="0"/>
              <a:t>Escaneo Agresivo: </a:t>
            </a:r>
            <a:r>
              <a:rPr lang="es-MX" sz="1800" i="1" dirty="0" err="1"/>
              <a:t>nmap</a:t>
            </a:r>
            <a:r>
              <a:rPr lang="es-MX" sz="1800" i="1" dirty="0"/>
              <a:t> –A </a:t>
            </a:r>
            <a:r>
              <a:rPr lang="es-CL" sz="1800" i="1" dirty="0"/>
              <a:t>[objetivo] </a:t>
            </a:r>
            <a:endParaRPr lang="es-CL" sz="1800" dirty="0"/>
          </a:p>
          <a:p>
            <a:r>
              <a:rPr lang="es-CL" sz="1800" dirty="0"/>
              <a:t>Combina –</a:t>
            </a:r>
            <a:r>
              <a:rPr lang="es-CL" sz="1800" dirty="0" err="1"/>
              <a:t>sV</a:t>
            </a:r>
            <a:r>
              <a:rPr lang="es-CL" sz="1800" dirty="0"/>
              <a:t> y –O utiliza scripts y </a:t>
            </a:r>
            <a:r>
              <a:rPr lang="es-CL" sz="1800" dirty="0" err="1"/>
              <a:t>traceroute</a:t>
            </a:r>
            <a:r>
              <a:rPr lang="es-CL" sz="1800" dirty="0"/>
              <a:t>, es muy ruidoso pero ofrece un mejor panorama </a:t>
            </a:r>
          </a:p>
          <a:p>
            <a:pPr marL="0" indent="0"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14137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C4844-B0B3-4B80-3699-6EE90173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761" y="137311"/>
            <a:ext cx="9486690" cy="729382"/>
          </a:xfrm>
        </p:spPr>
        <p:txBody>
          <a:bodyPr>
            <a:normAutofit fontScale="90000"/>
          </a:bodyPr>
          <a:lstStyle/>
          <a:p>
            <a:r>
              <a:rPr lang="es-CL" dirty="0"/>
              <a:t>Entonces…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8BE007-4E5D-3816-6875-F5BB6D5E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723569"/>
            <a:ext cx="9486690" cy="6134431"/>
          </a:xfrm>
        </p:spPr>
        <p:txBody>
          <a:bodyPr>
            <a:normAutofit/>
          </a:bodyPr>
          <a:lstStyle/>
          <a:p>
            <a:r>
              <a:rPr lang="es-CL" dirty="0"/>
              <a:t>Existen muchos mas comandos para utilizar con </a:t>
            </a:r>
            <a:r>
              <a:rPr lang="es-CL" dirty="0" err="1"/>
              <a:t>nmap</a:t>
            </a:r>
            <a:r>
              <a:rPr lang="es-CL" dirty="0"/>
              <a:t>, donde podemos buscar con exactitud ciertos servicios, </a:t>
            </a:r>
            <a:r>
              <a:rPr lang="es-CL" dirty="0" err="1"/>
              <a:t>ips</a:t>
            </a:r>
            <a:r>
              <a:rPr lang="es-CL" dirty="0"/>
              <a:t> y versiones </a:t>
            </a:r>
          </a:p>
          <a:p>
            <a:r>
              <a:rPr lang="es-CL" dirty="0"/>
              <a:t>Te dejo un resumen de lo que hemos visto hasta ahora</a:t>
            </a:r>
          </a:p>
          <a:p>
            <a:r>
              <a:rPr lang="es-CL" dirty="0"/>
              <a:t>-</a:t>
            </a:r>
            <a:r>
              <a:rPr lang="es-CL" dirty="0" err="1"/>
              <a:t>sS</a:t>
            </a:r>
            <a:r>
              <a:rPr lang="es-CL" dirty="0"/>
              <a:t> : SYN </a:t>
            </a:r>
            <a:r>
              <a:rPr lang="es-CL" dirty="0" err="1"/>
              <a:t>Scan</a:t>
            </a:r>
            <a:r>
              <a:rPr lang="es-CL" dirty="0"/>
              <a:t> (escaneo sigiloso)</a:t>
            </a:r>
          </a:p>
          <a:p>
            <a:r>
              <a:rPr lang="es-CL" dirty="0"/>
              <a:t>-O : Detección de sistema operativo</a:t>
            </a:r>
          </a:p>
          <a:p>
            <a:r>
              <a:rPr lang="es-CL" dirty="0"/>
              <a:t>-</a:t>
            </a:r>
            <a:r>
              <a:rPr lang="es-CL" dirty="0" err="1"/>
              <a:t>sV</a:t>
            </a:r>
            <a:r>
              <a:rPr lang="es-CL" dirty="0"/>
              <a:t> : Detección de versiones de servicios</a:t>
            </a:r>
          </a:p>
          <a:p>
            <a:r>
              <a:rPr lang="es-CL" dirty="0"/>
              <a:t>-A : incluye todo lo anterior pero mas ruidoso</a:t>
            </a:r>
          </a:p>
          <a:p>
            <a:r>
              <a:rPr lang="es-CL" dirty="0"/>
              <a:t>sudo </a:t>
            </a:r>
            <a:r>
              <a:rPr lang="es-CL" dirty="0" err="1"/>
              <a:t>nmap</a:t>
            </a:r>
            <a:r>
              <a:rPr lang="es-CL" dirty="0"/>
              <a:t> -A 192.168.1.*</a:t>
            </a:r>
          </a:p>
          <a:p>
            <a:r>
              <a:rPr lang="es-MX" dirty="0"/>
              <a:t>sudo </a:t>
            </a:r>
            <a:r>
              <a:rPr lang="es-MX" dirty="0" err="1"/>
              <a:t>nmap</a:t>
            </a:r>
            <a:r>
              <a:rPr lang="es-MX" dirty="0"/>
              <a:t> -</a:t>
            </a:r>
            <a:r>
              <a:rPr lang="es-MX" dirty="0" err="1"/>
              <a:t>sS</a:t>
            </a:r>
            <a:r>
              <a:rPr lang="es-MX" dirty="0"/>
              <a:t> -</a:t>
            </a:r>
            <a:r>
              <a:rPr lang="es-MX" dirty="0" err="1"/>
              <a:t>sV</a:t>
            </a:r>
            <a:r>
              <a:rPr lang="es-MX" dirty="0"/>
              <a:t> -O 192.168.1.*</a:t>
            </a:r>
          </a:p>
          <a:p>
            <a:r>
              <a:rPr lang="es-MX" dirty="0"/>
              <a:t>Resultados: sudo </a:t>
            </a:r>
            <a:r>
              <a:rPr lang="es-MX" dirty="0" err="1"/>
              <a:t>nmap</a:t>
            </a:r>
            <a:r>
              <a:rPr lang="es-MX" dirty="0"/>
              <a:t> -A 192.168.1.* -</a:t>
            </a:r>
            <a:r>
              <a:rPr lang="es-MX" dirty="0" err="1"/>
              <a:t>oN</a:t>
            </a:r>
            <a:r>
              <a:rPr lang="es-MX" dirty="0"/>
              <a:t> resultado_escaneo.txt</a:t>
            </a:r>
          </a:p>
          <a:p>
            <a:r>
              <a:rPr lang="es-MX" dirty="0"/>
              <a:t>O mejor aun: sudo </a:t>
            </a:r>
            <a:r>
              <a:rPr lang="es-MX" dirty="0" err="1"/>
              <a:t>nmap</a:t>
            </a:r>
            <a:r>
              <a:rPr lang="es-MX" dirty="0"/>
              <a:t> -A 192.168.1.* &gt; resultado.txt</a:t>
            </a:r>
          </a:p>
          <a:p>
            <a:r>
              <a:rPr lang="es-MX" dirty="0"/>
              <a:t>Sino: sudo </a:t>
            </a:r>
            <a:r>
              <a:rPr lang="es-MX" dirty="0" err="1"/>
              <a:t>nmap</a:t>
            </a:r>
            <a:r>
              <a:rPr lang="es-MX" dirty="0"/>
              <a:t> -A 192.168.1.* | </a:t>
            </a:r>
            <a:r>
              <a:rPr lang="es-MX" dirty="0" err="1"/>
              <a:t>tee</a:t>
            </a:r>
            <a:r>
              <a:rPr lang="es-MX" dirty="0"/>
              <a:t> resultado.txt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69799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DBE42-177B-33BA-6F53-066C3CE8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90" y="137865"/>
            <a:ext cx="9486690" cy="633967"/>
          </a:xfrm>
        </p:spPr>
        <p:txBody>
          <a:bodyPr>
            <a:normAutofit/>
          </a:bodyPr>
          <a:lstStyle/>
          <a:p>
            <a:r>
              <a:rPr lang="es-MX" sz="3200" dirty="0"/>
              <a:t>Comandos Avanzados y la "Tranquilidad"</a:t>
            </a:r>
            <a:endParaRPr lang="es-CL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9C6C68-FB44-B8A7-F514-838CC6A05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392" y="1225058"/>
            <a:ext cx="10410808" cy="5414282"/>
          </a:xfrm>
        </p:spPr>
        <p:txBody>
          <a:bodyPr/>
          <a:lstStyle/>
          <a:p>
            <a:r>
              <a:rPr lang="es-CL" sz="2000" dirty="0"/>
              <a:t>Entramos como un ninja</a:t>
            </a:r>
          </a:p>
          <a:p>
            <a:r>
              <a:rPr lang="es-CL" sz="2000" dirty="0"/>
              <a:t>Fragmentación de paquetes: </a:t>
            </a:r>
            <a:r>
              <a:rPr lang="es-CL" sz="2000" i="1" dirty="0" err="1"/>
              <a:t>nmap</a:t>
            </a:r>
            <a:r>
              <a:rPr lang="es-CL" sz="2000" i="1" dirty="0"/>
              <a:t> –f –</a:t>
            </a:r>
            <a:r>
              <a:rPr lang="es-CL" sz="2000" i="1" dirty="0" err="1"/>
              <a:t>sS</a:t>
            </a:r>
            <a:r>
              <a:rPr lang="es-CL" sz="2000" i="1" dirty="0"/>
              <a:t> </a:t>
            </a:r>
            <a:r>
              <a:rPr lang="es-CL" sz="2000" dirty="0"/>
              <a:t>[objetivo]</a:t>
            </a:r>
          </a:p>
          <a:p>
            <a:r>
              <a:rPr lang="es-MX" sz="1800" dirty="0"/>
              <a:t>Divide los paquetes TCP en fragmentos más pequeños para evadir los firewalls.</a:t>
            </a:r>
            <a:endParaRPr lang="es-CL" sz="1800" dirty="0"/>
          </a:p>
          <a:p>
            <a:r>
              <a:rPr lang="es-CL" sz="2000" dirty="0"/>
              <a:t>El tiempo es oro… </a:t>
            </a:r>
            <a:r>
              <a:rPr lang="es-CL" sz="2000" i="1" dirty="0" err="1"/>
              <a:t>nmap</a:t>
            </a:r>
            <a:r>
              <a:rPr lang="es-CL" sz="2000" i="1" dirty="0"/>
              <a:t> –T0 </a:t>
            </a:r>
            <a:r>
              <a:rPr lang="es-CL" sz="1800" i="1" dirty="0"/>
              <a:t>[objetivo]  </a:t>
            </a:r>
            <a:r>
              <a:rPr lang="es-MX" sz="1800" dirty="0"/>
              <a:t>Modo </a:t>
            </a:r>
            <a:r>
              <a:rPr lang="es-MX" sz="1800" b="1" dirty="0"/>
              <a:t>Paranoico:</a:t>
            </a:r>
            <a:r>
              <a:rPr lang="es-MX" sz="1800" dirty="0"/>
              <a:t> El escaneo es extremadamente lento. Útil para evadir sistemas de detección de intrusos (IDS) que buscan escaneos rápidos.</a:t>
            </a:r>
          </a:p>
          <a:p>
            <a:r>
              <a:rPr lang="fr-FR" sz="2000" dirty="0" err="1"/>
              <a:t>nmap</a:t>
            </a:r>
            <a:r>
              <a:rPr lang="fr-FR" sz="2000" dirty="0"/>
              <a:t> -T1 (</a:t>
            </a:r>
            <a:r>
              <a:rPr lang="fr-FR" sz="2000" dirty="0" err="1"/>
              <a:t>sigiloso</a:t>
            </a:r>
            <a:r>
              <a:rPr lang="fr-FR" sz="2000" dirty="0"/>
              <a:t>), -T2 (</a:t>
            </a:r>
            <a:r>
              <a:rPr lang="fr-FR" sz="2000" dirty="0" err="1"/>
              <a:t>cortés</a:t>
            </a:r>
            <a:r>
              <a:rPr lang="fr-FR" sz="2000" dirty="0"/>
              <a:t>), -T3 (normal - </a:t>
            </a:r>
            <a:r>
              <a:rPr lang="fr-FR" sz="2000" dirty="0" err="1"/>
              <a:t>por</a:t>
            </a:r>
            <a:r>
              <a:rPr lang="fr-FR" sz="2000" dirty="0"/>
              <a:t> </a:t>
            </a:r>
            <a:r>
              <a:rPr lang="fr-FR" sz="2000" dirty="0" err="1"/>
              <a:t>defecto</a:t>
            </a:r>
            <a:r>
              <a:rPr lang="fr-FR" sz="2000" dirty="0"/>
              <a:t>), -T4 (</a:t>
            </a:r>
            <a:r>
              <a:rPr lang="fr-FR" sz="2000" dirty="0" err="1"/>
              <a:t>agresivo</a:t>
            </a:r>
            <a:r>
              <a:rPr lang="fr-FR" sz="2000" dirty="0"/>
              <a:t>), -T5 (loco).</a:t>
            </a:r>
          </a:p>
          <a:p>
            <a:r>
              <a:rPr lang="fr-FR" sz="2000" dirty="0"/>
              <a:t>Modo fake: </a:t>
            </a:r>
            <a:r>
              <a:rPr lang="fr-FR" sz="2000" i="1" dirty="0" err="1"/>
              <a:t>nmap</a:t>
            </a:r>
            <a:r>
              <a:rPr lang="fr-FR" sz="2000" i="1" dirty="0"/>
              <a:t> –D RND: 5 </a:t>
            </a:r>
            <a:r>
              <a:rPr lang="es-CL" sz="2000" i="1" dirty="0"/>
              <a:t>[objetivo] </a:t>
            </a:r>
            <a:r>
              <a:rPr lang="es-MX" sz="2000" dirty="0"/>
              <a:t>Envía paquetes falsos desde direcciones IP aleatorias para disfrazar tu escaneo entre el tráfico.</a:t>
            </a:r>
          </a:p>
          <a:p>
            <a:r>
              <a:rPr lang="es-MX" sz="2000" dirty="0"/>
              <a:t>Donde le digo que envié 5 </a:t>
            </a:r>
            <a:r>
              <a:rPr lang="es-MX" sz="2000" dirty="0" err="1"/>
              <a:t>ips</a:t>
            </a:r>
            <a:r>
              <a:rPr lang="es-MX" sz="2000" dirty="0"/>
              <a:t> aleatorias sino también puedo dejarlo así </a:t>
            </a:r>
          </a:p>
          <a:p>
            <a:r>
              <a:rPr lang="es-MX" sz="2000" i="1" dirty="0" err="1"/>
              <a:t>nmap</a:t>
            </a:r>
            <a:r>
              <a:rPr lang="es-MX" sz="2000" i="1" dirty="0"/>
              <a:t> -D decoy1,decoy2,decoy3,tu_IP  </a:t>
            </a:r>
            <a:r>
              <a:rPr lang="es-CL" sz="2000" i="1" dirty="0"/>
              <a:t>[objetivo]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14965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C9FF0-EC95-FFD6-43B6-B833F75B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745285"/>
          </a:xfrm>
        </p:spPr>
        <p:txBody>
          <a:bodyPr>
            <a:normAutofit fontScale="90000"/>
          </a:bodyPr>
          <a:lstStyle/>
          <a:p>
            <a:r>
              <a:rPr lang="es-CL" dirty="0"/>
              <a:t>Modo profesional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05312-7291-3554-7914-B6ACA247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09" y="1200648"/>
            <a:ext cx="10196123" cy="818984"/>
          </a:xfrm>
        </p:spPr>
        <p:txBody>
          <a:bodyPr>
            <a:normAutofit/>
          </a:bodyPr>
          <a:lstStyle/>
          <a:p>
            <a:r>
              <a:rPr lang="es-CL" sz="2000" i="1" dirty="0"/>
              <a:t>sudo </a:t>
            </a:r>
            <a:r>
              <a:rPr lang="es-CL" sz="2000" i="1" dirty="0" err="1"/>
              <a:t>nmap</a:t>
            </a:r>
            <a:r>
              <a:rPr lang="es-CL" sz="2000" i="1" dirty="0"/>
              <a:t> -</a:t>
            </a:r>
            <a:r>
              <a:rPr lang="es-CL" sz="2000" i="1" dirty="0" err="1"/>
              <a:t>sS</a:t>
            </a:r>
            <a:r>
              <a:rPr lang="es-CL" sz="2000" i="1" dirty="0"/>
              <a:t> -</a:t>
            </a:r>
            <a:r>
              <a:rPr lang="es-CL" sz="2000" i="1" dirty="0" err="1"/>
              <a:t>sV</a:t>
            </a:r>
            <a:r>
              <a:rPr lang="es-CL" sz="2000" i="1" dirty="0"/>
              <a:t> -O --</a:t>
            </a:r>
            <a:r>
              <a:rPr lang="es-CL" sz="2000" i="1" dirty="0" err="1"/>
              <a:t>version-intensity</a:t>
            </a:r>
            <a:r>
              <a:rPr lang="es-CL" sz="2000" i="1" dirty="0"/>
              <a:t> 1 -T2 -f --</a:t>
            </a:r>
            <a:r>
              <a:rPr lang="es-CL" sz="2000" i="1" dirty="0" err="1"/>
              <a:t>max-retries</a:t>
            </a:r>
            <a:r>
              <a:rPr lang="es-CL" sz="2000" i="1" dirty="0"/>
              <a:t> 1 192.168.1.105 -</a:t>
            </a:r>
            <a:r>
              <a:rPr lang="es-CL" sz="2000" i="1" dirty="0" err="1"/>
              <a:t>oN</a:t>
            </a:r>
            <a:r>
              <a:rPr lang="es-CL" sz="2000" i="1" dirty="0"/>
              <a:t> escaneo_sigiloso.txt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1A4D82-7F63-DB44-338D-830B9713A6BC}"/>
              </a:ext>
            </a:extLst>
          </p:cNvPr>
          <p:cNvSpPr txBox="1"/>
          <p:nvPr/>
        </p:nvSpPr>
        <p:spPr>
          <a:xfrm>
            <a:off x="1282149" y="2146363"/>
            <a:ext cx="10414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Detección Básica: -</a:t>
            </a:r>
            <a:r>
              <a:rPr lang="es-CL" dirty="0" err="1"/>
              <a:t>sS</a:t>
            </a:r>
            <a:r>
              <a:rPr lang="es-CL" dirty="0"/>
              <a:t> → Escaneo SYN (sigiloso, no completa conexiones) -</a:t>
            </a:r>
            <a:r>
              <a:rPr lang="es-CL" dirty="0" err="1"/>
              <a:t>sV</a:t>
            </a:r>
            <a:r>
              <a:rPr lang="es-CL" dirty="0"/>
              <a:t> → Detección de versiones de servicios -O → Detección del sistema operativo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9A5C21-2F11-B6AD-525D-B5A2CB357246}"/>
              </a:ext>
            </a:extLst>
          </p:cNvPr>
          <p:cNvSpPr txBox="1"/>
          <p:nvPr/>
        </p:nvSpPr>
        <p:spPr>
          <a:xfrm>
            <a:off x="1282148" y="2967335"/>
            <a:ext cx="10286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Sigilo Avanzado: -T2 → Timing lento (menos detectable) -f → Fragmentación de paquetes (evade firewalls) --</a:t>
            </a:r>
            <a:r>
              <a:rPr lang="es-CL" dirty="0" err="1"/>
              <a:t>max-retries</a:t>
            </a:r>
            <a:r>
              <a:rPr lang="es-CL" dirty="0"/>
              <a:t> 1 → Solo 1 reintento por puerto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BCA564E-8D18-3BE9-E2F3-C1874ECA4B9F}"/>
              </a:ext>
            </a:extLst>
          </p:cNvPr>
          <p:cNvSpPr txBox="1"/>
          <p:nvPr/>
        </p:nvSpPr>
        <p:spPr>
          <a:xfrm>
            <a:off x="1282147" y="3738410"/>
            <a:ext cx="10286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Detección Discreta: --</a:t>
            </a:r>
            <a:r>
              <a:rPr lang="es-CL" dirty="0" err="1"/>
              <a:t>version-intensity</a:t>
            </a:r>
            <a:r>
              <a:rPr lang="es-CL" dirty="0"/>
              <a:t> 1 → Solo pruebas básicas de detección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B27BFB-7BF6-48DD-CB9D-02ADB3ECFEE1}"/>
              </a:ext>
            </a:extLst>
          </p:cNvPr>
          <p:cNvSpPr txBox="1"/>
          <p:nvPr/>
        </p:nvSpPr>
        <p:spPr>
          <a:xfrm>
            <a:off x="2690352" y="4374716"/>
            <a:ext cx="7281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Output: -</a:t>
            </a:r>
            <a:r>
              <a:rPr lang="es-CL" dirty="0" err="1"/>
              <a:t>oN</a:t>
            </a:r>
            <a:r>
              <a:rPr lang="es-CL" dirty="0"/>
              <a:t> escaneo_sigiloso.txt → Guarda resultados en texto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A70BFE-CDE2-AA8A-1D6A-FFC18C9997C4}"/>
              </a:ext>
            </a:extLst>
          </p:cNvPr>
          <p:cNvSpPr txBox="1"/>
          <p:nvPr/>
        </p:nvSpPr>
        <p:spPr>
          <a:xfrm>
            <a:off x="1282147" y="4868792"/>
            <a:ext cx="10215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sudo </a:t>
            </a:r>
            <a:r>
              <a:rPr lang="es-CL" dirty="0" err="1"/>
              <a:t>nmap</a:t>
            </a:r>
            <a:r>
              <a:rPr lang="es-CL" dirty="0"/>
              <a:t> -</a:t>
            </a:r>
            <a:r>
              <a:rPr lang="es-CL" dirty="0" err="1"/>
              <a:t>sS</a:t>
            </a:r>
            <a:r>
              <a:rPr lang="es-CL" dirty="0"/>
              <a:t> -</a:t>
            </a:r>
            <a:r>
              <a:rPr lang="es-CL" dirty="0" err="1"/>
              <a:t>sV</a:t>
            </a:r>
            <a:r>
              <a:rPr lang="es-CL" dirty="0"/>
              <a:t> -O --</a:t>
            </a:r>
            <a:r>
              <a:rPr lang="es-CL" dirty="0" err="1"/>
              <a:t>version</a:t>
            </a:r>
            <a:r>
              <a:rPr lang="es-CL" dirty="0"/>
              <a:t>-light -T3 -n 192.168.1.105      la más recomendada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0743BD-9416-AE15-5CD2-7D99D44CC49B}"/>
              </a:ext>
            </a:extLst>
          </p:cNvPr>
          <p:cNvSpPr txBox="1"/>
          <p:nvPr/>
        </p:nvSpPr>
        <p:spPr>
          <a:xfrm>
            <a:off x="1282147" y="5490781"/>
            <a:ext cx="1067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sudo </a:t>
            </a:r>
            <a:r>
              <a:rPr lang="es-CL" dirty="0" err="1"/>
              <a:t>nmap</a:t>
            </a:r>
            <a:r>
              <a:rPr lang="es-CL" dirty="0"/>
              <a:t> -</a:t>
            </a:r>
            <a:r>
              <a:rPr lang="es-CL" dirty="0" err="1"/>
              <a:t>sS</a:t>
            </a:r>
            <a:r>
              <a:rPr lang="es-CL" dirty="0"/>
              <a:t> -</a:t>
            </a:r>
            <a:r>
              <a:rPr lang="es-CL" dirty="0" err="1"/>
              <a:t>sV</a:t>
            </a:r>
            <a:r>
              <a:rPr lang="es-CL" dirty="0"/>
              <a:t> -O --</a:t>
            </a:r>
            <a:r>
              <a:rPr lang="es-CL" dirty="0" err="1"/>
              <a:t>version-intensity</a:t>
            </a:r>
            <a:r>
              <a:rPr lang="es-CL" dirty="0"/>
              <a:t> 0 -T1 -f --</a:t>
            </a:r>
            <a:r>
              <a:rPr lang="es-CL" dirty="0" err="1"/>
              <a:t>max-hostgroup</a:t>
            </a:r>
            <a:r>
              <a:rPr lang="es-CL" dirty="0"/>
              <a:t> 1 --</a:t>
            </a:r>
            <a:r>
              <a:rPr lang="es-CL" dirty="0" err="1"/>
              <a:t>scan-delay</a:t>
            </a:r>
            <a:r>
              <a:rPr lang="es-CL" dirty="0"/>
              <a:t> 5s 192.168.1.105</a:t>
            </a:r>
          </a:p>
          <a:p>
            <a:pPr algn="ctr"/>
            <a:r>
              <a:rPr lang="es-CL" dirty="0"/>
              <a:t>Ultra sigilosa</a:t>
            </a:r>
          </a:p>
        </p:txBody>
      </p:sp>
    </p:spTree>
    <p:extLst>
      <p:ext uri="{BB962C8B-B14F-4D97-AF65-F5344CB8AC3E}">
        <p14:creationId xmlns:p14="http://schemas.microsoft.com/office/powerpoint/2010/main" val="1411506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821067-006B-3D22-2127-6D50309F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1247140"/>
            <a:ext cx="5657899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De scanner a modo Attack</a:t>
            </a:r>
          </a:p>
        </p:txBody>
      </p:sp>
      <p:pic>
        <p:nvPicPr>
          <p:cNvPr id="8194" name="Picture 2" descr="Hacker Logo Vector Art, Icons, and Graphics for Free Download">
            <a:extLst>
              <a:ext uri="{FF2B5EF4-FFF2-40B4-BE49-F238E27FC236}">
                <a16:creationId xmlns:a16="http://schemas.microsoft.com/office/drawing/2014/main" id="{79DF7A4B-58AE-8090-D6A7-E71DF58468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9" r="26829"/>
          <a:stretch>
            <a:fillRect/>
          </a:stretch>
        </p:blipFill>
        <p:spPr bwMode="auto">
          <a:xfrm>
            <a:off x="7087167" y="10"/>
            <a:ext cx="510483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5" name="Rectangle 8204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389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133BB3-EFC1-1E12-907E-87D791AC2195}"/>
              </a:ext>
            </a:extLst>
          </p:cNvPr>
          <p:cNvSpPr txBox="1"/>
          <p:nvPr/>
        </p:nvSpPr>
        <p:spPr>
          <a:xfrm>
            <a:off x="712088" y="35729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Nmap</a:t>
            </a:r>
            <a:r>
              <a:rPr lang="es-MX" dirty="0"/>
              <a:t> Scripting </a:t>
            </a:r>
            <a:r>
              <a:rPr lang="es-MX" dirty="0" err="1"/>
              <a:t>Engine</a:t>
            </a:r>
            <a:r>
              <a:rPr lang="es-MX" dirty="0"/>
              <a:t> (NSE) - El Poder del Motor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1683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66FE3-33FB-C218-6B36-8519A0CA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No todo es diversión…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92697F-90ED-779A-71D9-3A689301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⚠️ ADVERTENCIAS CRÍTICAS: </a:t>
            </a:r>
          </a:p>
          <a:p>
            <a:r>
              <a:rPr lang="es-MX" dirty="0"/>
              <a:t>🚨 Extremadamente Intrusivo: Estos comandos generan mucho tráfico y ruido </a:t>
            </a:r>
          </a:p>
          <a:p>
            <a:r>
              <a:rPr lang="es-MX" dirty="0"/>
              <a:t>⏰ Muy Lentos: Pueden tomar horas o días completar </a:t>
            </a:r>
          </a:p>
          <a:p>
            <a:r>
              <a:rPr lang="es-MX" dirty="0"/>
              <a:t>🔒 Puede Bloquear </a:t>
            </a:r>
            <a:r>
              <a:rPr lang="es-MX" dirty="0" err="1"/>
              <a:t>IPs</a:t>
            </a:r>
            <a:r>
              <a:rPr lang="es-MX" dirty="0"/>
              <a:t>: Sistemas de seguridad te bloquearán </a:t>
            </a:r>
          </a:p>
          <a:p>
            <a:r>
              <a:rPr lang="es-MX" dirty="0"/>
              <a:t>📢 Muy Detectable: Los IDS/IPS los detectarán inmediatamente </a:t>
            </a:r>
          </a:p>
          <a:p>
            <a:r>
              <a:rPr lang="es-MX" dirty="0"/>
              <a:t>⚖️ Legalidad: Solo usar en redes propias o con autorización por escrito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90425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7213E-A3F2-0C1C-98FB-71202F2A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753236"/>
          </a:xfrm>
        </p:spPr>
        <p:txBody>
          <a:bodyPr>
            <a:normAutofit/>
          </a:bodyPr>
          <a:lstStyle/>
          <a:p>
            <a:r>
              <a:rPr lang="es-CL" sz="4000" dirty="0"/>
              <a:t>Pero que es el modo </a:t>
            </a:r>
            <a:r>
              <a:rPr lang="es-CL" sz="4000" dirty="0" err="1"/>
              <a:t>attack</a:t>
            </a:r>
            <a:r>
              <a:rPr lang="es-CL" sz="4000" dirty="0"/>
              <a:t> de </a:t>
            </a:r>
            <a:r>
              <a:rPr lang="es-CL" sz="4000" dirty="0" err="1"/>
              <a:t>nmap</a:t>
            </a:r>
            <a:r>
              <a:rPr lang="es-CL" sz="4000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1D562-157D-36AF-3964-9491B59F6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208599"/>
            <a:ext cx="10604290" cy="5494351"/>
          </a:xfrm>
        </p:spPr>
        <p:txBody>
          <a:bodyPr>
            <a:normAutofit/>
          </a:bodyPr>
          <a:lstStyle/>
          <a:p>
            <a:r>
              <a:rPr lang="es-MX" sz="2000" dirty="0"/>
              <a:t>Un conjunto de scripts que extienden la funcionalidad de </a:t>
            </a:r>
            <a:r>
              <a:rPr lang="es-MX" sz="2000" dirty="0" err="1"/>
              <a:t>Nmap</a:t>
            </a:r>
            <a:r>
              <a:rPr lang="es-MX" sz="2000" dirty="0"/>
              <a:t> para realizar tareas más complejas, desde el descubrimiento de vulnerabilidades hasta la explotación. </a:t>
            </a:r>
          </a:p>
          <a:p>
            <a:r>
              <a:rPr lang="es-MX" sz="2000" dirty="0"/>
              <a:t>Categorías de Scripts: Los scripts están clasificados por su función </a:t>
            </a:r>
          </a:p>
          <a:p>
            <a:r>
              <a:rPr lang="es-MX" sz="2000" dirty="0"/>
              <a:t>(</a:t>
            </a:r>
            <a:r>
              <a:rPr lang="es-MX" sz="2000" b="1" dirty="0" err="1"/>
              <a:t>vuln</a:t>
            </a:r>
            <a:r>
              <a:rPr lang="es-MX" sz="2000" b="1" dirty="0"/>
              <a:t>, </a:t>
            </a:r>
            <a:r>
              <a:rPr lang="es-MX" sz="2000" b="1" dirty="0" err="1"/>
              <a:t>auth</a:t>
            </a:r>
            <a:r>
              <a:rPr lang="es-MX" sz="2000" b="1" dirty="0"/>
              <a:t>, brute, </a:t>
            </a:r>
            <a:r>
              <a:rPr lang="es-MX" sz="2000" b="1" dirty="0" err="1"/>
              <a:t>exploit</a:t>
            </a:r>
            <a:r>
              <a:rPr lang="es-MX" sz="2000" b="1" dirty="0"/>
              <a:t>, </a:t>
            </a:r>
            <a:r>
              <a:rPr lang="es-MX" sz="2000" b="1" dirty="0" err="1"/>
              <a:t>discovery</a:t>
            </a:r>
            <a:r>
              <a:rPr lang="es-MX" sz="2000" dirty="0"/>
              <a:t>).</a:t>
            </a:r>
          </a:p>
          <a:p>
            <a:r>
              <a:rPr lang="es-MX" dirty="0"/>
              <a:t>Ejemplo: </a:t>
            </a:r>
            <a:r>
              <a:rPr lang="fr-FR" i="1" dirty="0" err="1"/>
              <a:t>nmap</a:t>
            </a:r>
            <a:r>
              <a:rPr lang="fr-FR" i="1" dirty="0"/>
              <a:t> -</a:t>
            </a:r>
            <a:r>
              <a:rPr lang="fr-FR" i="1" dirty="0" err="1"/>
              <a:t>sV</a:t>
            </a:r>
            <a:r>
              <a:rPr lang="fr-FR" i="1" dirty="0"/>
              <a:t> --script [</a:t>
            </a:r>
            <a:r>
              <a:rPr lang="fr-FR" i="1" dirty="0" err="1"/>
              <a:t>nombre_script</a:t>
            </a:r>
            <a:r>
              <a:rPr lang="fr-FR" i="1" dirty="0"/>
              <a:t>] [</a:t>
            </a:r>
            <a:r>
              <a:rPr lang="fr-FR" i="1" dirty="0" err="1"/>
              <a:t>objetivo</a:t>
            </a:r>
            <a:r>
              <a:rPr lang="fr-FR" i="1" dirty="0"/>
              <a:t>]  </a:t>
            </a:r>
          </a:p>
          <a:p>
            <a:pPr lvl="1"/>
            <a:r>
              <a:rPr lang="es-CL" dirty="0"/>
              <a:t>Escaneo con todos los scripts de vulnerabilidad</a:t>
            </a:r>
          </a:p>
          <a:p>
            <a:pPr lvl="1"/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--script </a:t>
            </a:r>
            <a:r>
              <a:rPr lang="es-CL" i="1" dirty="0" err="1"/>
              <a:t>vuln</a:t>
            </a:r>
            <a:r>
              <a:rPr lang="es-CL" i="1" dirty="0"/>
              <a:t> -O </a:t>
            </a:r>
            <a:r>
              <a:rPr lang="es-CL" i="1" dirty="0" err="1"/>
              <a:t>ip</a:t>
            </a:r>
            <a:endParaRPr lang="es-CL" i="1" dirty="0"/>
          </a:p>
          <a:p>
            <a:pPr lvl="1"/>
            <a:endParaRPr lang="es-CL" i="1" dirty="0"/>
          </a:p>
          <a:p>
            <a:pPr lvl="1"/>
            <a:r>
              <a:rPr lang="es-CL" dirty="0"/>
              <a:t>Escaneo específico para vulnerabilidades críticas</a:t>
            </a:r>
          </a:p>
          <a:p>
            <a:pPr lvl="1"/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--script "</a:t>
            </a:r>
            <a:r>
              <a:rPr lang="es-CL" i="1" dirty="0" err="1"/>
              <a:t>vuln</a:t>
            </a:r>
            <a:r>
              <a:rPr lang="es-CL" i="1" dirty="0"/>
              <a:t> and </a:t>
            </a:r>
            <a:r>
              <a:rPr lang="es-CL" i="1" dirty="0" err="1"/>
              <a:t>safe</a:t>
            </a:r>
            <a:r>
              <a:rPr lang="es-CL" i="1" dirty="0"/>
              <a:t>" -O </a:t>
            </a:r>
            <a:r>
              <a:rPr lang="es-CL" i="1" dirty="0" err="1"/>
              <a:t>ip</a:t>
            </a:r>
            <a:endParaRPr lang="es-CL" i="1" dirty="0"/>
          </a:p>
          <a:p>
            <a:pPr lvl="1"/>
            <a:endParaRPr lang="es-CL" i="1" dirty="0"/>
          </a:p>
          <a:p>
            <a:pPr lvl="1"/>
            <a:r>
              <a:rPr lang="es-CL" dirty="0"/>
              <a:t>Buscar vulnerabilidades específicas (</a:t>
            </a:r>
            <a:r>
              <a:rPr lang="es-CL" dirty="0" err="1"/>
              <a:t>ej</a:t>
            </a:r>
            <a:r>
              <a:rPr lang="es-CL" dirty="0"/>
              <a:t>: Heartbleed)</a:t>
            </a:r>
          </a:p>
          <a:p>
            <a:pPr lvl="1"/>
            <a:r>
              <a:rPr lang="es-CL" i="1" dirty="0" err="1"/>
              <a:t>nmap</a:t>
            </a:r>
            <a:r>
              <a:rPr lang="es-CL" i="1" dirty="0"/>
              <a:t> -p 443 --script </a:t>
            </a:r>
            <a:r>
              <a:rPr lang="es-CL" i="1" dirty="0" err="1"/>
              <a:t>ssl-heartbleed</a:t>
            </a:r>
            <a:r>
              <a:rPr lang="es-CL" i="1" dirty="0"/>
              <a:t> </a:t>
            </a:r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4235212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9B0DC-92F5-8CFF-8F31-57EB4E3D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824798"/>
          </a:xfrm>
        </p:spPr>
        <p:txBody>
          <a:bodyPr/>
          <a:lstStyle/>
          <a:p>
            <a:r>
              <a:rPr lang="es-CL" dirty="0" err="1"/>
              <a:t>Fuzzing</a:t>
            </a:r>
            <a:r>
              <a:rPr lang="es-CL" dirty="0"/>
              <a:t> de servicios (</a:t>
            </a:r>
            <a:r>
              <a:rPr lang="es-CL" dirty="0" err="1"/>
              <a:t>fuzz</a:t>
            </a:r>
            <a:r>
              <a:rPr lang="es-CL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94C9E9-F321-65CD-A09F-4AE5F30B4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351722"/>
            <a:ext cx="9486690" cy="4734446"/>
          </a:xfrm>
        </p:spPr>
        <p:txBody>
          <a:bodyPr>
            <a:normAutofit lnSpcReduction="10000"/>
          </a:bodyPr>
          <a:lstStyle/>
          <a:p>
            <a:r>
              <a:rPr lang="es-CL" dirty="0" err="1"/>
              <a:t>Fuzzing</a:t>
            </a:r>
            <a:r>
              <a:rPr lang="es-CL" dirty="0"/>
              <a:t> HTTP con diferentes </a:t>
            </a:r>
            <a:r>
              <a:rPr lang="es-CL" dirty="0" err="1"/>
              <a:t>URLs</a:t>
            </a:r>
            <a:endParaRPr lang="es-CL" dirty="0"/>
          </a:p>
          <a:p>
            <a:r>
              <a:rPr lang="es-CL" i="1" dirty="0" err="1"/>
              <a:t>nmap</a:t>
            </a:r>
            <a:r>
              <a:rPr lang="es-CL" i="1" dirty="0"/>
              <a:t> -p 80 --script http-</a:t>
            </a:r>
            <a:r>
              <a:rPr lang="es-CL" i="1" dirty="0" err="1"/>
              <a:t>fuzzer</a:t>
            </a:r>
            <a:r>
              <a:rPr lang="es-CL" i="1" dirty="0"/>
              <a:t> --script-</a:t>
            </a:r>
            <a:r>
              <a:rPr lang="es-CL" i="1" dirty="0" err="1"/>
              <a:t>args</a:t>
            </a:r>
            <a:r>
              <a:rPr lang="es-CL" i="1" dirty="0"/>
              <a:t> 'http-</a:t>
            </a:r>
            <a:r>
              <a:rPr lang="es-CL" i="1" dirty="0" err="1"/>
              <a:t>fuzzer.targets</a:t>
            </a:r>
            <a:r>
              <a:rPr lang="es-CL" i="1" dirty="0"/>
              <a:t>={/test,/</a:t>
            </a:r>
            <a:r>
              <a:rPr lang="es-CL" i="1" dirty="0" err="1"/>
              <a:t>admin</a:t>
            </a:r>
            <a:r>
              <a:rPr lang="es-CL" i="1" dirty="0"/>
              <a:t>,/</a:t>
            </a:r>
            <a:r>
              <a:rPr lang="es-CL" i="1" dirty="0" err="1"/>
              <a:t>cgi-bin</a:t>
            </a:r>
            <a:r>
              <a:rPr lang="es-CL" i="1" dirty="0"/>
              <a:t>}’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 err="1"/>
              <a:t>Fuzzing</a:t>
            </a:r>
            <a:r>
              <a:rPr lang="es-CL" dirty="0"/>
              <a:t> de DNS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sU</a:t>
            </a:r>
            <a:r>
              <a:rPr lang="es-CL" i="1" dirty="0"/>
              <a:t> -p 53 --script </a:t>
            </a:r>
            <a:r>
              <a:rPr lang="es-CL" i="1" dirty="0" err="1"/>
              <a:t>dns-fuzz</a:t>
            </a:r>
            <a:r>
              <a:rPr lang="es-CL" i="1" dirty="0"/>
              <a:t> --script-</a:t>
            </a:r>
            <a:r>
              <a:rPr lang="es-CL" i="1" dirty="0" err="1"/>
              <a:t>args</a:t>
            </a:r>
            <a:r>
              <a:rPr lang="es-CL" i="1" dirty="0"/>
              <a:t> '</a:t>
            </a:r>
            <a:r>
              <a:rPr lang="es-CL" i="1" dirty="0" err="1"/>
              <a:t>dns-fuzz.domain</a:t>
            </a:r>
            <a:r>
              <a:rPr lang="es-CL" i="1" dirty="0"/>
              <a:t>=example.com’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 err="1"/>
              <a:t>Fuzzing</a:t>
            </a:r>
            <a:r>
              <a:rPr lang="es-CL" dirty="0"/>
              <a:t> de FTP</a:t>
            </a:r>
          </a:p>
          <a:p>
            <a:r>
              <a:rPr lang="es-CL" i="1" dirty="0" err="1"/>
              <a:t>nmap</a:t>
            </a:r>
            <a:r>
              <a:rPr lang="es-CL" i="1" dirty="0"/>
              <a:t> -p 21 --script ftp-</a:t>
            </a:r>
            <a:r>
              <a:rPr lang="es-CL" i="1" dirty="0" err="1"/>
              <a:t>anon,ftp</a:t>
            </a:r>
            <a:r>
              <a:rPr lang="es-CL" i="1" dirty="0"/>
              <a:t>-</a:t>
            </a:r>
            <a:r>
              <a:rPr lang="es-CL" i="1" dirty="0" err="1"/>
              <a:t>bounce,ftp-libopie</a:t>
            </a:r>
            <a:r>
              <a:rPr lang="es-CL" i="1" dirty="0"/>
              <a:t> </a:t>
            </a:r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827207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85912-A99B-F6D7-D674-44A76D57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737334"/>
          </a:xfrm>
        </p:spPr>
        <p:txBody>
          <a:bodyPr>
            <a:normAutofit fontScale="90000"/>
          </a:bodyPr>
          <a:lstStyle/>
          <a:p>
            <a:r>
              <a:rPr lang="es-CL" dirty="0"/>
              <a:t>Pruebas de autenticación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569EF-973A-0817-7DCC-B7CF8DFB0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09" y="1288111"/>
            <a:ext cx="10426711" cy="4798057"/>
          </a:xfrm>
        </p:spPr>
        <p:txBody>
          <a:bodyPr>
            <a:normAutofit fontScale="85000" lnSpcReduction="20000"/>
          </a:bodyPr>
          <a:lstStyle/>
          <a:p>
            <a:r>
              <a:rPr lang="es-CL" dirty="0"/>
              <a:t>Fuerza bruta a SSH</a:t>
            </a:r>
          </a:p>
          <a:p>
            <a:r>
              <a:rPr lang="es-CL" i="1" dirty="0" err="1"/>
              <a:t>nmap</a:t>
            </a:r>
            <a:r>
              <a:rPr lang="es-CL" i="1" dirty="0"/>
              <a:t> -p 22 --script </a:t>
            </a:r>
            <a:r>
              <a:rPr lang="es-CL" i="1" dirty="0" err="1"/>
              <a:t>ssh</a:t>
            </a:r>
            <a:r>
              <a:rPr lang="es-CL" i="1" dirty="0"/>
              <a:t>-brute --script-</a:t>
            </a:r>
            <a:r>
              <a:rPr lang="es-CL" i="1" dirty="0" err="1"/>
              <a:t>args</a:t>
            </a:r>
            <a:r>
              <a:rPr lang="es-CL" i="1" dirty="0"/>
              <a:t> '</a:t>
            </a:r>
            <a:r>
              <a:rPr lang="es-CL" i="1" dirty="0" err="1"/>
              <a:t>userdb</a:t>
            </a:r>
            <a:r>
              <a:rPr lang="es-CL" i="1" dirty="0"/>
              <a:t>=</a:t>
            </a:r>
            <a:r>
              <a:rPr lang="es-CL" i="1" dirty="0" err="1"/>
              <a:t>users.txt,passdb</a:t>
            </a:r>
            <a:r>
              <a:rPr lang="es-CL" i="1" dirty="0"/>
              <a:t>=passwords.txt’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Fuerza bruta a HTTP </a:t>
            </a:r>
            <a:r>
              <a:rPr lang="es-CL" dirty="0" err="1"/>
              <a:t>Auth</a:t>
            </a:r>
            <a:endParaRPr lang="es-CL" dirty="0"/>
          </a:p>
          <a:p>
            <a:r>
              <a:rPr lang="es-CL" i="1" dirty="0" err="1"/>
              <a:t>nmap</a:t>
            </a:r>
            <a:r>
              <a:rPr lang="es-CL" i="1" dirty="0"/>
              <a:t> -p 80 --script http-brute --script-</a:t>
            </a:r>
            <a:r>
              <a:rPr lang="es-CL" i="1" dirty="0" err="1"/>
              <a:t>args</a:t>
            </a:r>
            <a:r>
              <a:rPr lang="es-CL" i="1" dirty="0"/>
              <a:t> 'http-</a:t>
            </a:r>
            <a:r>
              <a:rPr lang="es-CL" i="1" dirty="0" err="1"/>
              <a:t>brute.path</a:t>
            </a:r>
            <a:r>
              <a:rPr lang="es-CL" i="1" dirty="0"/>
              <a:t>=/</a:t>
            </a:r>
            <a:r>
              <a:rPr lang="es-CL" i="1" dirty="0" err="1"/>
              <a:t>admin</a:t>
            </a:r>
            <a:r>
              <a:rPr lang="es-CL" i="1" dirty="0"/>
              <a:t>’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Fuerza bruta a FTP</a:t>
            </a:r>
          </a:p>
          <a:p>
            <a:r>
              <a:rPr lang="es-CL" i="1" dirty="0" err="1"/>
              <a:t>nmap</a:t>
            </a:r>
            <a:r>
              <a:rPr lang="es-CL" i="1" dirty="0"/>
              <a:t> -p 21 --script ftp-brute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Enumerar usuarios </a:t>
            </a:r>
            <a:r>
              <a:rPr lang="es-CL" dirty="0" err="1"/>
              <a:t>via</a:t>
            </a:r>
            <a:r>
              <a:rPr lang="es-CL" dirty="0"/>
              <a:t> SNMP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sU</a:t>
            </a:r>
            <a:r>
              <a:rPr lang="es-CL" i="1" dirty="0"/>
              <a:t> -p 161 --script snmp-win32-users </a:t>
            </a:r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522279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7D64-622B-1757-3CC5-64879821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792867"/>
          </a:xfrm>
        </p:spPr>
        <p:txBody>
          <a:bodyPr/>
          <a:lstStyle/>
          <a:p>
            <a:r>
              <a:rPr lang="es-CL" dirty="0"/>
              <a:t>Brute </a:t>
            </a:r>
            <a:r>
              <a:rPr lang="es-CL" dirty="0" err="1"/>
              <a:t>Force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9C2CE-7532-9168-6FB8-38261B56D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09" y="1422400"/>
            <a:ext cx="10125319" cy="4663768"/>
          </a:xfrm>
        </p:spPr>
        <p:txBody>
          <a:bodyPr>
            <a:normAutofit lnSpcReduction="10000"/>
          </a:bodyPr>
          <a:lstStyle/>
          <a:p>
            <a:r>
              <a:rPr lang="es-CL" dirty="0"/>
              <a:t>Ataque de diccionario a múltiples servicios</a:t>
            </a:r>
          </a:p>
          <a:p>
            <a:r>
              <a:rPr lang="es-CL" i="1" dirty="0" err="1"/>
              <a:t>nmap</a:t>
            </a:r>
            <a:r>
              <a:rPr lang="es-CL" i="1" dirty="0"/>
              <a:t> -p 21,22,23,25,110,143 --script brute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Fuerza bruta personalizada con listas</a:t>
            </a:r>
          </a:p>
          <a:p>
            <a:r>
              <a:rPr lang="es-CL" dirty="0" err="1"/>
              <a:t>nmap</a:t>
            </a:r>
            <a:r>
              <a:rPr lang="es-CL" dirty="0"/>
              <a:t> -p 22 --script </a:t>
            </a:r>
            <a:r>
              <a:rPr lang="es-CL" dirty="0" err="1"/>
              <a:t>ssh</a:t>
            </a:r>
            <a:r>
              <a:rPr lang="es-CL" dirty="0"/>
              <a:t>-brute --script-</a:t>
            </a:r>
            <a:r>
              <a:rPr lang="es-CL" dirty="0" err="1"/>
              <a:t>args</a:t>
            </a:r>
            <a:r>
              <a:rPr lang="es-CL" dirty="0"/>
              <a:t> '</a:t>
            </a:r>
            <a:r>
              <a:rPr lang="es-CL" dirty="0" err="1"/>
              <a:t>userdb</a:t>
            </a:r>
            <a:r>
              <a:rPr lang="es-CL" dirty="0"/>
              <a:t>=./</a:t>
            </a:r>
            <a:r>
              <a:rPr lang="es-CL" dirty="0" err="1"/>
              <a:t>wordlists</a:t>
            </a:r>
            <a:r>
              <a:rPr lang="es-CL" dirty="0"/>
              <a:t>/</a:t>
            </a:r>
            <a:r>
              <a:rPr lang="es-CL" dirty="0" err="1"/>
              <a:t>users.txt,passdb</a:t>
            </a:r>
            <a:r>
              <a:rPr lang="es-CL" dirty="0"/>
              <a:t>=./</a:t>
            </a:r>
            <a:r>
              <a:rPr lang="es-CL" dirty="0" err="1"/>
              <a:t>wordlists</a:t>
            </a:r>
            <a:r>
              <a:rPr lang="es-CL" dirty="0"/>
              <a:t>/</a:t>
            </a:r>
            <a:r>
              <a:rPr lang="es-CL" dirty="0" err="1"/>
              <a:t>passwords.txt,brute.threads</a:t>
            </a:r>
            <a:r>
              <a:rPr lang="es-CL" dirty="0"/>
              <a:t>=10’ </a:t>
            </a:r>
            <a:r>
              <a:rPr lang="es-CL" dirty="0" err="1"/>
              <a:t>ip</a:t>
            </a:r>
            <a:endParaRPr lang="es-CL" dirty="0"/>
          </a:p>
          <a:p>
            <a:endParaRPr lang="es-CL" dirty="0"/>
          </a:p>
          <a:p>
            <a:r>
              <a:rPr lang="es-CL" dirty="0"/>
              <a:t>Fuerza bruta a MySQL</a:t>
            </a:r>
          </a:p>
          <a:p>
            <a:r>
              <a:rPr lang="es-CL" i="1" dirty="0" err="1"/>
              <a:t>nmap</a:t>
            </a:r>
            <a:r>
              <a:rPr lang="es-CL" i="1" dirty="0"/>
              <a:t> -p 3306 --script </a:t>
            </a:r>
            <a:r>
              <a:rPr lang="es-CL" i="1" dirty="0" err="1"/>
              <a:t>mysql</a:t>
            </a:r>
            <a:r>
              <a:rPr lang="es-CL" i="1" dirty="0"/>
              <a:t>-brute </a:t>
            </a:r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428366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682D1-6BDD-7924-7079-39B9270D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778352"/>
          </a:xfrm>
        </p:spPr>
        <p:txBody>
          <a:bodyPr/>
          <a:lstStyle/>
          <a:p>
            <a:r>
              <a:rPr lang="es-CL" dirty="0"/>
              <a:t>Detección de </a:t>
            </a:r>
            <a:r>
              <a:rPr lang="es-CL" dirty="0" err="1"/>
              <a:t>exploits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9FC45-9036-4DEE-AA1E-D95DCA6B2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233715"/>
            <a:ext cx="10110804" cy="4852453"/>
          </a:xfrm>
        </p:spPr>
        <p:txBody>
          <a:bodyPr>
            <a:normAutofit fontScale="92500" lnSpcReduction="20000"/>
          </a:bodyPr>
          <a:lstStyle/>
          <a:p>
            <a:r>
              <a:rPr lang="es-CL" dirty="0"/>
              <a:t>Buscar </a:t>
            </a:r>
            <a:r>
              <a:rPr lang="es-CL" dirty="0" err="1"/>
              <a:t>exploits</a:t>
            </a:r>
            <a:r>
              <a:rPr lang="es-CL" dirty="0"/>
              <a:t> conocidos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--script </a:t>
            </a:r>
            <a:r>
              <a:rPr lang="es-CL" i="1" dirty="0" err="1"/>
              <a:t>exploit</a:t>
            </a:r>
            <a:r>
              <a:rPr lang="es-CL" i="1" dirty="0"/>
              <a:t> -O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Verificar vulnerabilidades específicas de Windows</a:t>
            </a:r>
          </a:p>
          <a:p>
            <a:r>
              <a:rPr lang="es-CL" i="1" dirty="0" err="1"/>
              <a:t>nmap</a:t>
            </a:r>
            <a:r>
              <a:rPr lang="es-CL" i="1" dirty="0"/>
              <a:t> -p 139,445 --script smb-vuln-ms17-010,smb-vuln-ms08-067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Buscar vulnerabilidades SMB</a:t>
            </a:r>
          </a:p>
          <a:p>
            <a:r>
              <a:rPr lang="es-CL" i="1" dirty="0" err="1"/>
              <a:t>nmap</a:t>
            </a:r>
            <a:r>
              <a:rPr lang="es-CL" i="1" dirty="0"/>
              <a:t> -p 445 --script </a:t>
            </a:r>
            <a:r>
              <a:rPr lang="es-CL" i="1" dirty="0" err="1"/>
              <a:t>smb-vuln</a:t>
            </a:r>
            <a:r>
              <a:rPr lang="es-CL" i="1" dirty="0"/>
              <a:t>* --script-</a:t>
            </a:r>
            <a:r>
              <a:rPr lang="es-CL" i="1" dirty="0" err="1"/>
              <a:t>args</a:t>
            </a:r>
            <a:r>
              <a:rPr lang="es-CL" i="1" dirty="0"/>
              <a:t>=</a:t>
            </a:r>
            <a:r>
              <a:rPr lang="es-CL" i="1" dirty="0" err="1"/>
              <a:t>unsafe</a:t>
            </a:r>
            <a:r>
              <a:rPr lang="es-CL" i="1" dirty="0"/>
              <a:t>=1 </a:t>
            </a:r>
            <a:r>
              <a:rPr lang="es-CL" i="1" dirty="0" err="1"/>
              <a:t>ip</a:t>
            </a:r>
            <a:endParaRPr lang="es-CL" i="1" dirty="0"/>
          </a:p>
          <a:p>
            <a:endParaRPr lang="es-CL" dirty="0"/>
          </a:p>
          <a:p>
            <a:r>
              <a:rPr lang="es-CL" dirty="0"/>
              <a:t>Detectar vulnerabilidades HTTP</a:t>
            </a:r>
          </a:p>
          <a:p>
            <a:r>
              <a:rPr lang="es-CL" i="1" dirty="0" err="1"/>
              <a:t>nmap</a:t>
            </a:r>
            <a:r>
              <a:rPr lang="es-CL" i="1" dirty="0"/>
              <a:t> -p 80,443 --script http-</a:t>
            </a:r>
            <a:r>
              <a:rPr lang="es-CL" i="1" dirty="0" err="1"/>
              <a:t>vuln</a:t>
            </a:r>
            <a:r>
              <a:rPr lang="es-CL" i="1" dirty="0"/>
              <a:t>*  </a:t>
            </a:r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3525875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8799F-3678-EBB8-102F-6838FB4E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865438"/>
          </a:xfrm>
        </p:spPr>
        <p:txBody>
          <a:bodyPr/>
          <a:lstStyle/>
          <a:p>
            <a:r>
              <a:rPr lang="es-CL" dirty="0"/>
              <a:t>Combinación </a:t>
            </a:r>
            <a:r>
              <a:rPr lang="es-CL" dirty="0" err="1"/>
              <a:t>multiple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75FB3C-4B5A-B15D-1C32-99816E825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Escaneo completo avanzado (MUY intrusivo)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sS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-O -A -T4 \</a:t>
            </a:r>
          </a:p>
          <a:p>
            <a:r>
              <a:rPr lang="es-CL" i="1" dirty="0"/>
              <a:t>--script "</a:t>
            </a:r>
            <a:r>
              <a:rPr lang="es-CL" i="1" dirty="0" err="1"/>
              <a:t>discovery,vuln,auth,brute,exploit</a:t>
            </a:r>
            <a:r>
              <a:rPr lang="es-CL" i="1" dirty="0"/>
              <a:t>" \</a:t>
            </a:r>
          </a:p>
          <a:p>
            <a:r>
              <a:rPr lang="es-CL" i="1" dirty="0"/>
              <a:t>--script-</a:t>
            </a:r>
            <a:r>
              <a:rPr lang="es-CL" i="1" dirty="0" err="1"/>
              <a:t>args</a:t>
            </a:r>
            <a:r>
              <a:rPr lang="es-CL" i="1" dirty="0"/>
              <a:t> '</a:t>
            </a:r>
            <a:r>
              <a:rPr lang="es-CL" i="1" dirty="0" err="1"/>
              <a:t>userdb</a:t>
            </a:r>
            <a:r>
              <a:rPr lang="es-CL" i="1" dirty="0"/>
              <a:t>=</a:t>
            </a:r>
            <a:r>
              <a:rPr lang="es-CL" i="1" dirty="0" err="1"/>
              <a:t>users.txt,passdb</a:t>
            </a:r>
            <a:r>
              <a:rPr lang="es-CL" i="1" dirty="0"/>
              <a:t>=passwords.txt' \</a:t>
            </a:r>
          </a:p>
          <a:p>
            <a:r>
              <a:rPr lang="es-CL" i="1" dirty="0"/>
              <a:t>-p- --min-</a:t>
            </a:r>
            <a:r>
              <a:rPr lang="es-CL" i="1" dirty="0" err="1"/>
              <a:t>rate</a:t>
            </a:r>
            <a:r>
              <a:rPr lang="es-CL" i="1" dirty="0"/>
              <a:t> 1000 \</a:t>
            </a:r>
          </a:p>
          <a:p>
            <a:r>
              <a:rPr lang="es-CL" i="1" dirty="0"/>
              <a:t>-</a:t>
            </a:r>
            <a:r>
              <a:rPr lang="es-CL" i="1" dirty="0" err="1"/>
              <a:t>oA</a:t>
            </a:r>
            <a:r>
              <a:rPr lang="es-CL" i="1" dirty="0"/>
              <a:t> </a:t>
            </a:r>
            <a:r>
              <a:rPr lang="es-CL" i="1" dirty="0" err="1"/>
              <a:t>escaneo_completo_avanzado</a:t>
            </a:r>
            <a:r>
              <a:rPr lang="es-CL" i="1" dirty="0"/>
              <a:t> \</a:t>
            </a:r>
          </a:p>
          <a:p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2312768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67675-97D0-027D-0459-E5396485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Uno de los mas factibles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4BA371-ECF9-941F-937C-F5F6320E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306286"/>
            <a:ext cx="10604290" cy="5399314"/>
          </a:xfrm>
        </p:spPr>
        <p:txBody>
          <a:bodyPr>
            <a:normAutofit/>
          </a:bodyPr>
          <a:lstStyle/>
          <a:p>
            <a:r>
              <a:rPr lang="es-CL" dirty="0"/>
              <a:t>Escaneo progresivo (menos detectable)</a:t>
            </a:r>
          </a:p>
          <a:p>
            <a:r>
              <a:rPr lang="es-CL" dirty="0" err="1"/>
              <a:t>nmap</a:t>
            </a:r>
            <a:r>
              <a:rPr lang="es-CL" dirty="0"/>
              <a:t> -</a:t>
            </a:r>
            <a:r>
              <a:rPr lang="es-CL" dirty="0" err="1"/>
              <a:t>sS</a:t>
            </a:r>
            <a:r>
              <a:rPr lang="es-CL" dirty="0"/>
              <a:t> -</a:t>
            </a:r>
            <a:r>
              <a:rPr lang="es-CL" dirty="0" err="1"/>
              <a:t>sV</a:t>
            </a:r>
            <a:r>
              <a:rPr lang="es-CL" dirty="0"/>
              <a:t> -O --script "</a:t>
            </a:r>
            <a:r>
              <a:rPr lang="es-CL" dirty="0" err="1"/>
              <a:t>vuln</a:t>
            </a:r>
            <a:r>
              <a:rPr lang="es-CL" dirty="0"/>
              <a:t> and </a:t>
            </a:r>
            <a:r>
              <a:rPr lang="es-CL" dirty="0" err="1"/>
              <a:t>safe</a:t>
            </a:r>
            <a:r>
              <a:rPr lang="es-CL" dirty="0"/>
              <a:t>" -T2 -</a:t>
            </a:r>
            <a:r>
              <a:rPr lang="es-CL" dirty="0" err="1"/>
              <a:t>oA</a:t>
            </a:r>
            <a:r>
              <a:rPr lang="es-CL" dirty="0"/>
              <a:t> </a:t>
            </a:r>
            <a:r>
              <a:rPr lang="es-CL" dirty="0" err="1"/>
              <a:t>escaneo_seguro</a:t>
            </a:r>
            <a:r>
              <a:rPr lang="es-CL" dirty="0"/>
              <a:t> </a:t>
            </a:r>
            <a:r>
              <a:rPr lang="es-CL" dirty="0" err="1"/>
              <a:t>ip</a:t>
            </a:r>
            <a:endParaRPr lang="es-CL" dirty="0"/>
          </a:p>
          <a:p>
            <a:r>
              <a:rPr lang="es-CL" dirty="0"/>
              <a:t>Ataque final </a:t>
            </a:r>
            <a:r>
              <a:rPr lang="es-CL" dirty="0" err="1"/>
              <a:t>boss</a:t>
            </a:r>
            <a:r>
              <a:rPr lang="es-CL" dirty="0"/>
              <a:t>: Escaneo completo con diccionarios de Kali</a:t>
            </a:r>
          </a:p>
          <a:p>
            <a:r>
              <a:rPr lang="es-CL" i="1" dirty="0" err="1"/>
              <a:t>nmap</a:t>
            </a:r>
            <a:r>
              <a:rPr lang="es-CL" i="1" dirty="0"/>
              <a:t> -</a:t>
            </a:r>
            <a:r>
              <a:rPr lang="es-CL" i="1" dirty="0" err="1"/>
              <a:t>sS</a:t>
            </a:r>
            <a:r>
              <a:rPr lang="es-CL" i="1" dirty="0"/>
              <a:t> -</a:t>
            </a:r>
            <a:r>
              <a:rPr lang="es-CL" i="1" dirty="0" err="1"/>
              <a:t>sV</a:t>
            </a:r>
            <a:r>
              <a:rPr lang="es-CL" i="1" dirty="0"/>
              <a:t> -O --script "</a:t>
            </a:r>
            <a:r>
              <a:rPr lang="es-CL" i="1" dirty="0" err="1"/>
              <a:t>ssh</a:t>
            </a:r>
            <a:r>
              <a:rPr lang="es-CL" i="1" dirty="0"/>
              <a:t>-</a:t>
            </a:r>
            <a:r>
              <a:rPr lang="es-CL" i="1" dirty="0" err="1"/>
              <a:t>brute,http</a:t>
            </a:r>
            <a:r>
              <a:rPr lang="es-CL" i="1" dirty="0"/>
              <a:t>-brute" \</a:t>
            </a:r>
          </a:p>
          <a:p>
            <a:r>
              <a:rPr lang="es-CL" i="1" dirty="0"/>
              <a:t>--script-</a:t>
            </a:r>
            <a:r>
              <a:rPr lang="es-CL" i="1" dirty="0" err="1"/>
              <a:t>args</a:t>
            </a:r>
            <a:r>
              <a:rPr lang="es-CL" i="1" dirty="0"/>
              <a:t> '</a:t>
            </a:r>
            <a:r>
              <a:rPr lang="es-CL" i="1" dirty="0" err="1"/>
              <a:t>userdb</a:t>
            </a:r>
            <a:r>
              <a:rPr lang="es-CL" i="1" dirty="0"/>
              <a:t>=/</a:t>
            </a:r>
            <a:r>
              <a:rPr lang="es-CL" i="1" dirty="0" err="1"/>
              <a:t>usr</a:t>
            </a:r>
            <a:r>
              <a:rPr lang="es-CL" i="1" dirty="0"/>
              <a:t>/share/</a:t>
            </a:r>
            <a:r>
              <a:rPr lang="es-CL" i="1" dirty="0" err="1"/>
              <a:t>wordlists</a:t>
            </a:r>
            <a:r>
              <a:rPr lang="es-CL" i="1" dirty="0"/>
              <a:t>/</a:t>
            </a:r>
            <a:r>
              <a:rPr lang="es-CL" i="1" dirty="0" err="1"/>
              <a:t>nmap.lst</a:t>
            </a:r>
            <a:r>
              <a:rPr lang="es-CL" i="1" dirty="0"/>
              <a:t>,\</a:t>
            </a:r>
          </a:p>
          <a:p>
            <a:r>
              <a:rPr lang="es-CL" i="1" dirty="0" err="1"/>
              <a:t>passdb</a:t>
            </a:r>
            <a:r>
              <a:rPr lang="es-CL" i="1" dirty="0"/>
              <a:t>=/</a:t>
            </a:r>
            <a:r>
              <a:rPr lang="es-CL" i="1" dirty="0" err="1"/>
              <a:t>usr</a:t>
            </a:r>
            <a:r>
              <a:rPr lang="es-CL" i="1" dirty="0"/>
              <a:t>/share/</a:t>
            </a:r>
            <a:r>
              <a:rPr lang="es-CL" i="1" dirty="0" err="1"/>
              <a:t>wordlists</a:t>
            </a:r>
            <a:r>
              <a:rPr lang="es-CL" i="1" dirty="0"/>
              <a:t>/rockyou.txt' \</a:t>
            </a:r>
          </a:p>
          <a:p>
            <a:r>
              <a:rPr lang="es-CL" i="1" dirty="0"/>
              <a:t>-p 21,22,80,443 \</a:t>
            </a:r>
          </a:p>
          <a:p>
            <a:r>
              <a:rPr lang="es-CL" i="1" dirty="0"/>
              <a:t>-</a:t>
            </a:r>
            <a:r>
              <a:rPr lang="es-CL" i="1" dirty="0" err="1"/>
              <a:t>oA</a:t>
            </a:r>
            <a:r>
              <a:rPr lang="es-CL" i="1" dirty="0"/>
              <a:t> </a:t>
            </a:r>
            <a:r>
              <a:rPr lang="es-CL" i="1" dirty="0" err="1"/>
              <a:t>escaneo_completo</a:t>
            </a:r>
            <a:r>
              <a:rPr lang="es-CL" i="1" dirty="0"/>
              <a:t> \</a:t>
            </a:r>
          </a:p>
          <a:p>
            <a:r>
              <a:rPr lang="es-CL" i="1" dirty="0" err="1"/>
              <a:t>Ip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2432709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0D7E5-3A0C-1F67-F448-7C9AEBAF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792867"/>
          </a:xfrm>
        </p:spPr>
        <p:txBody>
          <a:bodyPr/>
          <a:lstStyle/>
          <a:p>
            <a:r>
              <a:rPr lang="es-CL" dirty="0"/>
              <a:t>Como puedo crear un </a:t>
            </a:r>
            <a:r>
              <a:rPr lang="es-CL" dirty="0" err="1"/>
              <a:t>wordlist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AE15D-AE0C-486D-3BCB-F6070051F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09" y="1393371"/>
            <a:ext cx="10604291" cy="4692797"/>
          </a:xfrm>
        </p:spPr>
        <p:txBody>
          <a:bodyPr>
            <a:normAutofit/>
          </a:bodyPr>
          <a:lstStyle/>
          <a:p>
            <a:r>
              <a:rPr lang="es-CL" sz="1800" dirty="0"/>
              <a:t>Archivo de usuarios común</a:t>
            </a:r>
          </a:p>
          <a:p>
            <a:r>
              <a:rPr lang="es-CL" sz="1800" dirty="0"/>
              <a:t>echo -e "</a:t>
            </a:r>
            <a:r>
              <a:rPr lang="es-CL" sz="1800" dirty="0" err="1"/>
              <a:t>admin</a:t>
            </a:r>
            <a:r>
              <a:rPr lang="es-CL" sz="1800" dirty="0"/>
              <a:t>\</a:t>
            </a:r>
            <a:r>
              <a:rPr lang="es-CL" sz="1800" dirty="0" err="1"/>
              <a:t>nroot</a:t>
            </a:r>
            <a:r>
              <a:rPr lang="es-CL" sz="1800" dirty="0"/>
              <a:t>\</a:t>
            </a:r>
            <a:r>
              <a:rPr lang="es-CL" sz="1800" dirty="0" err="1"/>
              <a:t>nadministrator</a:t>
            </a:r>
            <a:r>
              <a:rPr lang="es-CL" sz="1800" dirty="0"/>
              <a:t>\</a:t>
            </a:r>
            <a:r>
              <a:rPr lang="es-CL" sz="1800" dirty="0" err="1"/>
              <a:t>nuser</a:t>
            </a:r>
            <a:r>
              <a:rPr lang="es-CL" sz="1800" dirty="0"/>
              <a:t>\</a:t>
            </a:r>
            <a:r>
              <a:rPr lang="es-CL" sz="1800" dirty="0" err="1"/>
              <a:t>ntest</a:t>
            </a:r>
            <a:r>
              <a:rPr lang="es-CL" sz="1800" dirty="0"/>
              <a:t>" &gt; users.txt</a:t>
            </a:r>
          </a:p>
          <a:p>
            <a:endParaRPr lang="es-CL" sz="1800" dirty="0"/>
          </a:p>
          <a:p>
            <a:r>
              <a:rPr lang="es-CL" sz="1800" dirty="0"/>
              <a:t>Archivo de contraseñas común  </a:t>
            </a:r>
          </a:p>
          <a:p>
            <a:r>
              <a:rPr lang="es-CL" sz="1800" dirty="0"/>
              <a:t>echo -e "123456\</a:t>
            </a:r>
            <a:r>
              <a:rPr lang="es-CL" sz="1800" dirty="0" err="1"/>
              <a:t>npassword</a:t>
            </a:r>
            <a:r>
              <a:rPr lang="es-CL" sz="1800" dirty="0"/>
              <a:t>\</a:t>
            </a:r>
            <a:r>
              <a:rPr lang="es-CL" sz="1800" dirty="0" err="1"/>
              <a:t>nadmin</a:t>
            </a:r>
            <a:r>
              <a:rPr lang="es-CL" sz="1800" dirty="0"/>
              <a:t>\n1234\</a:t>
            </a:r>
            <a:r>
              <a:rPr lang="es-CL" sz="1800" dirty="0" err="1"/>
              <a:t>nqwerty</a:t>
            </a:r>
            <a:r>
              <a:rPr lang="es-CL" sz="1800" dirty="0"/>
              <a:t>" &gt; passwords.txt</a:t>
            </a:r>
          </a:p>
          <a:p>
            <a:endParaRPr lang="es-CL" sz="1800" dirty="0"/>
          </a:p>
          <a:p>
            <a:r>
              <a:rPr lang="es-CL" sz="1800" dirty="0"/>
              <a:t>sudo </a:t>
            </a:r>
            <a:r>
              <a:rPr lang="es-CL" sz="1800" dirty="0" err="1"/>
              <a:t>nmap</a:t>
            </a:r>
            <a:r>
              <a:rPr lang="es-CL" sz="1800" dirty="0"/>
              <a:t> -p 22 --script </a:t>
            </a:r>
            <a:r>
              <a:rPr lang="es-CL" sz="1800" dirty="0" err="1"/>
              <a:t>ssh</a:t>
            </a:r>
            <a:r>
              <a:rPr lang="es-CL" sz="1800" dirty="0"/>
              <a:t>-brute \</a:t>
            </a:r>
          </a:p>
          <a:p>
            <a:r>
              <a:rPr lang="es-CL" sz="1800" dirty="0"/>
              <a:t>--script-</a:t>
            </a:r>
            <a:r>
              <a:rPr lang="es-CL" sz="1800" dirty="0" err="1"/>
              <a:t>args</a:t>
            </a:r>
            <a:r>
              <a:rPr lang="es-CL" sz="1800" dirty="0"/>
              <a:t> '</a:t>
            </a:r>
            <a:r>
              <a:rPr lang="es-CL" sz="1800" dirty="0" err="1"/>
              <a:t>userdb</a:t>
            </a:r>
            <a:r>
              <a:rPr lang="es-CL" sz="1800" dirty="0"/>
              <a:t>=./users.txt, </a:t>
            </a:r>
            <a:r>
              <a:rPr lang="es-CL" sz="1800" dirty="0" err="1"/>
              <a:t>passdb</a:t>
            </a:r>
            <a:r>
              <a:rPr lang="es-CL" sz="1800" dirty="0"/>
              <a:t>=./passwords.txt, </a:t>
            </a:r>
            <a:r>
              <a:rPr lang="es-CL" sz="1800" dirty="0" err="1"/>
              <a:t>brute.threads</a:t>
            </a:r>
            <a:r>
              <a:rPr lang="es-CL" sz="1800" dirty="0"/>
              <a:t>=5, </a:t>
            </a:r>
            <a:r>
              <a:rPr lang="es-CL" sz="1800" dirty="0" err="1"/>
              <a:t>brute.delay</a:t>
            </a:r>
            <a:r>
              <a:rPr lang="es-CL" sz="1800" dirty="0"/>
              <a:t>=3,\</a:t>
            </a:r>
          </a:p>
          <a:p>
            <a:r>
              <a:rPr lang="es-CL" sz="1800" dirty="0" err="1"/>
              <a:t>ssh-brute.timeout</a:t>
            </a:r>
            <a:r>
              <a:rPr lang="es-CL" sz="1800" dirty="0"/>
              <a:t>=30s’  </a:t>
            </a:r>
            <a:r>
              <a:rPr lang="es-CL" sz="1800" dirty="0" err="1"/>
              <a:t>ip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165796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A7B60-CAAE-A35C-6867-9533EBD8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778352"/>
          </a:xfrm>
        </p:spPr>
        <p:txBody>
          <a:bodyPr/>
          <a:lstStyle/>
          <a:p>
            <a:r>
              <a:rPr lang="es-CL" dirty="0"/>
              <a:t>El diccionario de </a:t>
            </a:r>
            <a:r>
              <a:rPr lang="es-CL" dirty="0" err="1"/>
              <a:t>kali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A231B-52BD-77B9-6886-3619C2C3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233715"/>
            <a:ext cx="9486690" cy="4852453"/>
          </a:xfrm>
        </p:spPr>
        <p:txBody>
          <a:bodyPr>
            <a:normAutofit fontScale="92500" lnSpcReduction="10000"/>
          </a:bodyPr>
          <a:lstStyle/>
          <a:p>
            <a:r>
              <a:rPr lang="es-CL" sz="2000" dirty="0"/>
              <a:t>Kali Linux incluye </a:t>
            </a:r>
            <a:r>
              <a:rPr lang="es-CL" sz="2000" dirty="0" err="1"/>
              <a:t>wordlists</a:t>
            </a:r>
            <a:r>
              <a:rPr lang="es-CL" sz="2000" dirty="0"/>
              <a:t> poderosas en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</a:t>
            </a:r>
          </a:p>
          <a:p>
            <a:r>
              <a:rPr lang="es-CL" sz="2000" dirty="0"/>
              <a:t>Ver todos los diccionarios</a:t>
            </a:r>
          </a:p>
          <a:p>
            <a:r>
              <a:rPr lang="es-CL" sz="2000" dirty="0" err="1"/>
              <a:t>ls</a:t>
            </a:r>
            <a:r>
              <a:rPr lang="es-CL" sz="2000" dirty="0"/>
              <a:t> -la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</a:t>
            </a:r>
          </a:p>
          <a:p>
            <a:endParaRPr lang="es-CL" sz="2000" dirty="0"/>
          </a:p>
          <a:p>
            <a:r>
              <a:rPr lang="es-CL" sz="2000" dirty="0"/>
              <a:t>Buscar diccionarios específicos</a:t>
            </a:r>
          </a:p>
          <a:p>
            <a:r>
              <a:rPr lang="es-CL" sz="2000" dirty="0" err="1"/>
              <a:t>find</a:t>
            </a:r>
            <a:r>
              <a:rPr lang="es-CL" sz="2000" dirty="0"/>
              <a:t>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 -</a:t>
            </a:r>
            <a:r>
              <a:rPr lang="es-CL" sz="2000" dirty="0" err="1"/>
              <a:t>name</a:t>
            </a:r>
            <a:r>
              <a:rPr lang="es-CL" sz="2000" dirty="0"/>
              <a:t> "*.</a:t>
            </a:r>
            <a:r>
              <a:rPr lang="es-CL" sz="2000" dirty="0" err="1"/>
              <a:t>txt</a:t>
            </a:r>
            <a:r>
              <a:rPr lang="es-CL" sz="2000" dirty="0"/>
              <a:t>" | head -20</a:t>
            </a:r>
          </a:p>
          <a:p>
            <a:endParaRPr lang="es-CL" sz="2000" dirty="0"/>
          </a:p>
          <a:p>
            <a:r>
              <a:rPr lang="es-CL" sz="2000" dirty="0"/>
              <a:t>Diccionarios comunes</a:t>
            </a:r>
          </a:p>
          <a:p>
            <a:r>
              <a:rPr lang="es-CL" sz="2000" dirty="0" err="1"/>
              <a:t>ls</a:t>
            </a:r>
            <a:r>
              <a:rPr lang="es-CL" sz="2000" dirty="0"/>
              <a:t>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</a:t>
            </a:r>
            <a:r>
              <a:rPr lang="es-CL" sz="2000" dirty="0" err="1"/>
              <a:t>dirbuster</a:t>
            </a:r>
            <a:r>
              <a:rPr lang="es-CL" sz="2000" dirty="0"/>
              <a:t>/</a:t>
            </a:r>
          </a:p>
          <a:p>
            <a:r>
              <a:rPr lang="es-CL" sz="2000" dirty="0" err="1"/>
              <a:t>ls</a:t>
            </a:r>
            <a:r>
              <a:rPr lang="es-CL" sz="2000" dirty="0"/>
              <a:t>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</a:t>
            </a:r>
            <a:r>
              <a:rPr lang="es-CL" sz="2000" dirty="0" err="1"/>
              <a:t>nmap.lst</a:t>
            </a:r>
            <a:endParaRPr lang="es-CL" sz="2000" dirty="0"/>
          </a:p>
          <a:p>
            <a:r>
              <a:rPr lang="es-CL" sz="2000" dirty="0" err="1"/>
              <a:t>ls</a:t>
            </a:r>
            <a:r>
              <a:rPr lang="es-CL" sz="2000" dirty="0"/>
              <a:t> /</a:t>
            </a:r>
            <a:r>
              <a:rPr lang="es-CL" sz="2000" dirty="0" err="1"/>
              <a:t>usr</a:t>
            </a:r>
            <a:r>
              <a:rPr lang="es-CL" sz="2000" dirty="0"/>
              <a:t>/share/</a:t>
            </a:r>
            <a:r>
              <a:rPr lang="es-CL" sz="2000" dirty="0" err="1"/>
              <a:t>wordlists</a:t>
            </a:r>
            <a:r>
              <a:rPr lang="es-CL" sz="2000" dirty="0"/>
              <a:t>/</a:t>
            </a:r>
            <a:r>
              <a:rPr lang="es-CL" sz="2000" dirty="0" err="1"/>
              <a:t>metasploit</a:t>
            </a:r>
            <a:r>
              <a:rPr lang="es-CL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40184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060E7-1BA2-98DE-B2AC-0574C90E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836409"/>
          </a:xfrm>
        </p:spPr>
        <p:txBody>
          <a:bodyPr/>
          <a:lstStyle/>
          <a:p>
            <a:pPr algn="ctr"/>
            <a:r>
              <a:rPr lang="es-CL" dirty="0"/>
              <a:t>Glosario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2F8B5C2-DC5D-1A98-86EB-97EE4DB066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074" y="1244971"/>
          <a:ext cx="8726376" cy="4888758"/>
        </p:xfrm>
        <a:graphic>
          <a:graphicData uri="http://schemas.openxmlformats.org/drawingml/2006/table">
            <a:tbl>
              <a:tblPr/>
              <a:tblGrid>
                <a:gridCol w="4542497">
                  <a:extLst>
                    <a:ext uri="{9D8B030D-6E8A-4147-A177-3AD203B41FA5}">
                      <a16:colId xmlns:a16="http://schemas.microsoft.com/office/drawing/2014/main" val="1494183392"/>
                    </a:ext>
                  </a:extLst>
                </a:gridCol>
                <a:gridCol w="4183879">
                  <a:extLst>
                    <a:ext uri="{9D8B030D-6E8A-4147-A177-3AD203B41FA5}">
                      <a16:colId xmlns:a16="http://schemas.microsoft.com/office/drawing/2014/main" val="2047547570"/>
                    </a:ext>
                  </a:extLst>
                </a:gridCol>
              </a:tblGrid>
              <a:tr h="392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700" b="1">
                          <a:solidFill>
                            <a:srgbClr val="F5F5F5"/>
                          </a:solidFill>
                          <a:effectLst/>
                        </a:rPr>
                        <a:t>Término</a:t>
                      </a: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700" b="1">
                          <a:solidFill>
                            <a:srgbClr val="F5F5F5"/>
                          </a:solidFill>
                          <a:effectLst/>
                        </a:rPr>
                        <a:t>Significado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92497"/>
                  </a:ext>
                </a:extLst>
              </a:tr>
              <a:tr h="64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TCP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>
                          <a:effectLst/>
                        </a:rPr>
                        <a:t>Protocolo de Control de Transmisión - Conexiones confiables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318442"/>
                  </a:ext>
                </a:extLst>
              </a:tr>
              <a:tr h="64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UDP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>
                          <a:effectLst/>
                        </a:rPr>
                        <a:t>Protocolo de Datos de Usuario - Conexiones rápidas no confiables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63185"/>
                  </a:ext>
                </a:extLst>
              </a:tr>
              <a:tr h="64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SMB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>
                          <a:effectLst/>
                        </a:rPr>
                        <a:t>Bloque de Mensajes del Servidor - Compartir archivos Windows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52480"/>
                  </a:ext>
                </a:extLst>
              </a:tr>
              <a:tr h="39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SSH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>
                          <a:effectLst/>
                        </a:rPr>
                        <a:t>Secure Shell - Conexión segura remota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045330"/>
                  </a:ext>
                </a:extLst>
              </a:tr>
              <a:tr h="64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HTTP/HTTPS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>
                          <a:effectLst/>
                        </a:rPr>
                        <a:t>Protocolo de Transferencia de Hipertexto (Seguro)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213794"/>
                  </a:ext>
                </a:extLst>
              </a:tr>
              <a:tr h="39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FTP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>
                          <a:effectLst/>
                        </a:rPr>
                        <a:t>Protocolo de Transferencia de Archivos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576007"/>
                  </a:ext>
                </a:extLst>
              </a:tr>
              <a:tr h="39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DNS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effectLst/>
                        </a:rPr>
                        <a:t>Sistema de Nombres de Dominio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56"/>
                  </a:ext>
                </a:extLst>
              </a:tr>
              <a:tr h="644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effectLst/>
                        </a:rPr>
                        <a:t>SMTP</a:t>
                      </a:r>
                      <a:endParaRPr lang="es-CL" sz="1700">
                        <a:effectLst/>
                      </a:endParaRPr>
                    </a:p>
                  </a:txBody>
                  <a:tcPr marL="84110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effectLst/>
                        </a:rPr>
                        <a:t>Protocolo Simple de Transferencia de Correo</a:t>
                      </a:r>
                    </a:p>
                  </a:txBody>
                  <a:tcPr marL="70091" marR="70091" marT="70091" marB="70091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15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7A456-B167-91A3-C5BC-87CC4F92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894467"/>
          </a:xfrm>
        </p:spPr>
        <p:txBody>
          <a:bodyPr/>
          <a:lstStyle/>
          <a:p>
            <a:r>
              <a:rPr lang="es-CL" dirty="0"/>
              <a:t>Términos de seguridad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E6A27D6-E05D-32D4-05CD-43C27F1B66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7212" y="1599565"/>
          <a:ext cx="9486900" cy="4236720"/>
        </p:xfrm>
        <a:graphic>
          <a:graphicData uri="http://schemas.openxmlformats.org/drawingml/2006/table">
            <a:tbl>
              <a:tblPr/>
              <a:tblGrid>
                <a:gridCol w="4938386">
                  <a:extLst>
                    <a:ext uri="{9D8B030D-6E8A-4147-A177-3AD203B41FA5}">
                      <a16:colId xmlns:a16="http://schemas.microsoft.com/office/drawing/2014/main" val="178969328"/>
                    </a:ext>
                  </a:extLst>
                </a:gridCol>
                <a:gridCol w="4548514">
                  <a:extLst>
                    <a:ext uri="{9D8B030D-6E8A-4147-A177-3AD203B41FA5}">
                      <a16:colId xmlns:a16="http://schemas.microsoft.com/office/drawing/2014/main" val="682179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Vuln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Vulnerabilidad - Debilidad explotable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15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Exploit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effectLst/>
                        </a:rPr>
                        <a:t>Código que aprovecha una vulnerabilidad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40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Payload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Carga útil - Código malicioso ejecutado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707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Brute Force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effectLst/>
                        </a:rPr>
                        <a:t>Fuerza Bruta - Probar todas las combinaciones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87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Fuzzing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effectLst/>
                        </a:rPr>
                        <a:t>Enviar datos aleatorios para encontrar fallos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44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Auth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Autenticación - Verificación de identidad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666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Firewall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Cortafuegos - Filtra tráfico de red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675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</a:rPr>
                        <a:t>IDS/IPS</a:t>
                      </a:r>
                      <a:endParaRPr lang="es-CL">
                        <a:effectLst/>
                      </a:endParaRP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effectLst/>
                        </a:rPr>
                        <a:t>Sistema de Detección/Prevención de Intrusos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95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35244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1938</Words>
  <Application>Microsoft Office PowerPoint</Application>
  <PresentationFormat>Panorámica</PresentationFormat>
  <Paragraphs>217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Arial</vt:lpstr>
      <vt:lpstr>Neue Haas Grotesk Text Pro</vt:lpstr>
      <vt:lpstr>InterweaveVTI</vt:lpstr>
      <vt:lpstr>Escuchando en la Oscuridad</vt:lpstr>
      <vt:lpstr>¿Qué es la Recopilación de Información Activa? </vt:lpstr>
      <vt:lpstr>Herramientas del arsenal activo Tus Primeras Herramientas:  DNS y Nmap</vt:lpstr>
      <vt:lpstr>Zona DNS (dig/host)</vt:lpstr>
      <vt:lpstr>Nmap: El Cartógrafo de Redes</vt:lpstr>
      <vt:lpstr>Iniciando en nmap</vt:lpstr>
      <vt:lpstr>Presentación de PowerPoint</vt:lpstr>
      <vt:lpstr>Comandos de Recopilación Detallada Desvelando la Identidad de los Servicios</vt:lpstr>
      <vt:lpstr>Entonces…</vt:lpstr>
      <vt:lpstr>Comandos Avanzados y la "Tranquilidad"</vt:lpstr>
      <vt:lpstr>Modo profesional</vt:lpstr>
      <vt:lpstr>De scanner a modo Attack</vt:lpstr>
      <vt:lpstr>No todo es diversión…</vt:lpstr>
      <vt:lpstr>Pero que es el modo attack de nmap?</vt:lpstr>
      <vt:lpstr>Fuzzing de servicios (fuzz)</vt:lpstr>
      <vt:lpstr>Pruebas de autenticación </vt:lpstr>
      <vt:lpstr>Brute Force</vt:lpstr>
      <vt:lpstr>Detección de exploits</vt:lpstr>
      <vt:lpstr>Combinación multiple</vt:lpstr>
      <vt:lpstr>Uno de los mas factibles</vt:lpstr>
      <vt:lpstr>Como puedo crear un wordlist</vt:lpstr>
      <vt:lpstr>El diccionario de kali</vt:lpstr>
      <vt:lpstr>Glosario </vt:lpstr>
      <vt:lpstr>Términos de seguridad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2025-08-24T23:18:04Z</dcterms:created>
  <dcterms:modified xsi:type="dcterms:W3CDTF">2025-08-25T03:33:02Z</dcterms:modified>
</cp:coreProperties>
</file>