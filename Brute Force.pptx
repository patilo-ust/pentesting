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57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6395" autoAdjust="0"/>
  </p:normalViewPr>
  <p:slideViewPr>
    <p:cSldViewPr>
      <p:cViewPr varScale="1">
        <p:scale>
          <a:sx n="128" d="100"/>
          <a:sy n="128" d="100"/>
        </p:scale>
        <p:origin x="2064" y="8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478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C8F1D84B-F747-4821-8617-FBD61E8F4308}" type="datetime1">
              <a:rPr lang="es-ES" smtClean="0"/>
              <a:t>08/10/2025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es-ES" smtClean="0"/>
              <a:pPr algn="r"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DA87C823-BB9F-45DA-99AB-416A32E1B948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el estilo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3EBA5BD7-F043-4D1B-AA17-CD412FC534DE}" type="slidenum">
              <a:rPr lang="es-ES" noProof="0" smtClean="0"/>
              <a:pPr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8672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s-ES" noProof="0" smtClean="0"/>
              <a:pPr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37636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c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íne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b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0" name="Forma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s-ES" noProof="0" dirty="0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2" name="Marcador de posición de fech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42E67D-14C0-4ED9-A218-9C14494A6A84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23" name="Marcador de posición de pie de página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24" name="Marcador de posición de número de diapositiva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2E48AAE-5AE8-418A-A225-B506C222F2F9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c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c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c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A1D35CA-82F5-4AD4-B9EC-66E805B73542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4CCE92-710B-4678-B1B1-EFCAA5CDF075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3FB0F2C-25D9-4D7E-B43A-29A2E16C960D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D34687D-B11B-47A5-95F6-B79DA932A6DF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3C656DE-1E46-4450-9484-A739B4FADFBC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A77F8B-D469-4ECD-B91E-3B01AD692331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9BA7B1C-709E-4257-93A5-EC2F0807D42F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0A1DB83-C382-4684-8887-65A03EA4FFF0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60E81D3-9B82-44CA-B1F9-FCEFDC87935B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íneas a la izqui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b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1" name="Forma lib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Forma lib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Editar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83AD5-F5AF-4BDC-901E-85A05CCFFAAA}" type="datetime1">
              <a:rPr lang="es-ES" noProof="0" smtClean="0"/>
              <a:pPr/>
              <a:t>08/10/2025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usuario_encontrado@192.168.1.30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dirty="0"/>
              <a:t>Brute </a:t>
            </a:r>
            <a:r>
              <a:rPr lang="es-ES" dirty="0" err="1"/>
              <a:t>Force</a:t>
            </a:r>
            <a:endParaRPr lang="es-ES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ES" dirty="0" err="1"/>
              <a:t>pentesting</a:t>
            </a:r>
            <a:endParaRPr lang="es-ES" dirty="0"/>
          </a:p>
        </p:txBody>
      </p:sp>
      <p:pic>
        <p:nvPicPr>
          <p:cNvPr id="9220" name="Picture 4" descr="Demystifying the Hydra: Unveiling a Powerful Tool for Ethical Hackers">
            <a:extLst>
              <a:ext uri="{FF2B5EF4-FFF2-40B4-BE49-F238E27FC236}">
                <a16:creationId xmlns:a16="http://schemas.microsoft.com/office/drawing/2014/main" id="{6A61040C-925E-066B-DCA9-6470137E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236" y="2649763"/>
            <a:ext cx="7620000" cy="4191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DCDCA6CA-970B-3B74-1780-5A86F8DF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/>
          <a:lstStyle/>
          <a:p>
            <a:r>
              <a:rPr lang="en-US" dirty="0"/>
              <a:t>Pero </a:t>
            </a:r>
            <a:r>
              <a:rPr lang="en-US" dirty="0" err="1"/>
              <a:t>qué</a:t>
            </a:r>
            <a:r>
              <a:rPr lang="en-US" dirty="0"/>
              <a:t> es?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55D2D1-EB93-F0A4-EFE4-962A2B3DD3F6}"/>
              </a:ext>
            </a:extLst>
          </p:cNvPr>
          <p:cNvSpPr txBox="1"/>
          <p:nvPr/>
        </p:nvSpPr>
        <p:spPr>
          <a:xfrm>
            <a:off x="1218883" y="1706880"/>
            <a:ext cx="5078677" cy="446532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marL="304747" indent="-304747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s-ES" sz="2000"/>
              <a:t>En la mayoría de los casos, los servicios SSH y Telnet no son vulnerables a </a:t>
            </a:r>
            <a:r>
              <a:rPr lang="es-ES" sz="2000" i="1"/>
              <a:t>exploits de código</a:t>
            </a:r>
            <a:r>
              <a:rPr lang="es-ES" sz="2000"/>
              <a:t>, sino a </a:t>
            </a:r>
            <a:r>
              <a:rPr lang="es-ES" sz="2000" b="1"/>
              <a:t>contraseñas débiles</a:t>
            </a:r>
            <a:r>
              <a:rPr lang="es-ES" sz="2000"/>
              <a:t>. Aquí es donde entra en juego el </a:t>
            </a:r>
            <a:r>
              <a:rPr lang="es-ES" sz="2000" b="1"/>
              <a:t>Ataque de Fuerza Bruta (Brute Force Attack)</a:t>
            </a:r>
            <a:r>
              <a:rPr lang="es-ES" sz="2000"/>
              <a:t>, y Metasploit tiene módulos auxiliares específicos para esto.</a:t>
            </a:r>
          </a:p>
          <a:p>
            <a:pPr marL="304747" indent="-304747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s-ES" sz="2000"/>
              <a:t>La fuerza bruta no es un </a:t>
            </a:r>
            <a:r>
              <a:rPr lang="es-ES" sz="2000" i="1"/>
              <a:t>exploit</a:t>
            </a:r>
            <a:r>
              <a:rPr lang="es-ES" sz="2000"/>
              <a:t> (no rompe el código del software), sino un </a:t>
            </a:r>
            <a:r>
              <a:rPr lang="es-ES" sz="2000" b="1"/>
              <a:t>ataque de autenticación</a:t>
            </a:r>
            <a:r>
              <a:rPr lang="es-ES" sz="2000"/>
              <a:t> (rompe la contraseña).</a:t>
            </a:r>
          </a:p>
          <a:p>
            <a:pPr marL="304747" indent="-304747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s-ES" sz="2000"/>
              <a:t>Aquí te muestro cómo usarías Metasploit para la fuerza bruta contra SSH en Unix y Windows.</a:t>
            </a:r>
          </a:p>
        </p:txBody>
      </p:sp>
      <p:pic>
        <p:nvPicPr>
          <p:cNvPr id="1026" name="Picture 2" descr="What Is a Brute Force Attack? | Brute Force Attack Types">
            <a:extLst>
              <a:ext uri="{FF2B5EF4-FFF2-40B4-BE49-F238E27FC236}">
                <a16:creationId xmlns:a16="http://schemas.microsoft.com/office/drawing/2014/main" id="{19777E68-FC65-D560-5307-2CAFA15A2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0707" y="2784141"/>
            <a:ext cx="5078677" cy="2310797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7BDB0-0839-2C92-8793-34806933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Fuerza Bruta con </a:t>
            </a:r>
            <a:r>
              <a:rPr lang="es-MX" dirty="0" err="1"/>
              <a:t>Metasploit</a:t>
            </a:r>
            <a:r>
              <a:rPr lang="es-MX" dirty="0"/>
              <a:t> (SSH y RDP)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6C38EB8-5CDF-7B06-DD03-6C68F8F752AC}"/>
              </a:ext>
            </a:extLst>
          </p:cNvPr>
          <p:cNvSpPr txBox="1"/>
          <p:nvPr/>
        </p:nvSpPr>
        <p:spPr>
          <a:xfrm>
            <a:off x="914161" y="2420888"/>
            <a:ext cx="103605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En lugar de usar un módulo </a:t>
            </a:r>
            <a:r>
              <a:rPr lang="es-CL" dirty="0" err="1"/>
              <a:t>exploit</a:t>
            </a:r>
            <a:r>
              <a:rPr lang="es-CL" dirty="0"/>
              <a:t>/, usarás un módulo auxiliar (</a:t>
            </a:r>
            <a:r>
              <a:rPr lang="es-CL" dirty="0" err="1"/>
              <a:t>auxiliary</a:t>
            </a:r>
            <a:r>
              <a:rPr lang="es-CL" dirty="0"/>
              <a:t>/) de la categoría scanner.</a:t>
            </a:r>
          </a:p>
        </p:txBody>
      </p:sp>
    </p:spTree>
    <p:extLst>
      <p:ext uri="{BB962C8B-B14F-4D97-AF65-F5344CB8AC3E}">
        <p14:creationId xmlns:p14="http://schemas.microsoft.com/office/powerpoint/2010/main" val="370781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665CC-310E-C27C-AE82-BEDDD144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Flujo de trabajo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5BC714-A999-4E1B-A0BC-4C5FC79B1BAD}"/>
              </a:ext>
            </a:extLst>
          </p:cNvPr>
          <p:cNvSpPr txBox="1"/>
          <p:nvPr/>
        </p:nvSpPr>
        <p:spPr>
          <a:xfrm>
            <a:off x="1218882" y="1628801"/>
            <a:ext cx="105641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Escenario: Ataque de Fuerza Bruta SSH (Unix/Linux)Escenario: Ataque de Fuerza Bruta SSH (Unix/Linux)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C0C3AA9-85DB-C512-E2B6-F3B969376C11}"/>
              </a:ext>
            </a:extLst>
          </p:cNvPr>
          <p:cNvSpPr txBox="1"/>
          <p:nvPr/>
        </p:nvSpPr>
        <p:spPr>
          <a:xfrm>
            <a:off x="962529" y="4075037"/>
            <a:ext cx="10873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El puerto </a:t>
            </a:r>
            <a:r>
              <a:rPr lang="es-MX" sz="1800" b="1" dirty="0"/>
              <a:t>22</a:t>
            </a:r>
            <a:r>
              <a:rPr lang="es-MX" sz="1800" dirty="0"/>
              <a:t> está abierto. No hay </a:t>
            </a:r>
            <a:r>
              <a:rPr lang="es-MX" sz="1800" dirty="0" err="1"/>
              <a:t>exploits</a:t>
            </a:r>
            <a:r>
              <a:rPr lang="es-MX" sz="1800" dirty="0"/>
              <a:t> conocidos, pero queremos probar las combinaciones de usuario y contraseña más comunes.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35576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3145FF9-BA5E-888F-1291-27FADD92F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616548"/>
              </p:ext>
            </p:extLst>
          </p:nvPr>
        </p:nvGraphicFramePr>
        <p:xfrm>
          <a:off x="1485900" y="548680"/>
          <a:ext cx="9577065" cy="5400602"/>
        </p:xfrm>
        <a:graphic>
          <a:graphicData uri="http://schemas.openxmlformats.org/drawingml/2006/table">
            <a:tbl>
              <a:tblPr/>
              <a:tblGrid>
                <a:gridCol w="3192355">
                  <a:extLst>
                    <a:ext uri="{9D8B030D-6E8A-4147-A177-3AD203B41FA5}">
                      <a16:colId xmlns:a16="http://schemas.microsoft.com/office/drawing/2014/main" val="1095078430"/>
                    </a:ext>
                  </a:extLst>
                </a:gridCol>
                <a:gridCol w="3192355">
                  <a:extLst>
                    <a:ext uri="{9D8B030D-6E8A-4147-A177-3AD203B41FA5}">
                      <a16:colId xmlns:a16="http://schemas.microsoft.com/office/drawing/2014/main" val="1249060265"/>
                    </a:ext>
                  </a:extLst>
                </a:gridCol>
                <a:gridCol w="3192355">
                  <a:extLst>
                    <a:ext uri="{9D8B030D-6E8A-4147-A177-3AD203B41FA5}">
                      <a16:colId xmlns:a16="http://schemas.microsoft.com/office/drawing/2014/main" val="3129145844"/>
                    </a:ext>
                  </a:extLst>
                </a:gridCol>
              </a:tblGrid>
              <a:tr h="300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/>
                        <a:t>Acción</a:t>
                      </a:r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/>
                        <a:t>Comando Metasploit</a:t>
                      </a:r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/>
                        <a:t>Explicación</a:t>
                      </a:r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35658"/>
                  </a:ext>
                </a:extLst>
              </a:tr>
              <a:tr h="780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 b="1"/>
                        <a:t>1. Cargar el Módulo</a:t>
                      </a:r>
                      <a:endParaRPr lang="es-CL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use auxiliary/scanner/ssh/ssh_login</a:t>
                      </a:r>
                      <a:endParaRPr lang="en-US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300"/>
                        <a:t>Se carga el módulo auxiliar especializado en probar credenciales SSH.</a:t>
                      </a:r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847116"/>
                  </a:ext>
                </a:extLst>
              </a:tr>
              <a:tr h="1260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 b="1"/>
                        <a:t>2. Configurar la Víctima</a:t>
                      </a:r>
                      <a:endParaRPr lang="es-CL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>
                          <a:latin typeface="Courier New" panose="02070309020205020404" pitchFamily="49" charset="0"/>
                        </a:rPr>
                        <a:t>set RHOSTS 192.168.1.30</a:t>
                      </a:r>
                      <a:endParaRPr lang="es-CL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300"/>
                        <a:t>La dirección IP del servidor Linux (o cualquier sistema que ejecute SSH, incluso Windows).</a:t>
                      </a:r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21538"/>
                  </a:ext>
                </a:extLst>
              </a:tr>
              <a:tr h="1260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 b="1"/>
                        <a:t>3. Configurar Usuarios</a:t>
                      </a:r>
                      <a:endParaRPr lang="es-CL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>
                          <a:latin typeface="Courier New" panose="02070309020205020404" pitchFamily="49" charset="0"/>
                        </a:rPr>
                        <a:t>set USERPASS_FILE /root/Desktop/wordlists/ssh_creds.txt</a:t>
                      </a:r>
                      <a:endParaRPr lang="es-CL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300" b="1"/>
                        <a:t>OBLIGATORIO.</a:t>
                      </a:r>
                      <a:r>
                        <a:rPr lang="es-MX" sz="1300"/>
                        <a:t> Se usa un archivo de texto con la sintaxis </a:t>
                      </a:r>
                      <a:r>
                        <a:rPr lang="es-MX" sz="1300">
                          <a:latin typeface="Courier New" panose="02070309020205020404" pitchFamily="49" charset="0"/>
                        </a:rPr>
                        <a:t>usuario:contraseña</a:t>
                      </a:r>
                      <a:r>
                        <a:rPr lang="es-MX" sz="1300"/>
                        <a:t> por línea.</a:t>
                      </a:r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949573"/>
                  </a:ext>
                </a:extLst>
              </a:tr>
              <a:tr h="1020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 b="1"/>
                        <a:t>4. Opciones (Opcional)</a:t>
                      </a:r>
                      <a:endParaRPr lang="es-CL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>
                          <a:latin typeface="Courier New" panose="02070309020205020404" pitchFamily="49" charset="0"/>
                        </a:rPr>
                        <a:t>set THREADS 10</a:t>
                      </a:r>
                      <a:endParaRPr lang="es-CL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300"/>
                        <a:t>Aumenta la velocidad del ataque usando más hilos (cuidado, puede ser ruidoso).</a:t>
                      </a:r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459061"/>
                  </a:ext>
                </a:extLst>
              </a:tr>
              <a:tr h="780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 b="1"/>
                        <a:t>5. Ejecutar el Ataque</a:t>
                      </a:r>
                      <a:endParaRPr lang="es-CL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300">
                          <a:latin typeface="Courier New" panose="02070309020205020404" pitchFamily="49" charset="0"/>
                        </a:rPr>
                        <a:t>run</a:t>
                      </a:r>
                      <a:endParaRPr lang="es-CL" sz="1300"/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300" dirty="0" err="1"/>
                        <a:t>Metasploit</a:t>
                      </a:r>
                      <a:r>
                        <a:rPr lang="es-MX" sz="1300" dirty="0"/>
                        <a:t> comenzará a probar las credenciales del archivo una por una.</a:t>
                      </a:r>
                    </a:p>
                  </a:txBody>
                  <a:tcPr marL="49583" marR="49583" marT="24791" marB="24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717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01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3628722A-C6F1-61CE-59CD-46105659C333}"/>
              </a:ext>
            </a:extLst>
          </p:cNvPr>
          <p:cNvSpPr txBox="1"/>
          <p:nvPr/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ES" sz="2300" kern="1200">
                <a:latin typeface="+mj-lt"/>
                <a:ea typeface="+mj-ea"/>
                <a:cs typeface="+mj-cs"/>
              </a:rPr>
              <a:t>Resultado: Si una combinación funciona (Ej. admin:123456), Metasploit lo informará como "Login Successful" y te dará la credencial para que puedas iniciar sesión manualmente con un cliente SSH normal (como ssh admin@192.168.1.30).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8033287-A540-EFF2-25F0-20C28830B843}"/>
              </a:ext>
            </a:extLst>
          </p:cNvPr>
          <p:cNvSpPr txBox="1"/>
          <p:nvPr/>
        </p:nvSpPr>
        <p:spPr>
          <a:xfrm>
            <a:off x="1218883" y="1706880"/>
            <a:ext cx="5078677" cy="446532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marL="304747" indent="-304747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s-ES" sz="2800"/>
              <a:t>Recuerde que Linux nos otorga un archivo llamado</a:t>
            </a:r>
          </a:p>
          <a:p>
            <a:pPr marL="304747" indent="-304747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es-ES" sz="2800"/>
              <a:t>Rocku.txt el cual contiene algunas user/pass</a:t>
            </a:r>
          </a:p>
        </p:txBody>
      </p:sp>
      <p:pic>
        <p:nvPicPr>
          <p:cNvPr id="5122" name="Picture 2" descr="Understanding RockYou.txt: A Tool for Security and a Weapon for Hackers">
            <a:extLst>
              <a:ext uri="{FF2B5EF4-FFF2-40B4-BE49-F238E27FC236}">
                <a16:creationId xmlns:a16="http://schemas.microsoft.com/office/drawing/2014/main" id="{5B066956-2E19-5905-5E92-D0BBF0B12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58308" y="3356992"/>
            <a:ext cx="6989012" cy="2376264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23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Title 1">
            <a:extLst>
              <a:ext uri="{FF2B5EF4-FFF2-40B4-BE49-F238E27FC236}">
                <a16:creationId xmlns:a16="http://schemas.microsoft.com/office/drawing/2014/main" id="{D636A0B3-3F34-C65B-6E29-24D3425C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/>
          <a:lstStyle/>
          <a:p>
            <a:r>
              <a:rPr lang="en-US" dirty="0" err="1"/>
              <a:t>Otros</a:t>
            </a:r>
            <a:r>
              <a:rPr lang="en-US" dirty="0"/>
              <a:t> frameworks</a:t>
            </a:r>
          </a:p>
        </p:txBody>
      </p:sp>
      <p:pic>
        <p:nvPicPr>
          <p:cNvPr id="4098" name="Picture 2" descr="brute-force-attacks · GitHub Topics · GitHub">
            <a:extLst>
              <a:ext uri="{FF2B5EF4-FFF2-40B4-BE49-F238E27FC236}">
                <a16:creationId xmlns:a16="http://schemas.microsoft.com/office/drawing/2014/main" id="{375C87CE-903B-DF65-37D2-BE5C58DD0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29016" y="1701797"/>
            <a:ext cx="8540235" cy="4462272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238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FDF44-102E-9C00-A141-0DCBDA7C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Escenario: Ataque de Fuerza Bruta RDP (Windows)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FEB5DA-0D86-8A2E-E053-A7243434B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2564904"/>
            <a:ext cx="10360501" cy="1151139"/>
          </a:xfrm>
        </p:spPr>
        <p:txBody>
          <a:bodyPr>
            <a:normAutofit fontScale="92500"/>
          </a:bodyPr>
          <a:lstStyle/>
          <a:p>
            <a:r>
              <a:rPr lang="es-MX" dirty="0"/>
              <a:t>Si el puerto </a:t>
            </a:r>
            <a:r>
              <a:rPr lang="es-MX" b="1" dirty="0"/>
              <a:t>3389</a:t>
            </a:r>
            <a:r>
              <a:rPr lang="es-MX" dirty="0"/>
              <a:t> (Escritorio Remoto de Windows) está abierto, se puede intentar un ataque similar para obtener acceso gráfico al sistema.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200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A5E5279-CF70-AFCF-76B5-2BE2F6BDA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05520"/>
              </p:ext>
            </p:extLst>
          </p:nvPr>
        </p:nvGraphicFramePr>
        <p:xfrm>
          <a:off x="1197868" y="1052736"/>
          <a:ext cx="10081119" cy="4896545"/>
        </p:xfrm>
        <a:graphic>
          <a:graphicData uri="http://schemas.openxmlformats.org/drawingml/2006/table">
            <a:tbl>
              <a:tblPr/>
              <a:tblGrid>
                <a:gridCol w="3360373">
                  <a:extLst>
                    <a:ext uri="{9D8B030D-6E8A-4147-A177-3AD203B41FA5}">
                      <a16:colId xmlns:a16="http://schemas.microsoft.com/office/drawing/2014/main" val="1141615006"/>
                    </a:ext>
                  </a:extLst>
                </a:gridCol>
                <a:gridCol w="3360373">
                  <a:extLst>
                    <a:ext uri="{9D8B030D-6E8A-4147-A177-3AD203B41FA5}">
                      <a16:colId xmlns:a16="http://schemas.microsoft.com/office/drawing/2014/main" val="3491758940"/>
                    </a:ext>
                  </a:extLst>
                </a:gridCol>
                <a:gridCol w="3360373">
                  <a:extLst>
                    <a:ext uri="{9D8B030D-6E8A-4147-A177-3AD203B41FA5}">
                      <a16:colId xmlns:a16="http://schemas.microsoft.com/office/drawing/2014/main" val="2547929957"/>
                    </a:ext>
                  </a:extLst>
                </a:gridCol>
              </a:tblGrid>
              <a:tr h="428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/>
                        <a:t>Acción</a:t>
                      </a:r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/>
                        <a:t>Comando Metasploit</a:t>
                      </a:r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/>
                        <a:t>Explicación</a:t>
                      </a:r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137159"/>
                  </a:ext>
                </a:extLst>
              </a:tr>
              <a:tr h="1117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 b="1"/>
                        <a:t>1. Cargar el Módulo</a:t>
                      </a:r>
                      <a:endParaRPr lang="es-CL" sz="2100"/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Courier New" panose="02070309020205020404" pitchFamily="49" charset="0"/>
                        </a:rPr>
                        <a:t>use auxiliary/scanner/rdp/rdp_login</a:t>
                      </a:r>
                      <a:endParaRPr lang="en-US" sz="2100"/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100"/>
                        <a:t>Módulo especializado para probar credenciales RDP (Puerto 3389).</a:t>
                      </a:r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789553"/>
                  </a:ext>
                </a:extLst>
              </a:tr>
              <a:tr h="772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 b="1"/>
                        <a:t>2. Configurar la Víctima</a:t>
                      </a:r>
                      <a:endParaRPr lang="es-CL" sz="2100"/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>
                          <a:latin typeface="Courier New" panose="02070309020205020404" pitchFamily="49" charset="0"/>
                        </a:rPr>
                        <a:t>set RHOSTS 192.168.1.20</a:t>
                      </a:r>
                      <a:endParaRPr lang="es-CL" sz="2100"/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100"/>
                        <a:t>La dirección IP del servidor Windows.</a:t>
                      </a:r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911493"/>
                  </a:ext>
                </a:extLst>
              </a:tr>
              <a:tr h="1461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 b="1"/>
                        <a:t>3. Configurar Usuarios</a:t>
                      </a:r>
                      <a:endParaRPr lang="es-CL" sz="2100"/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>
                          <a:latin typeface="Courier New" panose="02070309020205020404" pitchFamily="49" charset="0"/>
                        </a:rPr>
                        <a:t>set USERPASS_FILE /root/Desktop/wordlists/rdp_creds.txt</a:t>
                      </a:r>
                      <a:endParaRPr lang="es-CL" sz="2100"/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/>
                        <a:t>Un archivo con la lista de credenciales a probar.</a:t>
                      </a:r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281051"/>
                  </a:ext>
                </a:extLst>
              </a:tr>
              <a:tr h="1117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 b="1"/>
                        <a:t>4. Ejecutar el Ataque</a:t>
                      </a:r>
                      <a:endParaRPr lang="es-CL" sz="2100"/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100">
                          <a:latin typeface="Courier New" panose="02070309020205020404" pitchFamily="49" charset="0"/>
                        </a:rPr>
                        <a:t>run</a:t>
                      </a:r>
                      <a:endParaRPr lang="es-CL" sz="2100"/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100" dirty="0" err="1"/>
                        <a:t>Metasploit</a:t>
                      </a:r>
                      <a:r>
                        <a:rPr lang="es-MX" sz="2100" dirty="0"/>
                        <a:t> intenta conectarse a RDP con cada credencial.</a:t>
                      </a:r>
                    </a:p>
                  </a:txBody>
                  <a:tcPr marL="78289" marR="78289" marT="39144" marB="39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298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7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37A87-B4BE-4D35-8932-18EF6661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Escalar Privilegios después de la Fuerza Bruta?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872C4B-C9AD-0A01-90EA-F1D76597D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852193" cy="4967563"/>
          </a:xfrm>
        </p:spPr>
        <p:txBody>
          <a:bodyPr>
            <a:normAutofit/>
          </a:bodyPr>
          <a:lstStyle/>
          <a:p>
            <a:r>
              <a:rPr lang="es-MX" sz="2400" dirty="0"/>
              <a:t>La fuerza bruta exitosa te da un par de credenciales (usuario y contraseña), pero ese usuario probablemente sea un usuario estándar, no un administrador o </a:t>
            </a:r>
            <a:r>
              <a:rPr lang="es-MX" sz="2400" dirty="0" err="1"/>
              <a:t>root</a:t>
            </a:r>
            <a:r>
              <a:rPr lang="es-MX" sz="2400" dirty="0"/>
              <a:t>.</a:t>
            </a:r>
          </a:p>
          <a:p>
            <a:r>
              <a:rPr lang="es-MX" sz="2400" dirty="0"/>
              <a:t>Aquí está el flujo de escalada de privilegios después de un </a:t>
            </a:r>
            <a:r>
              <a:rPr lang="es-MX" sz="2400" dirty="0" err="1"/>
              <a:t>ssh_login</a:t>
            </a:r>
            <a:r>
              <a:rPr lang="es-MX" sz="2400" dirty="0"/>
              <a:t> exitoso:</a:t>
            </a:r>
          </a:p>
          <a:p>
            <a:r>
              <a:rPr lang="es-CL" dirty="0"/>
              <a:t>-</a:t>
            </a:r>
            <a:r>
              <a:rPr lang="es-MX" sz="2400" b="1" dirty="0"/>
              <a:t>Obtener Acceso SSH:</a:t>
            </a:r>
            <a:r>
              <a:rPr lang="es-MX" sz="2400" dirty="0"/>
              <a:t> Usas el usuario y contraseña encontrados para iniciar sesión. </a:t>
            </a:r>
            <a:r>
              <a:rPr lang="es-MX" sz="2400" i="1" dirty="0" err="1"/>
              <a:t>ssh</a:t>
            </a:r>
            <a:r>
              <a:rPr lang="es-MX" sz="2400" i="1" dirty="0"/>
              <a:t> </a:t>
            </a:r>
            <a:r>
              <a:rPr lang="es-MX" sz="2400" i="1" dirty="0">
                <a:hlinkClick r:id="rId2"/>
              </a:rPr>
              <a:t>usuario_encontrado@192.168.1.30</a:t>
            </a:r>
            <a:endParaRPr lang="es-MX" sz="2400" i="1" dirty="0"/>
          </a:p>
          <a:p>
            <a:r>
              <a:rPr lang="es-MX" i="1" dirty="0"/>
              <a:t>-</a:t>
            </a:r>
            <a:r>
              <a:rPr lang="es-MX" dirty="0"/>
              <a:t>Enumeración Local: </a:t>
            </a:r>
            <a:r>
              <a:rPr lang="es-MX" sz="2400" dirty="0"/>
              <a:t>Una vez dentro de la máquina como usuario estándar, la escalada se vuelve un proceso de enumeración local y búsqueda de fallas de configuración. En Linux: Buscas archivos con permisos SUID, permisos de escritura en directorios críticos, versiones de </a:t>
            </a:r>
            <a:r>
              <a:rPr lang="es-MX" sz="2400" dirty="0" err="1"/>
              <a:t>kernel</a:t>
            </a:r>
            <a:r>
              <a:rPr lang="es-MX" sz="2400" dirty="0"/>
              <a:t> antiguas, o permisos incorrectos en el archivo /</a:t>
            </a:r>
            <a:r>
              <a:rPr lang="es-MX" sz="2400" dirty="0" err="1"/>
              <a:t>etc</a:t>
            </a:r>
            <a:r>
              <a:rPr lang="es-MX" sz="2400" dirty="0"/>
              <a:t>/</a:t>
            </a:r>
            <a:r>
              <a:rPr lang="es-MX" sz="2400" dirty="0" err="1"/>
              <a:t>sudoers</a:t>
            </a:r>
            <a:r>
              <a:rPr lang="es-MX" sz="2400" dirty="0"/>
              <a:t>. En Windows: Buscas servicios mal configurados o contraseñas en archivos de configuración.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1897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BE5EA8-570B-B59A-6626-29D9DB9C8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342" y="620688"/>
            <a:ext cx="10360501" cy="4462272"/>
          </a:xfrm>
        </p:spPr>
        <p:txBody>
          <a:bodyPr/>
          <a:lstStyle/>
          <a:p>
            <a:r>
              <a:rPr lang="es-MX" dirty="0"/>
              <a:t>Uso de Módulos de </a:t>
            </a:r>
            <a:r>
              <a:rPr lang="es-MX" dirty="0" err="1"/>
              <a:t>Metasploit</a:t>
            </a:r>
            <a:r>
              <a:rPr lang="es-MX" dirty="0"/>
              <a:t> de Post-Explotación: Puedes usar comandos como </a:t>
            </a:r>
            <a:r>
              <a:rPr lang="es-MX" dirty="0" err="1"/>
              <a:t>sessions</a:t>
            </a:r>
            <a:r>
              <a:rPr lang="es-MX" dirty="0"/>
              <a:t> -u 1 (para actualizar la sesión) y luego usar módulos internos de </a:t>
            </a:r>
            <a:r>
              <a:rPr lang="es-MX" dirty="0" err="1"/>
              <a:t>Meterpreter</a:t>
            </a:r>
            <a:r>
              <a:rPr lang="es-MX" dirty="0"/>
              <a:t> para buscar automáticamente fallas de escalad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AFB2BD-B380-584C-0FD5-D7FC83A3F9F2}"/>
              </a:ext>
            </a:extLst>
          </p:cNvPr>
          <p:cNvSpPr txBox="1"/>
          <p:nvPr/>
        </p:nvSpPr>
        <p:spPr>
          <a:xfrm>
            <a:off x="1025970" y="2348880"/>
            <a:ext cx="103605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Meterpreter</a:t>
            </a:r>
            <a:r>
              <a:rPr lang="es-CL" dirty="0"/>
              <a:t> te permite usar el comando </a:t>
            </a:r>
            <a:r>
              <a:rPr lang="es-CL" dirty="0" err="1"/>
              <a:t>getsystem</a:t>
            </a:r>
            <a:r>
              <a:rPr lang="es-CL" dirty="0"/>
              <a:t>, pero solo si tienes una sesión </a:t>
            </a:r>
            <a:r>
              <a:rPr lang="es-CL" dirty="0" err="1"/>
              <a:t>Meterpreter</a:t>
            </a:r>
            <a:r>
              <a:rPr lang="es-CL" dirty="0"/>
              <a:t> (Lo cual no ocurre directamente con </a:t>
            </a:r>
            <a:r>
              <a:rPr lang="es-CL" dirty="0" err="1"/>
              <a:t>ssh_login</a:t>
            </a:r>
            <a:r>
              <a:rPr lang="es-CL" dirty="0"/>
              <a:t>, pero puedes migrar a </a:t>
            </a:r>
            <a:r>
              <a:rPr lang="es-CL" dirty="0" err="1"/>
              <a:t>Meterpreter</a:t>
            </a:r>
            <a:r>
              <a:rPr lang="es-CL" dirty="0"/>
              <a:t>)</a:t>
            </a:r>
          </a:p>
          <a:p>
            <a:endParaRPr lang="es-CL" dirty="0"/>
          </a:p>
          <a:p>
            <a:r>
              <a:rPr lang="es-CL" dirty="0"/>
              <a:t>Para la clase, enfócate en la enumeración manual (scripts como LinEnum.sh)</a:t>
            </a:r>
          </a:p>
          <a:p>
            <a:r>
              <a:rPr lang="es-CL" dirty="0"/>
              <a:t>y luego, si encuentran una vulnerabilidad, usar el </a:t>
            </a:r>
            <a:r>
              <a:rPr lang="es-CL" dirty="0" err="1"/>
              <a:t>exploit</a:t>
            </a:r>
            <a:r>
              <a:rPr lang="es-CL" dirty="0"/>
              <a:t> LOCAL de </a:t>
            </a:r>
            <a:r>
              <a:rPr lang="es-CL" dirty="0" err="1"/>
              <a:t>Metasploit</a:t>
            </a:r>
            <a:r>
              <a:rPr lang="es-CL" dirty="0"/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972F4F-90EC-AED8-C54E-A0F98CA260A2}"/>
              </a:ext>
            </a:extLst>
          </p:cNvPr>
          <p:cNvSpPr txBox="1"/>
          <p:nvPr/>
        </p:nvSpPr>
        <p:spPr>
          <a:xfrm>
            <a:off x="5230316" y="4676866"/>
            <a:ext cx="61090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En resumen, la fuerza bruta es la herramienta cuando el código es fuerte, pero las </a:t>
            </a:r>
            <a:r>
              <a:rPr lang="es-MX" b="1" dirty="0"/>
              <a:t>contraseñas son débiles</a:t>
            </a:r>
            <a:r>
              <a:rPr lang="es-MX" dirty="0"/>
              <a:t>. La escalada de privilegios es la herramienta cuando el </a:t>
            </a:r>
            <a:r>
              <a:rPr lang="es-MX" b="1" dirty="0"/>
              <a:t>usuario</a:t>
            </a:r>
            <a:r>
              <a:rPr lang="es-MX" dirty="0"/>
              <a:t> es débil, pero el </a:t>
            </a:r>
            <a:r>
              <a:rPr lang="es-MX" b="1" dirty="0"/>
              <a:t>sistema</a:t>
            </a:r>
            <a:r>
              <a:rPr lang="es-MX" dirty="0"/>
              <a:t> es fuerte.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4360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4EF14C5-90F5-4495-2250-28628EAC0C0F}"/>
              </a:ext>
            </a:extLst>
          </p:cNvPr>
          <p:cNvSpPr txBox="1"/>
          <p:nvPr/>
        </p:nvSpPr>
        <p:spPr>
          <a:xfrm>
            <a:off x="909836" y="1556792"/>
            <a:ext cx="108732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Objetivo del Escenario:</a:t>
            </a:r>
          </a:p>
          <a:p>
            <a:r>
              <a:rPr lang="es-CL" dirty="0"/>
              <a:t>Romper la contraseña de un usuario en un servidor Linux de prueba que tiene el puerto 22 (SSH) abierto, utilizando un ataque de diccionario. </a:t>
            </a:r>
          </a:p>
          <a:p>
            <a:r>
              <a:rPr lang="es-CL" dirty="0"/>
              <a:t>Requisitos Previos:</a:t>
            </a:r>
          </a:p>
          <a:p>
            <a:r>
              <a:rPr lang="es-CL" dirty="0"/>
              <a:t> (Asumiendo Kali Linux) Máquina Atacante: Tu máquina con Hydra instalado (Ej. Kali Linux). Máquina Víctima: Un servidor Linux de prueba con SSH activo (IP ficticia: 192.168.1.50). Archivos de Diccionario: </a:t>
            </a:r>
          </a:p>
          <a:p>
            <a:r>
              <a:rPr lang="es-CL" dirty="0"/>
              <a:t>Necesitas una lista de usuarios (users.txt) y una lista de contraseñas (passwords.txt).</a:t>
            </a:r>
          </a:p>
        </p:txBody>
      </p:sp>
    </p:spTree>
    <p:extLst>
      <p:ext uri="{BB962C8B-B14F-4D97-AF65-F5344CB8AC3E}">
        <p14:creationId xmlns:p14="http://schemas.microsoft.com/office/powerpoint/2010/main" val="3104395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C714FDF-EF9B-3741-8C55-5F581FE68F5B}"/>
              </a:ext>
            </a:extLst>
          </p:cNvPr>
          <p:cNvSpPr txBox="1"/>
          <p:nvPr/>
        </p:nvSpPr>
        <p:spPr>
          <a:xfrm>
            <a:off x="909836" y="404664"/>
            <a:ext cx="108732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2000" b="1" dirty="0"/>
              <a:t>Reconocimiento (Verificar el Objetivo)</a:t>
            </a:r>
          </a:p>
          <a:p>
            <a:pPr>
              <a:buNone/>
            </a:pPr>
            <a:r>
              <a:rPr lang="es-MX" sz="2000" dirty="0"/>
              <a:t>Antes de atacar, confirmamos que el servicio SSH está activo en la máquina víctima.</a:t>
            </a:r>
          </a:p>
          <a:p>
            <a:pPr>
              <a:buFont typeface="+mj-lt"/>
              <a:buAutoNum type="arabicPeriod"/>
            </a:pPr>
            <a:r>
              <a:rPr lang="es-MX" sz="2000" b="1" dirty="0"/>
              <a:t>Abrir la Terminal</a:t>
            </a:r>
            <a:r>
              <a:rPr lang="es-MX" sz="2000" dirty="0"/>
              <a:t> en tu máquina de ataque.</a:t>
            </a:r>
          </a:p>
          <a:p>
            <a:pPr>
              <a:buFont typeface="+mj-lt"/>
              <a:buAutoNum type="arabicPeriod"/>
            </a:pPr>
            <a:r>
              <a:rPr lang="es-MX" sz="2000" b="1" dirty="0"/>
              <a:t>Escaneo Básico con </a:t>
            </a:r>
            <a:r>
              <a:rPr lang="es-MX" sz="2000" b="1" dirty="0" err="1"/>
              <a:t>Nmap</a:t>
            </a:r>
            <a:r>
              <a:rPr lang="es-MX" sz="2000" b="1" dirty="0"/>
              <a:t>:</a:t>
            </a:r>
            <a:endParaRPr lang="es-MX" sz="20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19AB9B2-6605-5F17-8ECB-ADF4126A7563}"/>
              </a:ext>
            </a:extLst>
          </p:cNvPr>
          <p:cNvSpPr txBox="1"/>
          <p:nvPr/>
        </p:nvSpPr>
        <p:spPr>
          <a:xfrm>
            <a:off x="909836" y="1728103"/>
            <a:ext cx="108732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b="1" dirty="0"/>
              <a:t>Preparación de los Diccionarios</a:t>
            </a:r>
          </a:p>
          <a:p>
            <a:r>
              <a:rPr lang="es-CL" sz="2000" b="1" dirty="0"/>
              <a:t> </a:t>
            </a:r>
            <a:r>
              <a:rPr lang="es-CL" sz="2000" dirty="0"/>
              <a:t>La calidad del ataque depende de la calidad de tus listas. Usaremos dos archivos simples para el ejercicio. Crear la Lista de Usuarios (users.txt) Crea un archivo de texto llamado users.txt y pon un usuario por línea. Intenta con nombres comunes o usuarios que encontraste en la fase de reconocimiento.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EE0911-28B3-EC96-E298-DD8A88FB919B}"/>
              </a:ext>
            </a:extLst>
          </p:cNvPr>
          <p:cNvSpPr txBox="1"/>
          <p:nvPr/>
        </p:nvSpPr>
        <p:spPr>
          <a:xfrm>
            <a:off x="3291909" y="3465957"/>
            <a:ext cx="61090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# Contenido de users.txt:</a:t>
            </a:r>
          </a:p>
          <a:p>
            <a:r>
              <a:rPr lang="es-CL" dirty="0" err="1"/>
              <a:t>admin</a:t>
            </a:r>
            <a:endParaRPr lang="es-CL" dirty="0"/>
          </a:p>
          <a:p>
            <a:r>
              <a:rPr lang="es-CL" dirty="0" err="1"/>
              <a:t>testuser</a:t>
            </a:r>
            <a:endParaRPr lang="es-CL" dirty="0"/>
          </a:p>
          <a:p>
            <a:r>
              <a:rPr lang="es-CL" dirty="0" err="1"/>
              <a:t>sysadmin</a:t>
            </a:r>
            <a:endParaRPr lang="es-CL" dirty="0"/>
          </a:p>
          <a:p>
            <a:r>
              <a:rPr lang="es-CL" dirty="0" err="1"/>
              <a:t>juanperez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3645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2F67483-53B7-C611-BCA2-7F905410151C}"/>
              </a:ext>
            </a:extLst>
          </p:cNvPr>
          <p:cNvSpPr txBox="1"/>
          <p:nvPr/>
        </p:nvSpPr>
        <p:spPr>
          <a:xfrm>
            <a:off x="909836" y="620688"/>
            <a:ext cx="10873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b="1" dirty="0"/>
              <a:t>Crear la Lista de Contraseñas </a:t>
            </a:r>
            <a:r>
              <a:rPr lang="es-CL" sz="2000" dirty="0"/>
              <a:t>(passwords.txt) Crea un archivo de texto llamado passwords.txt y pon una contraseña por línea. Asegúrate de incluir la contraseña correcta para fines de la prueba (Ej. password123).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AE0AC7-6EE1-3335-9F06-EF3D00A9E04D}"/>
              </a:ext>
            </a:extLst>
          </p:cNvPr>
          <p:cNvSpPr txBox="1"/>
          <p:nvPr/>
        </p:nvSpPr>
        <p:spPr>
          <a:xfrm>
            <a:off x="2422004" y="1916832"/>
            <a:ext cx="73448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# Contenido de passwords.txt:</a:t>
            </a:r>
          </a:p>
          <a:p>
            <a:r>
              <a:rPr lang="es-CL" dirty="0"/>
              <a:t>123456</a:t>
            </a:r>
          </a:p>
          <a:p>
            <a:r>
              <a:rPr lang="es-CL" dirty="0" err="1"/>
              <a:t>qwerty</a:t>
            </a:r>
            <a:endParaRPr lang="es-CL" dirty="0"/>
          </a:p>
          <a:p>
            <a:r>
              <a:rPr lang="es-CL" dirty="0" err="1"/>
              <a:t>password</a:t>
            </a:r>
            <a:endParaRPr lang="es-CL" dirty="0"/>
          </a:p>
          <a:p>
            <a:r>
              <a:rPr lang="es-CL" dirty="0"/>
              <a:t>password123    # &lt;-- Esta es la correcta para el ejercicio</a:t>
            </a:r>
          </a:p>
          <a:p>
            <a:r>
              <a:rPr lang="es-CL" dirty="0"/>
              <a:t>verano2024</a:t>
            </a:r>
          </a:p>
        </p:txBody>
      </p:sp>
    </p:spTree>
    <p:extLst>
      <p:ext uri="{BB962C8B-B14F-4D97-AF65-F5344CB8AC3E}">
        <p14:creationId xmlns:p14="http://schemas.microsoft.com/office/powerpoint/2010/main" val="123897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9A4BF8F-AA22-61EE-3346-A23E7DB28455}"/>
              </a:ext>
            </a:extLst>
          </p:cNvPr>
          <p:cNvSpPr txBox="1"/>
          <p:nvPr/>
        </p:nvSpPr>
        <p:spPr>
          <a:xfrm>
            <a:off x="1053852" y="404664"/>
            <a:ext cx="106571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Ejecución de Hydra</a:t>
            </a:r>
          </a:p>
          <a:p>
            <a:pPr>
              <a:buNone/>
            </a:pPr>
            <a:r>
              <a:rPr lang="es-MX" dirty="0"/>
              <a:t>Usamos el comando </a:t>
            </a:r>
            <a:r>
              <a:rPr lang="es-MX" b="1" i="1" dirty="0" err="1"/>
              <a:t>hydra</a:t>
            </a:r>
            <a:r>
              <a:rPr lang="es-MX" dirty="0"/>
              <a:t> para que intente todas las combinaciones posibles de usuarios de </a:t>
            </a:r>
            <a:r>
              <a:rPr lang="es-MX" i="1" dirty="0">
                <a:latin typeface="Courier New" panose="02070309020205020404" pitchFamily="49" charset="0"/>
              </a:rPr>
              <a:t>users.txt</a:t>
            </a:r>
            <a:r>
              <a:rPr lang="es-MX" i="1" dirty="0"/>
              <a:t> </a:t>
            </a:r>
            <a:r>
              <a:rPr lang="es-MX" dirty="0"/>
              <a:t>con las contraseñas de </a:t>
            </a:r>
            <a:r>
              <a:rPr lang="es-MX" i="1" dirty="0">
                <a:latin typeface="Courier New" panose="02070309020205020404" pitchFamily="49" charset="0"/>
              </a:rPr>
              <a:t>passwords.txt</a:t>
            </a:r>
            <a:r>
              <a:rPr lang="es-MX" i="1" dirty="0"/>
              <a:t> </a:t>
            </a:r>
            <a:r>
              <a:rPr lang="es-MX" dirty="0"/>
              <a:t>contra el servicio SSH del objetivo.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400BF5-1E2D-EDD6-393C-41B622C245DF}"/>
              </a:ext>
            </a:extLst>
          </p:cNvPr>
          <p:cNvSpPr txBox="1"/>
          <p:nvPr/>
        </p:nvSpPr>
        <p:spPr>
          <a:xfrm>
            <a:off x="1060066" y="2228671"/>
            <a:ext cx="10866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hydra</a:t>
            </a:r>
            <a:r>
              <a:rPr lang="es-CL" dirty="0"/>
              <a:t> -L &lt;</a:t>
            </a:r>
            <a:r>
              <a:rPr lang="es-CL" dirty="0" err="1"/>
              <a:t>ArchivoUsuarios</a:t>
            </a:r>
            <a:r>
              <a:rPr lang="es-CL" dirty="0"/>
              <a:t>&gt; -P &lt;</a:t>
            </a:r>
            <a:r>
              <a:rPr lang="es-CL" dirty="0" err="1"/>
              <a:t>ArchivoContraseñas</a:t>
            </a:r>
            <a:r>
              <a:rPr lang="es-CL" dirty="0"/>
              <a:t>&gt; &lt;IP Objetivo&gt; &lt;Protocolo&gt;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61A7D4-8B89-41B0-D3FE-E536D34C0741}"/>
              </a:ext>
            </a:extLst>
          </p:cNvPr>
          <p:cNvSpPr txBox="1"/>
          <p:nvPr/>
        </p:nvSpPr>
        <p:spPr>
          <a:xfrm>
            <a:off x="1053852" y="2852936"/>
            <a:ext cx="10729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El Comando</a:t>
            </a:r>
          </a:p>
          <a:p>
            <a:pPr>
              <a:buNone/>
            </a:pPr>
            <a:r>
              <a:rPr lang="es-MX" dirty="0"/>
              <a:t>Ejecuta el siguiente comando en tu terminal, asumiendo que tus listas están en tu directorio actual: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70DED6-4234-118D-D168-937BEE99FB1D}"/>
              </a:ext>
            </a:extLst>
          </p:cNvPr>
          <p:cNvSpPr txBox="1"/>
          <p:nvPr/>
        </p:nvSpPr>
        <p:spPr>
          <a:xfrm>
            <a:off x="1047976" y="4167665"/>
            <a:ext cx="96549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hydra</a:t>
            </a:r>
            <a:r>
              <a:rPr lang="es-CL" dirty="0"/>
              <a:t> -L users.txt -P passwords.txt 192.168.1.50 </a:t>
            </a:r>
            <a:r>
              <a:rPr lang="es-CL" dirty="0" err="1"/>
              <a:t>ssh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72913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266A082-9EFD-D9AA-67E3-B3E5760D8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64687"/>
              </p:ext>
            </p:extLst>
          </p:nvPr>
        </p:nvGraphicFramePr>
        <p:xfrm>
          <a:off x="1125860" y="548680"/>
          <a:ext cx="10360024" cy="2651760"/>
        </p:xfrm>
        <a:graphic>
          <a:graphicData uri="http://schemas.openxmlformats.org/drawingml/2006/table">
            <a:tbl>
              <a:tblPr/>
              <a:tblGrid>
                <a:gridCol w="5180012">
                  <a:extLst>
                    <a:ext uri="{9D8B030D-6E8A-4147-A177-3AD203B41FA5}">
                      <a16:colId xmlns:a16="http://schemas.microsoft.com/office/drawing/2014/main" val="2834469421"/>
                    </a:ext>
                  </a:extLst>
                </a:gridCol>
                <a:gridCol w="5180012">
                  <a:extLst>
                    <a:ext uri="{9D8B030D-6E8A-4147-A177-3AD203B41FA5}">
                      <a16:colId xmlns:a16="http://schemas.microsoft.com/office/drawing/2014/main" val="282755118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/>
                        <a:t>Parámetro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/>
                        <a:t>Significado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679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 dirty="0">
                          <a:latin typeface="Courier New" panose="02070309020205020404" pitchFamily="49" charset="0"/>
                        </a:rPr>
                        <a:t>-L users.txt</a:t>
                      </a:r>
                      <a:endParaRPr lang="es-CL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400"/>
                        <a:t>Indica la lista de </a:t>
                      </a:r>
                      <a:r>
                        <a:rPr lang="es-MX" sz="2400" b="1"/>
                        <a:t>Usuarios</a:t>
                      </a:r>
                      <a:r>
                        <a:rPr lang="es-MX" sz="2400"/>
                        <a:t> (</a:t>
                      </a:r>
                      <a:r>
                        <a:rPr lang="es-MX" sz="2400">
                          <a:latin typeface="Courier New" panose="02070309020205020404" pitchFamily="49" charset="0"/>
                        </a:rPr>
                        <a:t>Login</a:t>
                      </a:r>
                      <a:r>
                        <a:rPr lang="es-MX" sz="2400"/>
                        <a:t>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00597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Courier New" panose="02070309020205020404" pitchFamily="49" charset="0"/>
                        </a:rPr>
                        <a:t>-P passwords.txt</a:t>
                      </a:r>
                      <a:endParaRPr lang="es-CL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400"/>
                        <a:t>Indica la lista de </a:t>
                      </a:r>
                      <a:r>
                        <a:rPr lang="es-MX" sz="2400" b="1"/>
                        <a:t>Contraseñas</a:t>
                      </a:r>
                      <a:r>
                        <a:rPr lang="es-MX" sz="2400"/>
                        <a:t> (</a:t>
                      </a:r>
                      <a:r>
                        <a:rPr lang="es-MX" sz="2400">
                          <a:latin typeface="Courier New" panose="02070309020205020404" pitchFamily="49" charset="0"/>
                        </a:rPr>
                        <a:t>Password</a:t>
                      </a:r>
                      <a:r>
                        <a:rPr lang="es-MX" sz="2400"/>
                        <a:t>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4748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Courier New" panose="02070309020205020404" pitchFamily="49" charset="0"/>
                        </a:rPr>
                        <a:t>192.168.1.50</a:t>
                      </a:r>
                      <a:endParaRPr lang="es-CL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400"/>
                        <a:t>La IP del servidor SSH víctima.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08565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2400" b="1">
                          <a:latin typeface="Courier New" panose="02070309020205020404" pitchFamily="49" charset="0"/>
                        </a:rPr>
                        <a:t>ssh</a:t>
                      </a:r>
                      <a:endParaRPr lang="es-CL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2400" dirty="0"/>
                        <a:t>El protocolo de red a atacar.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08708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D80B9DE4-347B-998C-BAA3-DD7EB6ABF25C}"/>
              </a:ext>
            </a:extLst>
          </p:cNvPr>
          <p:cNvSpPr txBox="1"/>
          <p:nvPr/>
        </p:nvSpPr>
        <p:spPr>
          <a:xfrm>
            <a:off x="981844" y="3431110"/>
            <a:ext cx="10729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Opciones Adicionales Útiles -t 4: Limita a 4 el número de tareas (conexiones) simultáneas. (Útil para ser menos "ruidoso"). -V: Muestra cada intento de </a:t>
            </a:r>
            <a:r>
              <a:rPr lang="es-CL" dirty="0" err="1"/>
              <a:t>login</a:t>
            </a:r>
            <a:r>
              <a:rPr lang="es-CL" dirty="0"/>
              <a:t> que realiza Hydra (verbose).</a:t>
            </a:r>
          </a:p>
        </p:txBody>
      </p:sp>
    </p:spTree>
    <p:extLst>
      <p:ext uri="{BB962C8B-B14F-4D97-AF65-F5344CB8AC3E}">
        <p14:creationId xmlns:p14="http://schemas.microsoft.com/office/powerpoint/2010/main" val="252507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D3C5946-724F-70E7-5679-87CF1C76234B}"/>
              </a:ext>
            </a:extLst>
          </p:cNvPr>
          <p:cNvSpPr txBox="1"/>
          <p:nvPr/>
        </p:nvSpPr>
        <p:spPr>
          <a:xfrm>
            <a:off x="909836" y="400375"/>
            <a:ext cx="108732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Análisis de Resultados</a:t>
            </a:r>
          </a:p>
          <a:p>
            <a:pPr>
              <a:buNone/>
            </a:pPr>
            <a:r>
              <a:rPr lang="es-MX" dirty="0"/>
              <a:t>Hydra trabajará probando las combinaciones. El ataque finalizará cuando agote todas las opciones o, con suerte, cuando encuentre las credenciales correctas.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Resultado Exitoso:</a:t>
            </a:r>
            <a:r>
              <a:rPr lang="es-MX" dirty="0"/>
              <a:t> Hydra se detendrá y mostrará una línea resaltada (generalmente en color) indicando las credenciales encontradas.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41901CA-2AA1-9A19-BF6C-CC9A391768A0}"/>
              </a:ext>
            </a:extLst>
          </p:cNvPr>
          <p:cNvSpPr txBox="1"/>
          <p:nvPr/>
        </p:nvSpPr>
        <p:spPr>
          <a:xfrm>
            <a:off x="3039881" y="2564904"/>
            <a:ext cx="61090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[22][</a:t>
            </a:r>
            <a:r>
              <a:rPr lang="es-CL" dirty="0" err="1"/>
              <a:t>ssh</a:t>
            </a:r>
            <a:r>
              <a:rPr lang="es-CL" dirty="0"/>
              <a:t>] host: 192.168.1.50 </a:t>
            </a:r>
            <a:r>
              <a:rPr lang="es-CL" dirty="0" err="1"/>
              <a:t>login</a:t>
            </a:r>
            <a:r>
              <a:rPr lang="es-CL" dirty="0"/>
              <a:t>: </a:t>
            </a:r>
            <a:r>
              <a:rPr lang="es-CL" dirty="0" err="1"/>
              <a:t>testuser</a:t>
            </a:r>
            <a:r>
              <a:rPr lang="es-CL" dirty="0"/>
              <a:t> </a:t>
            </a:r>
            <a:r>
              <a:rPr lang="es-CL" dirty="0" err="1"/>
              <a:t>password</a:t>
            </a:r>
            <a:r>
              <a:rPr lang="es-CL" dirty="0"/>
              <a:t>: password123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E42B37-F3E4-18FA-52CA-AD7240AF0A3F}"/>
              </a:ext>
            </a:extLst>
          </p:cNvPr>
          <p:cNvSpPr txBox="1"/>
          <p:nvPr/>
        </p:nvSpPr>
        <p:spPr>
          <a:xfrm>
            <a:off x="1053852" y="3621438"/>
            <a:ext cx="108732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Verificación del Acceso</a:t>
            </a:r>
          </a:p>
          <a:p>
            <a:pPr>
              <a:buNone/>
            </a:pPr>
            <a:r>
              <a:rPr lang="es-MX" dirty="0"/>
              <a:t>Una vez que tengas el usuario y la contraseña, puedes verificar el acceso usando el cliente SSH estándar: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FBA38B-E9BF-060E-9BD4-638A0760C95A}"/>
              </a:ext>
            </a:extLst>
          </p:cNvPr>
          <p:cNvSpPr txBox="1"/>
          <p:nvPr/>
        </p:nvSpPr>
        <p:spPr>
          <a:xfrm>
            <a:off x="2926060" y="4821767"/>
            <a:ext cx="61090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/>
              <a:t>ssh</a:t>
            </a:r>
            <a:r>
              <a:rPr lang="es-CL" dirty="0"/>
              <a:t> testuser@192.168.1.50</a:t>
            </a:r>
          </a:p>
          <a:p>
            <a:r>
              <a:rPr lang="es-CL" dirty="0"/>
              <a:t># Cuando se te pida la contraseña, introduce: password123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075A61C-790B-E750-A8ED-0A12F9D9F32A}"/>
              </a:ext>
            </a:extLst>
          </p:cNvPr>
          <p:cNvSpPr txBox="1"/>
          <p:nvPr/>
        </p:nvSpPr>
        <p:spPr>
          <a:xfrm>
            <a:off x="765820" y="5949280"/>
            <a:ext cx="11737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Resultado:</a:t>
            </a:r>
            <a:r>
              <a:rPr lang="es-MX" dirty="0"/>
              <a:t> Si la contraseña funciona, habrás obtenido una </a:t>
            </a:r>
            <a:r>
              <a:rPr lang="es-MX" dirty="0" err="1">
                <a:latin typeface="Courier New" panose="02070309020205020404" pitchFamily="49" charset="0"/>
              </a:rPr>
              <a:t>shell</a:t>
            </a:r>
            <a:r>
              <a:rPr lang="es-MX" dirty="0"/>
              <a:t> remota en el sistema víctima, logrando el acceso.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1332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8521135-C308-D2E7-C915-81D2BEDE3F6E}"/>
              </a:ext>
            </a:extLst>
          </p:cNvPr>
          <p:cNvSpPr txBox="1"/>
          <p:nvPr/>
        </p:nvSpPr>
        <p:spPr>
          <a:xfrm>
            <a:off x="1125860" y="404665"/>
            <a:ext cx="106571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Punto de Ética y Riesgo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Riesgo de Bloqueo:</a:t>
            </a:r>
            <a:r>
              <a:rPr lang="es-MX" dirty="0"/>
              <a:t> En sistemas reales, los servidores SSH suelen tener </a:t>
            </a:r>
            <a:r>
              <a:rPr lang="es-MX" b="1" dirty="0"/>
              <a:t>mecanismos de defensa</a:t>
            </a:r>
            <a:r>
              <a:rPr lang="es-MX" dirty="0"/>
              <a:t> que bloquean la IP de un atacante después de 3 o 5 intentos fallidos. Hydra, al ser rápido, puede ser fácilmente detectado y bloqueado.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Propósito:</a:t>
            </a:r>
            <a:r>
              <a:rPr lang="es-MX" dirty="0"/>
              <a:t> Esta técnica se usa para demostrar la debilidad de las contraseñas, no para eludir defensas robustas.</a:t>
            </a:r>
          </a:p>
          <a:p>
            <a:pPr>
              <a:buNone/>
            </a:pPr>
            <a:r>
              <a:rPr lang="es-MX" dirty="0"/>
              <a:t>Ahora que has visto cómo obtener una </a:t>
            </a:r>
            <a:r>
              <a:rPr lang="es-MX" dirty="0" err="1">
                <a:latin typeface="Courier New" panose="02070309020205020404" pitchFamily="49" charset="0"/>
              </a:rPr>
              <a:t>shell</a:t>
            </a:r>
            <a:r>
              <a:rPr lang="es-MX" dirty="0"/>
              <a:t> mediante un ataque de autenticación (fuerza bruta), el siguiente paso lógico es la </a:t>
            </a:r>
            <a:r>
              <a:rPr lang="es-MX" b="1" dirty="0"/>
              <a:t>Escalada de Privilegios</a:t>
            </a:r>
            <a:r>
              <a:rPr lang="es-MX" dirty="0"/>
              <a:t>, ya que el usuario </a:t>
            </a:r>
            <a:r>
              <a:rPr lang="es-MX" dirty="0" err="1">
                <a:latin typeface="Courier New" panose="02070309020205020404" pitchFamily="49" charset="0"/>
              </a:rPr>
              <a:t>testuser</a:t>
            </a:r>
            <a:r>
              <a:rPr lang="es-MX" dirty="0"/>
              <a:t> probablemente no sea un administrador. </a:t>
            </a:r>
          </a:p>
        </p:txBody>
      </p:sp>
    </p:spTree>
    <p:extLst>
      <p:ext uri="{BB962C8B-B14F-4D97-AF65-F5344CB8AC3E}">
        <p14:creationId xmlns:p14="http://schemas.microsoft.com/office/powerpoint/2010/main" val="134436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í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60_TF02787990_TF02787990.potx" id="{711CCDD4-BD90-4388-A31E-EA977055FCFF}" vid="{C5F9FE6A-8390-4E5A-B0DB-91EA047CC61C}"/>
    </a:ext>
  </a:extLst>
</a:theme>
</file>

<file path=ppt/theme/theme2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líneas de triple circuito (panorámica)</Template>
  <TotalTime>94</TotalTime>
  <Words>1464</Words>
  <Application>Microsoft Office PowerPoint</Application>
  <PresentationFormat>Personalizado</PresentationFormat>
  <Paragraphs>116</Paragraphs>
  <Slides>18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Tecnología 16x9</vt:lpstr>
      <vt:lpstr>Brute Force</vt:lpstr>
      <vt:lpstr>Pero qué es?</vt:lpstr>
      <vt:lpstr>Fuerza Bruta con Metasploit (SSH y RDP)</vt:lpstr>
      <vt:lpstr>Flujo de trabajo</vt:lpstr>
      <vt:lpstr>Presentación de PowerPoint</vt:lpstr>
      <vt:lpstr>Presentación de PowerPoint</vt:lpstr>
      <vt:lpstr>Otros frameworks</vt:lpstr>
      <vt:lpstr>Escenario: Ataque de Fuerza Bruta RDP (Windows)</vt:lpstr>
      <vt:lpstr>Presentación de PowerPoint</vt:lpstr>
      <vt:lpstr>¿Cómo Escalar Privilegios después de la Fuerza Bruta?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Ignacio Carrasco Zura</dc:creator>
  <cp:lastModifiedBy>Patricio Ignacio Carrasco Zura</cp:lastModifiedBy>
  <cp:revision>1</cp:revision>
  <dcterms:created xsi:type="dcterms:W3CDTF">2025-10-08T23:06:26Z</dcterms:created>
  <dcterms:modified xsi:type="dcterms:W3CDTF">2025-10-09T00:41:25Z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