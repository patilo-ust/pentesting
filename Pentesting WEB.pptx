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9"/>
  </p:notesMasterIdLst>
  <p:handoutMasterIdLst>
    <p:handoutMasterId r:id="rId20"/>
  </p:handoutMasterIdLst>
  <p:sldIdLst>
    <p:sldId id="25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</p:sldIdLst>
  <p:sldSz cx="12188825" cy="6858000"/>
  <p:notesSz cx="6858000" cy="9144000"/>
  <p:defaultTextStyle>
    <a:defPPr rtl="0">
      <a:defRPr lang="es-e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7" autoAdjust="0"/>
    <p:restoredTop sz="96395" autoAdjust="0"/>
  </p:normalViewPr>
  <p:slideViewPr>
    <p:cSldViewPr>
      <p:cViewPr varScale="1">
        <p:scale>
          <a:sx n="79" d="100"/>
          <a:sy n="79" d="100"/>
        </p:scale>
        <p:origin x="110" y="93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8" d="100"/>
          <a:sy n="88" d="100"/>
        </p:scale>
        <p:origin x="2478" y="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C8F1D84B-F747-4821-8617-FBD61E8F4308}" type="datetime1">
              <a:rPr lang="es-ES" smtClean="0"/>
              <a:t>17/11/2025</a:t>
            </a:fld>
            <a:endParaRPr lang="es-ES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79429053-DC2A-4342-ADD4-2FD729D91E2C}" type="slidenum">
              <a:rPr lang="es-ES" smtClean="0"/>
              <a:pPr algn="r"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DA87C823-BB9F-45DA-99AB-416A32E1B948}" type="datetime1">
              <a:rPr lang="es-ES" noProof="0" smtClean="0"/>
              <a:pPr/>
              <a:t>17/11/2025</a:t>
            </a:fld>
            <a:endParaRPr lang="es-ES" noProof="0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el estilo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3EBA5BD7-F043-4D1B-AA17-CD412FC534DE}" type="slidenum">
              <a:rPr lang="es-ES" noProof="0" smtClean="0"/>
              <a:pPr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smtClean="0"/>
              <a:pPr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88672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smtClean="0"/>
              <a:pPr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7451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e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Conector recto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Conector recto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Conector recto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líneas inferior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orma libre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s-ES" noProof="0" dirty="0"/>
            </a:p>
          </p:txBody>
        </p:sp>
        <p:sp>
          <p:nvSpPr>
            <p:cNvPr id="10" name="Forma libre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s-ES" noProof="0" dirty="0"/>
            </a:p>
          </p:txBody>
        </p:sp>
        <p:sp>
          <p:nvSpPr>
            <p:cNvPr id="11" name="Forma libre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s-ES" noProof="0" dirty="0"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 algn="l" rtl="0"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22" name="Marcador de posición de fecha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042E67D-14C0-4ED9-A218-9C14494A6A84}" type="datetime1">
              <a:rPr lang="es-ES" noProof="0" smtClean="0"/>
              <a:pPr/>
              <a:t>17/11/2025</a:t>
            </a:fld>
            <a:endParaRPr lang="es-ES" noProof="0" dirty="0"/>
          </a:p>
        </p:txBody>
      </p:sp>
      <p:sp>
        <p:nvSpPr>
          <p:cNvPr id="23" name="Marcador de posición de pie de página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24" name="Marcador de posición de número de diapositiva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2E48AAE-5AE8-418A-A225-B506C222F2F9}" type="datetime1">
              <a:rPr lang="es-ES" noProof="0" smtClean="0"/>
              <a:pPr/>
              <a:t>17/11/2025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e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Conector recto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Conector recto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ector recto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A1D35CA-82F5-4AD4-B9EC-66E805B73542}" type="datetime1">
              <a:rPr lang="es-ES" noProof="0" smtClean="0"/>
              <a:pPr/>
              <a:t>17/11/2025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/>
            </a:lvl8pPr>
            <a:lvl9pPr algn="l" rtl="0">
              <a:defRPr sz="2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34CCE92-710B-4678-B1B1-EFCAA5CDF075}" type="datetime1">
              <a:rPr lang="es-ES" noProof="0" smtClean="0"/>
              <a:pPr/>
              <a:t>17/11/2025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 baseline="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3FB0F2C-25D9-4D7E-B43A-29A2E16C960D}" type="datetime1">
              <a:rPr lang="es-ES" noProof="0" smtClean="0"/>
              <a:pPr/>
              <a:t>17/11/2025</a:t>
            </a:fld>
            <a:endParaRPr lang="es-ES" noProof="0" dirty="0"/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9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D34687D-B11B-47A5-95F6-B79DA932A6DF}" type="datetime1">
              <a:rPr lang="es-ES" noProof="0" smtClean="0"/>
              <a:pPr/>
              <a:t>17/11/2025</a:t>
            </a:fld>
            <a:endParaRPr lang="es-ES" noProof="0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3C656DE-1E46-4450-9484-A739B4FADFBC}" type="datetime1">
              <a:rPr lang="es-ES" noProof="0" smtClean="0"/>
              <a:pPr/>
              <a:t>17/11/2025</a:t>
            </a:fld>
            <a:endParaRPr lang="es-ES" noProof="0" dirty="0"/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EA77F8B-D469-4ECD-B91E-3B01AD692331}" type="datetime1">
              <a:rPr lang="es-ES" noProof="0" smtClean="0"/>
              <a:pPr/>
              <a:t>17/11/2025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" name="Marcador de posición de imagen 2" descr="Marcador de posición vacío para agregar una imagen. Haga clic en el marcador de posición y seleccione la imagen que desee agregar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 algn="l" rtl="0">
              <a:buNone/>
              <a:defRPr sz="28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3" indent="0" algn="l" rtl="0">
              <a:buNone/>
              <a:defRPr sz="2700"/>
            </a:lvl5pPr>
            <a:lvl6pPr marL="3047467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9BA7B1C-709E-4257-93A5-EC2F0807D42F}" type="datetime1">
              <a:rPr lang="es-ES" noProof="0" smtClean="0"/>
              <a:pPr/>
              <a:t>17/11/2025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0A1DB83-C382-4684-8887-65A03EA4FFF0}" type="datetime1">
              <a:rPr lang="es-ES" noProof="0" smtClean="0"/>
              <a:pPr/>
              <a:t>17/11/2025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60E81D3-9B82-44CA-B1F9-FCEFDC87935B}" type="datetime1">
              <a:rPr lang="es-ES" noProof="0" smtClean="0"/>
              <a:pPr/>
              <a:t>17/11/2025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íneas a la izquierda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orma libre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sp>
          <p:nvSpPr>
            <p:cNvPr id="11" name="Forma libre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sp>
          <p:nvSpPr>
            <p:cNvPr id="14" name="Forma libre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</p:grpSp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es-ES" noProof="0" dirty="0"/>
              <a:t>Editar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83AD5-F5AF-4BDC-901E-85A05CCFFAAA}" type="datetime1">
              <a:rPr lang="es-ES" noProof="0" smtClean="0"/>
              <a:pPr/>
              <a:t>17/11/2025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s-ES" dirty="0" err="1"/>
              <a:t>Pentesting</a:t>
            </a:r>
            <a:r>
              <a:rPr lang="es-ES" dirty="0"/>
              <a:t> WEB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1126F4A2-B58D-F4C1-025C-9517303D1B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CL" dirty="0" err="1"/>
              <a:t>Pentesting</a:t>
            </a:r>
            <a:r>
              <a:rPr lang="es-CL" dirty="0"/>
              <a:t> Web</a:t>
            </a:r>
            <a:br>
              <a:rPr lang="es-CL" dirty="0"/>
            </a:br>
            <a:endParaRPr lang="es-ES" dirty="0"/>
          </a:p>
        </p:txBody>
      </p:sp>
      <p:sp>
        <p:nvSpPr>
          <p:cNvPr id="14" name="Marcador de posición de contenido 13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s-MX" dirty="0"/>
              <a:t>Cuando este ejercicio se realiza específicamente sobre una </a:t>
            </a:r>
            <a:r>
              <a:rPr lang="es-MX" b="1" dirty="0"/>
              <a:t>aplicación web</a:t>
            </a:r>
            <a:r>
              <a:rPr lang="es-MX" dirty="0"/>
              <a:t>, un </a:t>
            </a:r>
            <a:r>
              <a:rPr lang="es-MX" b="1" dirty="0"/>
              <a:t>sitio web</a:t>
            </a:r>
            <a:r>
              <a:rPr lang="es-MX" dirty="0"/>
              <a:t> o servicios relacionados (como </a:t>
            </a:r>
            <a:r>
              <a:rPr lang="es-MX" dirty="0" err="1"/>
              <a:t>APIs</a:t>
            </a:r>
            <a:r>
              <a:rPr lang="es-MX" dirty="0"/>
              <a:t>). El objetivo es encontrar fallos de seguridad (como inyecciones SQL, </a:t>
            </a:r>
            <a:r>
              <a:rPr lang="es-MX" i="1" dirty="0"/>
              <a:t>Cross-Site Scripting - XSS</a:t>
            </a:r>
            <a:r>
              <a:rPr lang="es-MX" dirty="0"/>
              <a:t>, o fallos de autenticación) antes de que puedan ser explotados por atacantes maliciosos.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B54D1F-4060-38CE-359D-6EF23684E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Metodologías Comunes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D93F70-6DDB-878B-D9E5-1EC614540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Para realizar un </a:t>
            </a:r>
            <a:r>
              <a:rPr lang="es-MX" dirty="0" err="1"/>
              <a:t>Pentesting</a:t>
            </a:r>
            <a:r>
              <a:rPr lang="es-MX" dirty="0"/>
              <a:t> Web se suelen seguir metodologías estandarizadas, siendo una de las más conocidas la de la fundación </a:t>
            </a:r>
            <a:r>
              <a:rPr lang="es-MX" b="1" dirty="0"/>
              <a:t>OWASP</a:t>
            </a:r>
            <a:r>
              <a:rPr lang="es-MX" dirty="0"/>
              <a:t> (Open Web </a:t>
            </a:r>
            <a:r>
              <a:rPr lang="es-MX" dirty="0" err="1"/>
              <a:t>Application</a:t>
            </a:r>
            <a:r>
              <a:rPr lang="es-MX" dirty="0"/>
              <a:t> Security Project), que publica la guía </a:t>
            </a:r>
            <a:r>
              <a:rPr lang="es-MX" b="1" dirty="0"/>
              <a:t>OWASP </a:t>
            </a:r>
            <a:r>
              <a:rPr lang="es-MX" b="1" dirty="0" err="1"/>
              <a:t>Testing</a:t>
            </a:r>
            <a:r>
              <a:rPr lang="es-MX" b="1" dirty="0"/>
              <a:t> Guide</a:t>
            </a:r>
            <a:r>
              <a:rPr lang="es-MX" dirty="0"/>
              <a:t> y la lista de los </a:t>
            </a:r>
            <a:r>
              <a:rPr lang="es-MX" b="1" dirty="0"/>
              <a:t>OWASP Top 10</a:t>
            </a:r>
            <a:r>
              <a:rPr lang="es-MX" dirty="0"/>
              <a:t> (las vulnerabilidades de aplicaciones web más críticas).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14819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A4E4E-2A07-0451-A422-5D4F5052E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1324" y="2276872"/>
            <a:ext cx="3075329" cy="1944216"/>
          </a:xfrm>
        </p:spPr>
        <p:txBody>
          <a:bodyPr/>
          <a:lstStyle/>
          <a:p>
            <a:r>
              <a:rPr lang="es-CL" dirty="0"/>
              <a:t>Fases del </a:t>
            </a:r>
            <a:r>
              <a:rPr lang="es-CL" dirty="0" err="1"/>
              <a:t>Pentesting</a:t>
            </a:r>
            <a:r>
              <a:rPr lang="es-CL" dirty="0"/>
              <a:t> Web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0FA9EA24-2058-192B-960D-6635C62F6A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1525452"/>
              </p:ext>
            </p:extLst>
          </p:nvPr>
        </p:nvGraphicFramePr>
        <p:xfrm>
          <a:off x="909836" y="261690"/>
          <a:ext cx="8712968" cy="6463987"/>
        </p:xfrm>
        <a:graphic>
          <a:graphicData uri="http://schemas.openxmlformats.org/drawingml/2006/table">
            <a:tbl>
              <a:tblPr/>
              <a:tblGrid>
                <a:gridCol w="945672">
                  <a:extLst>
                    <a:ext uri="{9D8B030D-6E8A-4147-A177-3AD203B41FA5}">
                      <a16:colId xmlns:a16="http://schemas.microsoft.com/office/drawing/2014/main" val="4088884455"/>
                    </a:ext>
                  </a:extLst>
                </a:gridCol>
                <a:gridCol w="2626645">
                  <a:extLst>
                    <a:ext uri="{9D8B030D-6E8A-4147-A177-3AD203B41FA5}">
                      <a16:colId xmlns:a16="http://schemas.microsoft.com/office/drawing/2014/main" val="3989439779"/>
                    </a:ext>
                  </a:extLst>
                </a:gridCol>
                <a:gridCol w="5140651">
                  <a:extLst>
                    <a:ext uri="{9D8B030D-6E8A-4147-A177-3AD203B41FA5}">
                      <a16:colId xmlns:a16="http://schemas.microsoft.com/office/drawing/2014/main" val="2476961583"/>
                    </a:ext>
                  </a:extLst>
                </a:gridCol>
              </a:tblGrid>
              <a:tr h="111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800"/>
                        <a:t>Fase</a:t>
                      </a:r>
                    </a:p>
                  </a:txBody>
                  <a:tcPr marL="15549" marR="15549" marT="7774" marB="77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dirty="0"/>
                        <a:t>Nombre Común</a:t>
                      </a:r>
                    </a:p>
                  </a:txBody>
                  <a:tcPr marL="15549" marR="15549" marT="7774" marB="77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dirty="0"/>
                        <a:t>Descripción</a:t>
                      </a:r>
                      <a:endParaRPr lang="es-CL" sz="800" dirty="0"/>
                    </a:p>
                  </a:txBody>
                  <a:tcPr marL="15549" marR="15549" marT="7774" marB="77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2920690"/>
                  </a:ext>
                </a:extLst>
              </a:tr>
              <a:tr h="12726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200" b="1" dirty="0"/>
                        <a:t>1</a:t>
                      </a:r>
                      <a:endParaRPr lang="es-CL" sz="1200" dirty="0"/>
                    </a:p>
                  </a:txBody>
                  <a:tcPr marL="15549" marR="15549" marT="7774" marB="77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200" b="1" dirty="0"/>
                        <a:t>Reconocimiento (</a:t>
                      </a:r>
                      <a:r>
                        <a:rPr lang="es-CL" sz="1200" b="1" dirty="0" err="1"/>
                        <a:t>Reconnaissance</a:t>
                      </a:r>
                      <a:r>
                        <a:rPr lang="es-CL" sz="1200" b="1" dirty="0"/>
                        <a:t>)</a:t>
                      </a:r>
                      <a:endParaRPr lang="es-CL" sz="1200" dirty="0"/>
                    </a:p>
                  </a:txBody>
                  <a:tcPr marL="15549" marR="15549" marT="7774" marB="77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/>
                        <a:t>Es la fase de </a:t>
                      </a:r>
                      <a:r>
                        <a:rPr lang="es-MX" sz="1200" b="1" dirty="0"/>
                        <a:t>recolección de información</a:t>
                      </a:r>
                      <a:r>
                        <a:rPr lang="es-MX" sz="1200" dirty="0"/>
                        <a:t>. El atacante (el </a:t>
                      </a:r>
                      <a:r>
                        <a:rPr lang="es-MX" sz="1200" i="1" dirty="0" err="1"/>
                        <a:t>pentester</a:t>
                      </a:r>
                      <a:r>
                        <a:rPr lang="es-MX" sz="1200" dirty="0"/>
                        <a:t>) reúne toda la información pública posible sobre la aplicación y su infraestructura. Esto incluye dominios, subdominios, tecnologías usadas (servidores web, lenguajes de programación, bases de datos), y datos de empleados.</a:t>
                      </a:r>
                    </a:p>
                  </a:txBody>
                  <a:tcPr marL="15549" marR="15549" marT="7774" marB="77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8686056"/>
                  </a:ext>
                </a:extLst>
              </a:tr>
              <a:tr h="10046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200" b="1" dirty="0"/>
                        <a:t>2</a:t>
                      </a:r>
                      <a:endParaRPr lang="es-CL" sz="1200" dirty="0"/>
                    </a:p>
                  </a:txBody>
                  <a:tcPr marL="15549" marR="15549" marT="7774" marB="77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200" b="1" dirty="0"/>
                        <a:t>Escaneo y Enumeración</a:t>
                      </a:r>
                      <a:endParaRPr lang="es-CL" sz="1200" dirty="0"/>
                    </a:p>
                  </a:txBody>
                  <a:tcPr marL="15549" marR="15549" marT="7774" marB="77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/>
                        <a:t>El </a:t>
                      </a:r>
                      <a:r>
                        <a:rPr lang="es-MX" sz="1200" i="1" dirty="0" err="1"/>
                        <a:t>pentester</a:t>
                      </a:r>
                      <a:r>
                        <a:rPr lang="es-MX" sz="1200" dirty="0"/>
                        <a:t> utiliza herramientas para escanear activamente la aplicación y la red. Se buscan puertos abiertos, servicios en ejecución, y se mapea la estructura de directorios de la aplicación web. El objetivo es </a:t>
                      </a:r>
                      <a:r>
                        <a:rPr lang="es-MX" sz="1200" b="1" dirty="0"/>
                        <a:t>identificar puntos de entrada</a:t>
                      </a:r>
                      <a:r>
                        <a:rPr lang="es-MX" sz="1200" dirty="0"/>
                        <a:t>.</a:t>
                      </a:r>
                    </a:p>
                  </a:txBody>
                  <a:tcPr marL="15549" marR="15549" marT="7774" marB="77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568631"/>
                  </a:ext>
                </a:extLst>
              </a:tr>
              <a:tr h="8260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200" b="1" dirty="0"/>
                        <a:t>3</a:t>
                      </a:r>
                      <a:endParaRPr lang="es-CL" sz="1200" dirty="0"/>
                    </a:p>
                  </a:txBody>
                  <a:tcPr marL="15549" marR="15549" marT="7774" marB="77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200" b="1" dirty="0"/>
                        <a:t>Análisis de Vulnerabilidades</a:t>
                      </a:r>
                      <a:endParaRPr lang="es-CL" sz="1200" dirty="0"/>
                    </a:p>
                  </a:txBody>
                  <a:tcPr marL="15549" marR="15549" marT="7774" marB="77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Se utilizan herramientas automatizadas y pruebas manuales para </a:t>
                      </a:r>
                      <a:r>
                        <a:rPr lang="es-MX" sz="1200" b="1"/>
                        <a:t>encontrar fallos de seguridad</a:t>
                      </a:r>
                      <a:r>
                        <a:rPr lang="es-MX" sz="1200"/>
                        <a:t>. Se verifica la presencia de las vulnerabilidades más comunes, como las de la lista OWASP Top 10 (XSS, Inyección SQL, etc.).</a:t>
                      </a:r>
                    </a:p>
                  </a:txBody>
                  <a:tcPr marL="15549" marR="15549" marT="7774" marB="77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8108854"/>
                  </a:ext>
                </a:extLst>
              </a:tr>
              <a:tr h="10046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200" b="1" dirty="0"/>
                        <a:t>4</a:t>
                      </a:r>
                      <a:endParaRPr lang="es-CL" sz="1200" dirty="0"/>
                    </a:p>
                  </a:txBody>
                  <a:tcPr marL="15549" marR="15549" marT="7774" marB="77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200" b="1" dirty="0"/>
                        <a:t>Explotación (</a:t>
                      </a:r>
                      <a:r>
                        <a:rPr lang="es-CL" sz="1200" b="1" dirty="0" err="1"/>
                        <a:t>Exploitation</a:t>
                      </a:r>
                      <a:r>
                        <a:rPr lang="es-CL" sz="1200" b="1" dirty="0"/>
                        <a:t>)</a:t>
                      </a:r>
                      <a:endParaRPr lang="es-CL" sz="1200" dirty="0"/>
                    </a:p>
                  </a:txBody>
                  <a:tcPr marL="15549" marR="15549" marT="7774" marB="77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/>
                        <a:t>Esta es la fase donde se </a:t>
                      </a:r>
                      <a:r>
                        <a:rPr lang="es-MX" sz="1200" b="1" dirty="0"/>
                        <a:t>confirma la existencia del fallo</a:t>
                      </a:r>
                      <a:r>
                        <a:rPr lang="es-MX" sz="1200" dirty="0"/>
                        <a:t>. El </a:t>
                      </a:r>
                      <a:r>
                        <a:rPr lang="es-MX" sz="1200" i="1" dirty="0" err="1"/>
                        <a:t>pentester</a:t>
                      </a:r>
                      <a:r>
                        <a:rPr lang="es-MX" sz="1200" dirty="0"/>
                        <a:t> intenta activamente utilizar una vulnerabilidad encontrada para obtener acceso, elevar privilegios o extraer datos sensibles. </a:t>
                      </a:r>
                      <a:r>
                        <a:rPr lang="es-MX" sz="1200" i="1" dirty="0"/>
                        <a:t>Nota: Esto se hace de manera controlada y sin causar daño.</a:t>
                      </a:r>
                      <a:endParaRPr lang="es-MX" sz="1200" dirty="0"/>
                    </a:p>
                  </a:txBody>
                  <a:tcPr marL="15549" marR="15549" marT="7774" marB="77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622005"/>
                  </a:ext>
                </a:extLst>
              </a:tr>
              <a:tr h="10046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200" b="1" dirty="0"/>
                        <a:t>5</a:t>
                      </a:r>
                      <a:endParaRPr lang="es-CL" sz="1200" dirty="0"/>
                    </a:p>
                  </a:txBody>
                  <a:tcPr marL="15549" marR="15549" marT="7774" marB="77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200" b="1" dirty="0"/>
                        <a:t>Post-Explotación (Post-</a:t>
                      </a:r>
                      <a:r>
                        <a:rPr lang="es-CL" sz="1200" b="1" dirty="0" err="1"/>
                        <a:t>Exploitation</a:t>
                      </a:r>
                      <a:r>
                        <a:rPr lang="es-CL" sz="1200" b="1" dirty="0"/>
                        <a:t>)</a:t>
                      </a:r>
                      <a:endParaRPr lang="es-CL" sz="1200" dirty="0"/>
                    </a:p>
                  </a:txBody>
                  <a:tcPr marL="15549" marR="15549" marT="7774" marB="77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Después de obtener acceso, se evalúa el </a:t>
                      </a:r>
                      <a:r>
                        <a:rPr lang="es-MX" sz="1200" b="1"/>
                        <a:t>impacto real</a:t>
                      </a:r>
                      <a:r>
                        <a:rPr lang="es-MX" sz="1200"/>
                        <a:t> del compromiso. Se documenta la profundidad de la intrusión (qué tan lejos se puede llegar) y si es posible mantener el acceso para futuras pruebas (persistencia).</a:t>
                      </a:r>
                    </a:p>
                  </a:txBody>
                  <a:tcPr marL="15549" marR="15549" marT="7774" marB="77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760954"/>
                  </a:ext>
                </a:extLst>
              </a:tr>
              <a:tr h="11832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200" b="1" dirty="0"/>
                        <a:t>6</a:t>
                      </a:r>
                      <a:endParaRPr lang="es-CL" sz="1200" dirty="0"/>
                    </a:p>
                  </a:txBody>
                  <a:tcPr marL="15549" marR="15549" marT="7774" marB="77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200" b="1" dirty="0"/>
                        <a:t>Análisis y Reporte (</a:t>
                      </a:r>
                      <a:r>
                        <a:rPr lang="es-CL" sz="1200" b="1" dirty="0" err="1"/>
                        <a:t>Reporting</a:t>
                      </a:r>
                      <a:r>
                        <a:rPr lang="es-CL" sz="1200" b="1" dirty="0"/>
                        <a:t>)</a:t>
                      </a:r>
                      <a:endParaRPr lang="es-CL" sz="1200" dirty="0"/>
                    </a:p>
                  </a:txBody>
                  <a:tcPr marL="15549" marR="15549" marT="7774" marB="77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/>
                        <a:t>La fase más importante. El </a:t>
                      </a:r>
                      <a:r>
                        <a:rPr lang="es-MX" sz="1200" i="1" dirty="0" err="1"/>
                        <a:t>pentester</a:t>
                      </a:r>
                      <a:r>
                        <a:rPr lang="es-MX" sz="1200" dirty="0"/>
                        <a:t> documenta detalladamente todos los hallazgos: las vulnerabilidades encontradas, el método utilizado para explotarlas, el impacto de riesgo (severidad) y, crucialmente, las </a:t>
                      </a:r>
                      <a:r>
                        <a:rPr lang="es-MX" sz="1200" b="1" dirty="0"/>
                        <a:t>recomendaciones específicas</a:t>
                      </a:r>
                      <a:r>
                        <a:rPr lang="es-MX" sz="1200" dirty="0"/>
                        <a:t> para corregirlas.</a:t>
                      </a:r>
                    </a:p>
                  </a:txBody>
                  <a:tcPr marL="15549" marR="15549" marT="7774" marB="77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82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070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058A8B-39C6-0F72-52FB-B4DB15404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Vulnerabilidades Comunes en </a:t>
            </a:r>
            <a:r>
              <a:rPr lang="es-MX" dirty="0" err="1"/>
              <a:t>Pentesting</a:t>
            </a:r>
            <a:r>
              <a:rPr lang="es-MX" dirty="0"/>
              <a:t> Web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809A0B-1C46-22EB-F9CC-2727B068C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5860" y="1124744"/>
            <a:ext cx="10360501" cy="446227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MX" sz="1800" dirty="0"/>
          </a:p>
          <a:p>
            <a:r>
              <a:rPr lang="es-MX" sz="1800" b="1" dirty="0"/>
              <a:t>1. Inyección SQL (SQL </a:t>
            </a:r>
            <a:r>
              <a:rPr lang="es-MX" sz="1800" b="1" dirty="0" err="1"/>
              <a:t>Injection</a:t>
            </a:r>
            <a:r>
              <a:rPr lang="es-MX" sz="1800" b="1" dirty="0"/>
              <a:t> - </a:t>
            </a:r>
            <a:r>
              <a:rPr lang="es-MX" sz="1800" b="1" dirty="0" err="1"/>
              <a:t>SQLi</a:t>
            </a:r>
            <a:r>
              <a:rPr lang="es-MX" sz="1800" b="1" dirty="0"/>
              <a:t>)</a:t>
            </a:r>
          </a:p>
          <a:p>
            <a:r>
              <a:rPr lang="es-MX" sz="1800" b="1" dirty="0"/>
              <a:t>Descripción:</a:t>
            </a:r>
            <a:r>
              <a:rPr lang="es-MX" sz="1800" dirty="0"/>
              <a:t> Ocurre cuando un atacante puede insertar o "inyectar" código SQL malicioso en las consultas que la aplicación envía a la base de datos (generalmente a través de campos de entrada).</a:t>
            </a:r>
          </a:p>
          <a:p>
            <a:r>
              <a:rPr lang="es-MX" sz="1800" b="1" dirty="0"/>
              <a:t>Impacto:</a:t>
            </a:r>
            <a:r>
              <a:rPr lang="es-MX" sz="1800" dirty="0"/>
              <a:t> Permite al atacante ver, modificar o eliminar datos de la base de datos, incluyendo información de usuarios y contraseñas.</a:t>
            </a:r>
          </a:p>
          <a:p>
            <a:pPr marL="0" indent="0">
              <a:buNone/>
            </a:pPr>
            <a:endParaRPr lang="es-MX" sz="1800" dirty="0"/>
          </a:p>
          <a:p>
            <a:endParaRPr lang="es-CL" sz="1800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3F87A83B-7545-0432-9796-1E0E63DED3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908174"/>
              </p:ext>
            </p:extLst>
          </p:nvPr>
        </p:nvGraphicFramePr>
        <p:xfrm>
          <a:off x="1218883" y="3533904"/>
          <a:ext cx="10360024" cy="1889760"/>
        </p:xfrm>
        <a:graphic>
          <a:graphicData uri="http://schemas.openxmlformats.org/drawingml/2006/table">
            <a:tbl>
              <a:tblPr/>
              <a:tblGrid>
                <a:gridCol w="2590006">
                  <a:extLst>
                    <a:ext uri="{9D8B030D-6E8A-4147-A177-3AD203B41FA5}">
                      <a16:colId xmlns:a16="http://schemas.microsoft.com/office/drawing/2014/main" val="1163033935"/>
                    </a:ext>
                  </a:extLst>
                </a:gridCol>
                <a:gridCol w="2590006">
                  <a:extLst>
                    <a:ext uri="{9D8B030D-6E8A-4147-A177-3AD203B41FA5}">
                      <a16:colId xmlns:a16="http://schemas.microsoft.com/office/drawing/2014/main" val="1159971765"/>
                    </a:ext>
                  </a:extLst>
                </a:gridCol>
                <a:gridCol w="2590006">
                  <a:extLst>
                    <a:ext uri="{9D8B030D-6E8A-4147-A177-3AD203B41FA5}">
                      <a16:colId xmlns:a16="http://schemas.microsoft.com/office/drawing/2014/main" val="1703000808"/>
                    </a:ext>
                  </a:extLst>
                </a:gridCol>
                <a:gridCol w="2590006">
                  <a:extLst>
                    <a:ext uri="{9D8B030D-6E8A-4147-A177-3AD203B41FA5}">
                      <a16:colId xmlns:a16="http://schemas.microsoft.com/office/drawing/2014/main" val="29852017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sz="18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Concepto</a:t>
                      </a:r>
                      <a:endParaRPr lang="es-CL" sz="18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sz="18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Descripción</a:t>
                      </a:r>
                      <a:endParaRPr lang="es-CL" sz="18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sz="18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Ejemplo de Payload</a:t>
                      </a:r>
                      <a:endParaRPr lang="es-CL" sz="18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sz="18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Impacto</a:t>
                      </a:r>
                      <a:endParaRPr lang="es-CL" sz="18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7068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sz="1800" b="1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SQLi</a:t>
                      </a:r>
                      <a:endParaRPr lang="es-CL" sz="18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Manipulación de la consulta a la base de datos a través de datos de entrada del usuario.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Usuario introduce en el campo "Contraseña": admin' OR '1'='1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Permite el </a:t>
                      </a:r>
                      <a:r>
                        <a:rPr lang="es-MX" sz="18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inicio de sesión como administrador</a:t>
                      </a:r>
                      <a:r>
                        <a:rPr lang="es-MX" sz="18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sin conocer la contraseña real.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4848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7499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B8EE60-0C67-F6C6-418C-245836C31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Cross-Site Scripting (XSS)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AA585A-3A7F-EBF4-07C3-6A39225FD5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25860" y="1628800"/>
            <a:ext cx="1077730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Descripción: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 atacante logra inyectar </a:t>
            </a:r>
            <a:r>
              <a:rPr kumimoji="0" lang="es-CL" altLang="es-CL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scripts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 lado del cliente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(generalmente JavaScript) en una página web visualizada por otros usuarios.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Impacto: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Permite robar </a:t>
            </a:r>
            <a:r>
              <a:rPr kumimoji="0" lang="es-CL" altLang="es-CL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cookies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sesión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(lo que podría llevar al robo de la cuenta del usuario), modificar contenido web o redirigir a los usuarios.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Tipos Comunes: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Almacenado (Persistente), Reflejado y Basado en DOM.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8F8F0FB8-9A7B-F318-1397-74752F15E9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830471"/>
              </p:ext>
            </p:extLst>
          </p:nvPr>
        </p:nvGraphicFramePr>
        <p:xfrm>
          <a:off x="1212737" y="3790325"/>
          <a:ext cx="10360024" cy="2072640"/>
        </p:xfrm>
        <a:graphic>
          <a:graphicData uri="http://schemas.openxmlformats.org/drawingml/2006/table">
            <a:tbl>
              <a:tblPr/>
              <a:tblGrid>
                <a:gridCol w="2073363">
                  <a:extLst>
                    <a:ext uri="{9D8B030D-6E8A-4147-A177-3AD203B41FA5}">
                      <a16:colId xmlns:a16="http://schemas.microsoft.com/office/drawing/2014/main" val="4090442714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848996104"/>
                    </a:ext>
                  </a:extLst>
                </a:gridCol>
                <a:gridCol w="2960351">
                  <a:extLst>
                    <a:ext uri="{9D8B030D-6E8A-4147-A177-3AD203B41FA5}">
                      <a16:colId xmlns:a16="http://schemas.microsoft.com/office/drawing/2014/main" val="829737103"/>
                    </a:ext>
                  </a:extLst>
                </a:gridCol>
                <a:gridCol w="2590006">
                  <a:extLst>
                    <a:ext uri="{9D8B030D-6E8A-4147-A177-3AD203B41FA5}">
                      <a16:colId xmlns:a16="http://schemas.microsoft.com/office/drawing/2014/main" val="23224400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sz="20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Concepto</a:t>
                      </a:r>
                      <a:endParaRPr lang="es-CL" sz="20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sz="20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Descripción</a:t>
                      </a:r>
                      <a:endParaRPr lang="es-CL" sz="20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sz="20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Ejemplo de Payload</a:t>
                      </a:r>
                      <a:endParaRPr lang="es-CL" sz="20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sz="20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Impacto</a:t>
                      </a:r>
                      <a:endParaRPr lang="es-CL" sz="20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536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sz="20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XSS (Reflejado)</a:t>
                      </a:r>
                      <a:endParaRPr lang="es-CL" sz="20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20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Un </a:t>
                      </a:r>
                      <a:r>
                        <a:rPr lang="es-MX" sz="2000" i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script</a:t>
                      </a:r>
                      <a:r>
                        <a:rPr lang="es-MX" sz="20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malicioso se inyecta en la URL y se ejecuta en el navegador del usuario víctima.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sz="20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URL de Ataque: https://sitio.com/buscar?q=&lt;script&gt;alert('XSS Atacado')&lt;/script&gt;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20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El atacante puede </a:t>
                      </a:r>
                      <a:r>
                        <a:rPr lang="es-MX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robar </a:t>
                      </a:r>
                      <a:r>
                        <a:rPr lang="es-MX" sz="2000" b="1" i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cookies</a:t>
                      </a:r>
                      <a:r>
                        <a:rPr lang="es-MX" sz="20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de sesión del usuario o </a:t>
                      </a:r>
                      <a:r>
                        <a:rPr lang="es-MX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redirigir</a:t>
                      </a:r>
                      <a:r>
                        <a:rPr lang="es-MX" sz="20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a sitios maliciosos.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049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8552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CC6289-9A38-40BD-D1C7-3A6B55593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err="1"/>
              <a:t>Insecure</a:t>
            </a:r>
            <a:r>
              <a:rPr lang="es-CL" dirty="0"/>
              <a:t> Direct </a:t>
            </a:r>
            <a:r>
              <a:rPr lang="es-CL" dirty="0" err="1"/>
              <a:t>Object</a:t>
            </a:r>
            <a:r>
              <a:rPr lang="es-CL" dirty="0"/>
              <a:t> Reference (IDOR)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D6022E6-C2AD-18AE-6E4E-B4B8391A5E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09836" y="1665429"/>
            <a:ext cx="1079757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Descripción: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Sucede cuando una aplicación web expone una referencia directa a un objeto interno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(como un archivo, base de datos o clave de directorio) sin verificar que el usuario está autorizado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acceder a él.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Impacto: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atacante puede cambiar un parámetro en la URL o un formulario para acceder a recursos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que pertenecen a otros usuarios (ej. cambiar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user_id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=123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por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user_id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=124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F70B4B24-FCFB-44EF-7674-DFF3A35636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529396"/>
              </p:ext>
            </p:extLst>
          </p:nvPr>
        </p:nvGraphicFramePr>
        <p:xfrm>
          <a:off x="1105135" y="3717032"/>
          <a:ext cx="10488524" cy="2714832"/>
        </p:xfrm>
        <a:graphic>
          <a:graphicData uri="http://schemas.openxmlformats.org/drawingml/2006/table">
            <a:tbl>
              <a:tblPr/>
              <a:tblGrid>
                <a:gridCol w="2622131">
                  <a:extLst>
                    <a:ext uri="{9D8B030D-6E8A-4147-A177-3AD203B41FA5}">
                      <a16:colId xmlns:a16="http://schemas.microsoft.com/office/drawing/2014/main" val="2532723023"/>
                    </a:ext>
                  </a:extLst>
                </a:gridCol>
                <a:gridCol w="2622131">
                  <a:extLst>
                    <a:ext uri="{9D8B030D-6E8A-4147-A177-3AD203B41FA5}">
                      <a16:colId xmlns:a16="http://schemas.microsoft.com/office/drawing/2014/main" val="843315930"/>
                    </a:ext>
                  </a:extLst>
                </a:gridCol>
                <a:gridCol w="2622131">
                  <a:extLst>
                    <a:ext uri="{9D8B030D-6E8A-4147-A177-3AD203B41FA5}">
                      <a16:colId xmlns:a16="http://schemas.microsoft.com/office/drawing/2014/main" val="2441337306"/>
                    </a:ext>
                  </a:extLst>
                </a:gridCol>
                <a:gridCol w="2622131">
                  <a:extLst>
                    <a:ext uri="{9D8B030D-6E8A-4147-A177-3AD203B41FA5}">
                      <a16:colId xmlns:a16="http://schemas.microsoft.com/office/drawing/2014/main" val="1826484763"/>
                    </a:ext>
                  </a:extLst>
                </a:gridCol>
              </a:tblGrid>
              <a:tr h="58386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sz="16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Concepto</a:t>
                      </a:r>
                      <a:endParaRPr lang="es-CL" sz="16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065" marR="76065" marT="50710" marB="5071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sz="16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Descripción</a:t>
                      </a:r>
                      <a:endParaRPr lang="es-CL" sz="16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065" marR="76065" marT="50710" marB="5071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sz="16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Ejemplo de Payload</a:t>
                      </a:r>
                      <a:endParaRPr lang="es-CL" sz="16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065" marR="76065" marT="50710" marB="5071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sz="16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Impacto</a:t>
                      </a:r>
                      <a:endParaRPr lang="es-CL" sz="16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065" marR="76065" marT="50710" marB="5071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9882146"/>
                  </a:ext>
                </a:extLst>
              </a:tr>
              <a:tr h="213096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sz="16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IDOR</a:t>
                      </a:r>
                      <a:endParaRPr lang="es-CL" sz="16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065" marR="76065" marT="50710" marB="5071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6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Acceso a recursos de otros usuarios cambiando un parámetro referenciado directamente.</a:t>
                      </a:r>
                    </a:p>
                  </a:txBody>
                  <a:tcPr marL="76065" marR="76065" marT="50710" marB="5071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sz="16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Parámetro Original: https://tienda.com/orden?id=**456** </a:t>
                      </a:r>
                    </a:p>
                    <a:p>
                      <a:pPr rtl="0">
                        <a:buNone/>
                      </a:pPr>
                      <a:br>
                        <a:rPr lang="es-CL" sz="16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</a:br>
                      <a:endParaRPr lang="es-CL" sz="16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  <a:p>
                      <a:pPr rtl="0">
                        <a:buNone/>
                      </a:pPr>
                      <a:r>
                        <a:rPr lang="es-CL" sz="16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Parámetro Atacante: https://tienda.com/orden?id=**455**</a:t>
                      </a:r>
                    </a:p>
                  </a:txBody>
                  <a:tcPr marL="76065" marR="76065" marT="50710" marB="5071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6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El atacante puede ver o modificar el </a:t>
                      </a:r>
                      <a:r>
                        <a:rPr lang="es-MX" sz="16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pedido de otro cliente</a:t>
                      </a:r>
                      <a:r>
                        <a:rPr lang="es-MX" sz="16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(ID 455).</a:t>
                      </a:r>
                    </a:p>
                  </a:txBody>
                  <a:tcPr marL="76065" marR="76065" marT="50710" marB="5071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25811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129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93FE25-AA94-933A-647B-CFE11D4DC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8239" y="332656"/>
            <a:ext cx="10360501" cy="877912"/>
          </a:xfrm>
        </p:spPr>
        <p:txBody>
          <a:bodyPr/>
          <a:lstStyle/>
          <a:p>
            <a:r>
              <a:rPr lang="es-CL" dirty="0" err="1"/>
              <a:t>Broken</a:t>
            </a:r>
            <a:r>
              <a:rPr lang="es-CL" dirty="0"/>
              <a:t> Access Control (Control de Acceso Roto)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A61F765-7DFC-6B07-5AC7-D503ECC25C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18833" y="1340768"/>
            <a:ext cx="939558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Descripción: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Fallos en la implementación de las restricciones de acceso.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 usuario puede actuar fuera de sus permisos previstos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(ej. un usuario normal accede a funciones de administrador).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Impacto: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Acceso no autorizado a funciones, datos sensibles, o la capacidad de modificar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configuraciones críticas.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B0C448E5-8376-198B-1F99-1934495D33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467410"/>
              </p:ext>
            </p:extLst>
          </p:nvPr>
        </p:nvGraphicFramePr>
        <p:xfrm>
          <a:off x="1208239" y="3255310"/>
          <a:ext cx="10360024" cy="2377440"/>
        </p:xfrm>
        <a:graphic>
          <a:graphicData uri="http://schemas.openxmlformats.org/drawingml/2006/table">
            <a:tbl>
              <a:tblPr/>
              <a:tblGrid>
                <a:gridCol w="1357781">
                  <a:extLst>
                    <a:ext uri="{9D8B030D-6E8A-4147-A177-3AD203B41FA5}">
                      <a16:colId xmlns:a16="http://schemas.microsoft.com/office/drawing/2014/main" val="3717824053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19168340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1499022168"/>
                    </a:ext>
                  </a:extLst>
                </a:gridCol>
                <a:gridCol w="2953571">
                  <a:extLst>
                    <a:ext uri="{9D8B030D-6E8A-4147-A177-3AD203B41FA5}">
                      <a16:colId xmlns:a16="http://schemas.microsoft.com/office/drawing/2014/main" val="39162474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sz="20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Concepto</a:t>
                      </a:r>
                      <a:endParaRPr lang="es-CL" sz="20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sz="20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Descripción</a:t>
                      </a:r>
                      <a:endParaRPr lang="es-CL" sz="20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sz="20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Ejemplo de Payload</a:t>
                      </a:r>
                      <a:endParaRPr lang="es-CL" sz="20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sz="20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Impacto</a:t>
                      </a:r>
                      <a:endParaRPr lang="es-CL" sz="20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6657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sz="20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BAC</a:t>
                      </a:r>
                      <a:endParaRPr lang="es-CL" sz="20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20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Un usuario normal accede a una función o página destinada únicamente a administradores.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sz="20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Un usuario accede directamente a la URL: https://sitio.com/administracion/crear_usuario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20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Un usuario con pocos privilegios puede </a:t>
                      </a:r>
                      <a:r>
                        <a:rPr lang="es-MX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crear una nueva cuenta de administrador</a:t>
                      </a:r>
                      <a:r>
                        <a:rPr lang="es-MX" sz="20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o modificar la configuración del sistema.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59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5954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2F55FF-5335-80A5-7EBC-5ADA298C3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Fallos de Seguridad en la Configuración (Security </a:t>
            </a:r>
            <a:r>
              <a:rPr lang="es-MX" dirty="0" err="1"/>
              <a:t>Misconfiguration</a:t>
            </a:r>
            <a:r>
              <a:rPr lang="es-MX" dirty="0"/>
              <a:t>)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7916DF-1A7D-C569-FB54-21CE715FB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7"/>
            <a:ext cx="10360501" cy="1871219"/>
          </a:xfrm>
        </p:spPr>
        <p:txBody>
          <a:bodyPr>
            <a:normAutofit/>
          </a:bodyPr>
          <a:lstStyle/>
          <a:p>
            <a:r>
              <a:rPr lang="es-MX" sz="1800" b="1" dirty="0"/>
              <a:t>Descripción:</a:t>
            </a:r>
            <a:r>
              <a:rPr lang="es-MX" sz="1800" dirty="0"/>
              <a:t> Esto abarca una amplia gama de problemas causados por configuraciones inseguras de la aplicación, el servidor web, el servidor de base de datos o la plataforma.</a:t>
            </a:r>
          </a:p>
          <a:p>
            <a:endParaRPr lang="es-MX" sz="1800" dirty="0"/>
          </a:p>
          <a:p>
            <a:r>
              <a:rPr lang="es-MX" sz="1800" b="1" dirty="0"/>
              <a:t>Ejemplos:</a:t>
            </a:r>
            <a:r>
              <a:rPr lang="es-MX" sz="1800" dirty="0"/>
              <a:t> Dejar la configuración por defecto de las credenciales de administración, mantener servicios innecesarios o no actualizar </a:t>
            </a:r>
            <a:r>
              <a:rPr lang="es-MX" sz="1800" i="1" dirty="0"/>
              <a:t>software</a:t>
            </a:r>
            <a:r>
              <a:rPr lang="es-MX" sz="1800" dirty="0"/>
              <a:t> con parches de seguridad.</a:t>
            </a:r>
          </a:p>
          <a:p>
            <a:endParaRPr lang="es-CL" sz="1800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59AF56A1-EEC1-FF0B-D402-7EC991E123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08979"/>
              </p:ext>
            </p:extLst>
          </p:nvPr>
        </p:nvGraphicFramePr>
        <p:xfrm>
          <a:off x="1053852" y="3749995"/>
          <a:ext cx="10360024" cy="2072640"/>
        </p:xfrm>
        <a:graphic>
          <a:graphicData uri="http://schemas.openxmlformats.org/drawingml/2006/table">
            <a:tbl>
              <a:tblPr/>
              <a:tblGrid>
                <a:gridCol w="1939652">
                  <a:extLst>
                    <a:ext uri="{9D8B030D-6E8A-4147-A177-3AD203B41FA5}">
                      <a16:colId xmlns:a16="http://schemas.microsoft.com/office/drawing/2014/main" val="714066070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32925708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183642419"/>
                    </a:ext>
                  </a:extLst>
                </a:gridCol>
                <a:gridCol w="3019772">
                  <a:extLst>
                    <a:ext uri="{9D8B030D-6E8A-4147-A177-3AD203B41FA5}">
                      <a16:colId xmlns:a16="http://schemas.microsoft.com/office/drawing/2014/main" val="632725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sz="20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Concepto</a:t>
                      </a:r>
                      <a:endParaRPr lang="es-CL" sz="20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sz="20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Descripción</a:t>
                      </a:r>
                      <a:endParaRPr lang="es-CL" sz="20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sz="20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Ejemplo de Payload</a:t>
                      </a:r>
                      <a:endParaRPr lang="es-CL" sz="20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sz="20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Impacto</a:t>
                      </a:r>
                      <a:endParaRPr lang="es-CL" sz="20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0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sz="20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Configuración Insegura</a:t>
                      </a:r>
                      <a:endParaRPr lang="es-CL" sz="20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20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La aplicación o servidor se deja con configuraciones por defecto o inadecuadas.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20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El servidor web permite la navegación por directorios (listado de archivos).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20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El atacante puede </a:t>
                      </a:r>
                      <a:r>
                        <a:rPr lang="es-MX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descargar archivos de configuración sensibles</a:t>
                      </a:r>
                      <a:r>
                        <a:rPr lang="es-MX" sz="20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o </a:t>
                      </a:r>
                      <a:r>
                        <a:rPr lang="es-MX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código fuente</a:t>
                      </a:r>
                      <a:r>
                        <a:rPr lang="es-MX" sz="20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que no deberían estar públicos.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358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092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9C2603-097F-EADE-F580-7EBDFD8EE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Vulnerabilidades de Archivos XML Externos (XXE)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A742AB-F0A5-1F65-E8EF-3BC681D8E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7"/>
            <a:ext cx="10360501" cy="1007123"/>
          </a:xfrm>
        </p:spPr>
        <p:txBody>
          <a:bodyPr>
            <a:normAutofit/>
          </a:bodyPr>
          <a:lstStyle/>
          <a:p>
            <a:r>
              <a:rPr lang="es-MX" sz="1800" b="1" dirty="0"/>
              <a:t>Descripción:</a:t>
            </a:r>
            <a:r>
              <a:rPr lang="es-MX" sz="1800" dirty="0"/>
              <a:t> Las aplicaciones que procesan XML pueden ser vulnerables a inyecciones de entidades externas maliciosas, permitiendo a los atacantes leer archivos del sistema operativo o realizar ataques de denegación de servicio.</a:t>
            </a:r>
            <a:endParaRPr lang="es-CL" sz="1800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DAFAECE3-ED3C-2DBA-A1E0-30853E728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022451"/>
              </p:ext>
            </p:extLst>
          </p:nvPr>
        </p:nvGraphicFramePr>
        <p:xfrm>
          <a:off x="1233868" y="2564904"/>
          <a:ext cx="10360024" cy="2072640"/>
        </p:xfrm>
        <a:graphic>
          <a:graphicData uri="http://schemas.openxmlformats.org/drawingml/2006/table">
            <a:tbl>
              <a:tblPr/>
              <a:tblGrid>
                <a:gridCol w="1620184">
                  <a:extLst>
                    <a:ext uri="{9D8B030D-6E8A-4147-A177-3AD203B41FA5}">
                      <a16:colId xmlns:a16="http://schemas.microsoft.com/office/drawing/2014/main" val="1635512564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3548116402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2480234999"/>
                    </a:ext>
                  </a:extLst>
                </a:gridCol>
                <a:gridCol w="3267232">
                  <a:extLst>
                    <a:ext uri="{9D8B030D-6E8A-4147-A177-3AD203B41FA5}">
                      <a16:colId xmlns:a16="http://schemas.microsoft.com/office/drawing/2014/main" val="1573556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sz="20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Concepto</a:t>
                      </a:r>
                      <a:endParaRPr lang="es-CL" sz="20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sz="20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Descripción</a:t>
                      </a:r>
                      <a:endParaRPr lang="es-CL" sz="20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sz="20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Ejemplo de Payload</a:t>
                      </a:r>
                      <a:endParaRPr lang="es-CL" sz="20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sz="20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Impacto</a:t>
                      </a:r>
                      <a:endParaRPr lang="es-CL" sz="20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062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XXE</a:t>
                      </a:r>
                      <a:endParaRPr lang="es-CL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20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El procesador XML de la aplicación acepta entidades externas que pueden ser maliciosas.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Código XML Inyectado: &lt;!ENTITY xxe SYSTEM "file:///etc/passwd" &gt;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20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Permite al atacante </a:t>
                      </a:r>
                      <a:r>
                        <a:rPr lang="es-MX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leer archivos internos</a:t>
                      </a:r>
                      <a:r>
                        <a:rPr lang="es-MX" sz="20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del sistema operativo del servidor (ej. el archivo /</a:t>
                      </a:r>
                      <a:r>
                        <a:rPr lang="es-MX" sz="2000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etc</a:t>
                      </a:r>
                      <a:r>
                        <a:rPr lang="es-MX" sz="20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es-MX" sz="2000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passwd</a:t>
                      </a:r>
                      <a:r>
                        <a:rPr lang="es-MX" sz="20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en Linux).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520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1302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80978A-42AF-6511-102B-63DB04FEC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860" y="1412776"/>
            <a:ext cx="10360501" cy="562075"/>
          </a:xfrm>
        </p:spPr>
        <p:txBody>
          <a:bodyPr>
            <a:normAutofit fontScale="90000"/>
          </a:bodyPr>
          <a:lstStyle/>
          <a:p>
            <a:pPr algn="ctr"/>
            <a:r>
              <a:rPr lang="es-MX" dirty="0"/>
              <a:t>Herramientas Clave para el </a:t>
            </a:r>
            <a:r>
              <a:rPr lang="es-MX" dirty="0" err="1"/>
              <a:t>Pentesting</a:t>
            </a:r>
            <a:r>
              <a:rPr lang="es-MX" dirty="0"/>
              <a:t> Web</a:t>
            </a:r>
            <a:br>
              <a:rPr lang="es-MX" dirty="0"/>
            </a:br>
            <a:r>
              <a:rPr lang="es-MX" i="1" dirty="0"/>
              <a:t>Reconocimiento y Escaneo</a:t>
            </a:r>
            <a:endParaRPr lang="es-CL" i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AF8EF7-BDF7-E40C-934D-3BC2BF9E7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8568" y="2276872"/>
            <a:ext cx="10360501" cy="2304256"/>
          </a:xfrm>
        </p:spPr>
        <p:txBody>
          <a:bodyPr/>
          <a:lstStyle/>
          <a:p>
            <a:r>
              <a:rPr lang="es-MX" sz="1800" b="1" dirty="0" err="1"/>
              <a:t>Nmap</a:t>
            </a:r>
            <a:r>
              <a:rPr lang="es-MX" sz="1800" b="1" dirty="0"/>
              <a:t> (Network </a:t>
            </a:r>
            <a:r>
              <a:rPr lang="es-MX" sz="1800" b="1" dirty="0" err="1"/>
              <a:t>Mapper</a:t>
            </a:r>
            <a:r>
              <a:rPr lang="es-MX" sz="1800" b="1" dirty="0"/>
              <a:t>): </a:t>
            </a:r>
            <a:r>
              <a:rPr lang="es-MX" sz="1600" dirty="0"/>
              <a:t>Función</a:t>
            </a:r>
            <a:r>
              <a:rPr lang="es-MX" sz="1600" b="1" dirty="0"/>
              <a:t>:</a:t>
            </a:r>
            <a:r>
              <a:rPr lang="es-MX" sz="1600" dirty="0"/>
              <a:t> Se utiliza para el escaneo de red y el descubrimiento de </a:t>
            </a:r>
            <a:r>
              <a:rPr lang="es-MX" sz="1600" i="1" dirty="0"/>
              <a:t>hosts</a:t>
            </a:r>
            <a:r>
              <a:rPr lang="es-MX" sz="1600" dirty="0"/>
              <a:t>. Identifica qué puertos están abiertos en el servidor web y qué servicios están ejecutándose (ej. HTTP, HTTPS, SSH).</a:t>
            </a:r>
          </a:p>
          <a:p>
            <a:r>
              <a:rPr lang="es-CL" sz="1800" b="1" dirty="0" err="1"/>
              <a:t>Wappalyzer</a:t>
            </a:r>
            <a:r>
              <a:rPr lang="es-CL" sz="1800" b="1" dirty="0"/>
              <a:t> / </a:t>
            </a:r>
            <a:r>
              <a:rPr lang="es-CL" sz="1800" b="1" dirty="0" err="1"/>
              <a:t>BuiltWith</a:t>
            </a:r>
            <a:r>
              <a:rPr lang="es-CL" sz="1800" dirty="0"/>
              <a:t>: </a:t>
            </a:r>
            <a:r>
              <a:rPr lang="es-MX" sz="1800" dirty="0"/>
              <a:t>Función</a:t>
            </a:r>
            <a:r>
              <a:rPr lang="es-MX" sz="1800" b="1" dirty="0"/>
              <a:t>:</a:t>
            </a:r>
            <a:r>
              <a:rPr lang="es-MX" sz="1800" dirty="0"/>
              <a:t> Extensiones de navegador o servicios que identifican las </a:t>
            </a:r>
            <a:r>
              <a:rPr lang="es-MX" sz="1800" b="1" dirty="0"/>
              <a:t>tecnologías</a:t>
            </a:r>
            <a:r>
              <a:rPr lang="es-MX" sz="1800" dirty="0"/>
              <a:t> que usa el sitio web (servidor web, </a:t>
            </a:r>
            <a:r>
              <a:rPr lang="es-MX" sz="1800" i="1" dirty="0" err="1"/>
              <a:t>frameworks</a:t>
            </a:r>
            <a:r>
              <a:rPr lang="es-MX" sz="1800" dirty="0"/>
              <a:t> de JavaScript, CMS como WordPress, etc.).</a:t>
            </a:r>
          </a:p>
          <a:p>
            <a:r>
              <a:rPr lang="es-MX" sz="1800" b="1" dirty="0" err="1"/>
              <a:t>DirBuster</a:t>
            </a:r>
            <a:r>
              <a:rPr lang="es-MX" sz="1800" b="1" dirty="0"/>
              <a:t> / </a:t>
            </a:r>
            <a:r>
              <a:rPr lang="es-MX" sz="1800" b="1" dirty="0" err="1"/>
              <a:t>GoBuster</a:t>
            </a:r>
            <a:r>
              <a:rPr lang="es-MX" sz="1800" b="1" dirty="0"/>
              <a:t> / FFUF: </a:t>
            </a:r>
            <a:r>
              <a:rPr lang="es-MX" sz="1800" dirty="0"/>
              <a:t>Función</a:t>
            </a:r>
            <a:r>
              <a:rPr lang="es-MX" sz="1800" b="1" dirty="0"/>
              <a:t>:</a:t>
            </a:r>
            <a:r>
              <a:rPr lang="es-MX" sz="1800" dirty="0"/>
              <a:t> Herramientas de </a:t>
            </a:r>
            <a:r>
              <a:rPr lang="es-MX" sz="1800" b="1" dirty="0"/>
              <a:t>fuerza bruta de directorios y archivos</a:t>
            </a:r>
            <a:r>
              <a:rPr lang="es-MX" sz="1800" dirty="0"/>
              <a:t>. Intentan adivinar rutas comunes (/</a:t>
            </a:r>
            <a:r>
              <a:rPr lang="es-MX" sz="1800" dirty="0" err="1"/>
              <a:t>admin</a:t>
            </a:r>
            <a:r>
              <a:rPr lang="es-MX" sz="1800" dirty="0"/>
              <a:t>, /</a:t>
            </a:r>
            <a:r>
              <a:rPr lang="es-MX" sz="1800" dirty="0" err="1"/>
              <a:t>backup</a:t>
            </a:r>
            <a:r>
              <a:rPr lang="es-MX" sz="1800" dirty="0"/>
              <a:t>, /</a:t>
            </a:r>
            <a:r>
              <a:rPr lang="es-MX" sz="1800" dirty="0" err="1"/>
              <a:t>config</a:t>
            </a:r>
            <a:r>
              <a:rPr lang="es-MX" sz="1800" dirty="0"/>
              <a:t>) que podrían estar accesibles.</a:t>
            </a:r>
          </a:p>
          <a:p>
            <a:endParaRPr lang="es-MX" sz="1800" dirty="0"/>
          </a:p>
        </p:txBody>
      </p:sp>
    </p:spTree>
    <p:extLst>
      <p:ext uri="{BB962C8B-B14F-4D97-AF65-F5344CB8AC3E}">
        <p14:creationId xmlns:p14="http://schemas.microsoft.com/office/powerpoint/2010/main" val="608125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913CB4-88A0-FF30-9303-B2A8172FF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490067"/>
          </a:xfrm>
        </p:spPr>
        <p:txBody>
          <a:bodyPr>
            <a:normAutofit fontScale="90000"/>
          </a:bodyPr>
          <a:lstStyle/>
          <a:p>
            <a:pPr algn="ctr"/>
            <a:r>
              <a:rPr lang="es-MX" sz="2800" dirty="0"/>
              <a:t>Herramientas de Proxy Interceptor (El Corazón del </a:t>
            </a:r>
            <a:r>
              <a:rPr lang="es-MX" sz="2800" dirty="0" err="1"/>
              <a:t>Pentesting</a:t>
            </a:r>
            <a:r>
              <a:rPr lang="es-MX" sz="2800" dirty="0"/>
              <a:t>)</a:t>
            </a:r>
            <a:endParaRPr lang="es-CL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71F2E7-0992-D9D1-737E-1F9CF855D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124744"/>
            <a:ext cx="10360501" cy="5039325"/>
          </a:xfrm>
        </p:spPr>
        <p:txBody>
          <a:bodyPr/>
          <a:lstStyle/>
          <a:p>
            <a:r>
              <a:rPr lang="es-MX" sz="1800" b="1" dirty="0" err="1"/>
              <a:t>Burp</a:t>
            </a:r>
            <a:r>
              <a:rPr lang="es-MX" sz="1800" b="1" dirty="0"/>
              <a:t> Suite</a:t>
            </a:r>
            <a:r>
              <a:rPr lang="es-MX" sz="1800" dirty="0"/>
              <a:t>: Función</a:t>
            </a:r>
            <a:r>
              <a:rPr lang="es-MX" sz="1800" b="1" dirty="0"/>
              <a:t>:</a:t>
            </a:r>
            <a:r>
              <a:rPr lang="es-MX" sz="1800" dirty="0"/>
              <a:t> Es la herramienta de facto para </a:t>
            </a:r>
            <a:r>
              <a:rPr lang="es-MX" sz="1800" dirty="0" err="1"/>
              <a:t>Pentesting</a:t>
            </a:r>
            <a:r>
              <a:rPr lang="es-MX" sz="1800" dirty="0"/>
              <a:t> Web. Actúa como un </a:t>
            </a:r>
            <a:r>
              <a:rPr lang="es-MX" sz="1800" b="1" dirty="0"/>
              <a:t>proxy interceptor</a:t>
            </a:r>
            <a:r>
              <a:rPr lang="es-MX" sz="1800" dirty="0"/>
              <a:t> que permite modificar las peticiones (solicitudes) y respuestas HTTP/S en tiempo real. </a:t>
            </a:r>
          </a:p>
          <a:p>
            <a:r>
              <a:rPr lang="es-CL" sz="1800" b="1" dirty="0"/>
              <a:t>Proxy:</a:t>
            </a:r>
            <a:r>
              <a:rPr lang="es-CL" sz="1800" dirty="0"/>
              <a:t> Intercepta el tráfico, </a:t>
            </a:r>
            <a:r>
              <a:rPr lang="es-CL" sz="1800" b="1" dirty="0"/>
              <a:t>Scanner:</a:t>
            </a:r>
            <a:r>
              <a:rPr lang="es-CL" sz="1800" dirty="0"/>
              <a:t> Escaneo automatizado de vulnerabilidades, </a:t>
            </a:r>
            <a:r>
              <a:rPr lang="es-CL" sz="1800" b="1" dirty="0" err="1"/>
              <a:t>Intruder</a:t>
            </a:r>
            <a:r>
              <a:rPr lang="es-CL" sz="1800" b="1" dirty="0"/>
              <a:t>:</a:t>
            </a:r>
            <a:r>
              <a:rPr lang="es-CL" sz="1800" dirty="0"/>
              <a:t> Realiza ataques automatizados de fuerza bruta o </a:t>
            </a:r>
            <a:r>
              <a:rPr lang="es-CL" sz="1800" i="1" dirty="0" err="1"/>
              <a:t>fuzzing</a:t>
            </a:r>
            <a:r>
              <a:rPr lang="es-CL" sz="1800" dirty="0"/>
              <a:t> contra parámetros específicos, </a:t>
            </a:r>
            <a:r>
              <a:rPr lang="es-MX" sz="1800" b="1" dirty="0" err="1"/>
              <a:t>Repeater</a:t>
            </a:r>
            <a:r>
              <a:rPr lang="es-MX" sz="1800" b="1" dirty="0"/>
              <a:t>:</a:t>
            </a:r>
            <a:r>
              <a:rPr lang="es-MX" sz="1800" dirty="0"/>
              <a:t> Permite modificar y reenviar peticiones una y otra vez para probar la explotación</a:t>
            </a:r>
          </a:p>
          <a:p>
            <a:endParaRPr lang="es-MX" sz="1800" dirty="0"/>
          </a:p>
          <a:p>
            <a:endParaRPr lang="es-MX" sz="1800" dirty="0"/>
          </a:p>
          <a:p>
            <a:r>
              <a:rPr lang="es-MX" sz="1800" b="1" dirty="0"/>
              <a:t>OWASP ZAP: </a:t>
            </a:r>
            <a:r>
              <a:rPr lang="es-MX" sz="1800" dirty="0"/>
              <a:t>Función</a:t>
            </a:r>
            <a:r>
              <a:rPr lang="es-MX" sz="1800" b="1" dirty="0"/>
              <a:t>:</a:t>
            </a:r>
            <a:r>
              <a:rPr lang="es-MX" sz="1800" dirty="0"/>
              <a:t> Una alternativa de código abierto a </a:t>
            </a:r>
            <a:r>
              <a:rPr lang="es-MX" sz="1800" dirty="0" err="1"/>
              <a:t>Burp</a:t>
            </a:r>
            <a:r>
              <a:rPr lang="es-MX" sz="1800" dirty="0"/>
              <a:t> Suite, con funcionalidades similares de proxy, escaneo y </a:t>
            </a:r>
            <a:r>
              <a:rPr lang="es-MX" sz="1800" i="1" dirty="0" err="1"/>
              <a:t>fuzzing</a:t>
            </a:r>
            <a:r>
              <a:rPr lang="es-MX" sz="1800" dirty="0"/>
              <a:t>.</a:t>
            </a:r>
          </a:p>
          <a:p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5BE8494-B219-2798-1E8A-487B0A1B2538}"/>
              </a:ext>
            </a:extLst>
          </p:cNvPr>
          <p:cNvSpPr txBox="1"/>
          <p:nvPr/>
        </p:nvSpPr>
        <p:spPr>
          <a:xfrm>
            <a:off x="981844" y="693931"/>
            <a:ext cx="105975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dirty="0"/>
              <a:t>Estas herramientas permiten al </a:t>
            </a:r>
            <a:r>
              <a:rPr lang="es-MX" sz="1600" i="1" dirty="0" err="1"/>
              <a:t>pentester</a:t>
            </a:r>
            <a:r>
              <a:rPr lang="es-MX" sz="1600" dirty="0"/>
              <a:t> ver, modificar y reenviar todo el tráfico entre su navegador y la aplicación web.</a:t>
            </a:r>
            <a:endParaRPr lang="es-CL" sz="1600" dirty="0"/>
          </a:p>
        </p:txBody>
      </p:sp>
    </p:spTree>
    <p:extLst>
      <p:ext uri="{BB962C8B-B14F-4D97-AF65-F5344CB8AC3E}">
        <p14:creationId xmlns:p14="http://schemas.microsoft.com/office/powerpoint/2010/main" val="4244786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527FCB-80CF-D52E-C80A-527A45338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562075"/>
          </a:xfrm>
        </p:spPr>
        <p:txBody>
          <a:bodyPr>
            <a:normAutofit fontScale="90000"/>
          </a:bodyPr>
          <a:lstStyle/>
          <a:p>
            <a:pPr algn="ctr"/>
            <a:r>
              <a:rPr lang="es-CL" dirty="0"/>
              <a:t>Herramientas de Explotación Específica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DAB1F3-3B26-DA5A-8247-734F9F769912}"/>
              </a:ext>
            </a:extLst>
          </p:cNvPr>
          <p:cNvSpPr txBox="1"/>
          <p:nvPr/>
        </p:nvSpPr>
        <p:spPr>
          <a:xfrm>
            <a:off x="1125860" y="859738"/>
            <a:ext cx="107291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dirty="0"/>
              <a:t>Una vez que se identifica un tipo de vulnerabilidad, se pueden usar herramientas especializadas para confirmarla y explotarla.</a:t>
            </a:r>
            <a:endParaRPr lang="es-CL" sz="16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710C25C-927C-F7F7-102F-53B88DD9EC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18883" y="1720840"/>
            <a:ext cx="1050383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sqlmap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es-CL" altLang="es-CL" sz="1800" dirty="0">
                <a:latin typeface="Arial" panose="020B0604020202020204" pitchFamily="34" charset="0"/>
              </a:rPr>
              <a:t> </a:t>
            </a:r>
            <a:r>
              <a:rPr kumimoji="0" lang="es-CL" altLang="es-CL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Función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Una herramienta completamente automatizada para detectar y explotar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vulnerabilidades de 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Inyección SQL (</a:t>
            </a: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SQLi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Puede tomar el control de servidores de bases de datos.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Metasploit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Framework:</a:t>
            </a:r>
            <a:r>
              <a:rPr lang="es-CL" altLang="es-CL" sz="1800" b="1" dirty="0">
                <a:latin typeface="Arial" panose="020B0604020202020204" pitchFamily="34" charset="0"/>
              </a:rPr>
              <a:t> </a:t>
            </a:r>
            <a:r>
              <a:rPr kumimoji="0" lang="es-CL" altLang="es-CL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Función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Una plataforma con una gran base de datos de "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exploits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(códigos para aprovechar vulnerabilidades). Se usa a menudo en la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fase de 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Post-Explotación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elevar privilegios o moverse lateralmente en la red.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XSSer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es-CL" altLang="es-CL" sz="1800" dirty="0">
                <a:latin typeface="Arial" panose="020B0604020202020204" pitchFamily="34" charset="0"/>
              </a:rPr>
              <a:t> </a:t>
            </a:r>
            <a:r>
              <a:rPr kumimoji="0" lang="es-CL" altLang="es-CL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Función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Diseñado específicamente para automatizar la detección y explotación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 vulnerabilidades de 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Cross-Site Scripting (XSS)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417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032CB5-3E3B-3040-376D-5D225BA88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 tomar en cuenta…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DDAF82-C194-FE66-1705-8B9BD7880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El </a:t>
            </a:r>
            <a:r>
              <a:rPr lang="es-MX" i="1" dirty="0" err="1"/>
              <a:t>pentester</a:t>
            </a:r>
            <a:r>
              <a:rPr lang="es-MX" dirty="0"/>
              <a:t> profesional rara vez confía solo en herramientas automáticas; la verdadera habilidad reside en el </a:t>
            </a:r>
            <a:r>
              <a:rPr lang="es-MX" b="1" dirty="0"/>
              <a:t>uso manual y creativo</a:t>
            </a:r>
            <a:r>
              <a:rPr lang="es-MX" dirty="0"/>
              <a:t> de herramientas como </a:t>
            </a:r>
            <a:r>
              <a:rPr lang="es-MX" b="1" dirty="0" err="1"/>
              <a:t>Burp</a:t>
            </a:r>
            <a:r>
              <a:rPr lang="es-MX" b="1" dirty="0"/>
              <a:t> Suite</a:t>
            </a:r>
            <a:r>
              <a:rPr lang="es-MX" dirty="0"/>
              <a:t> para descubrir vulnerabilidades de lógica de negocio o fallos complejos que los escáneres no pueden detectar.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875001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nología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33260_TF02787990_TF02787990.potx" id="{711CCDD4-BD90-4388-A31E-EA977055FCFF}" vid="{C5F9FE6A-8390-4E5A-B0DB-91EA047CC61C}"/>
    </a:ext>
  </a:extLst>
</a:theme>
</file>

<file path=ppt/theme/theme2.xml><?xml version="1.0" encoding="utf-8"?>
<a:theme xmlns:a="http://schemas.openxmlformats.org/drawingml/2006/main" name="Tema de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líneas de triple circuito (panorámica)</Template>
  <TotalTime>23</TotalTime>
  <Words>1587</Words>
  <Application>Microsoft Office PowerPoint</Application>
  <PresentationFormat>Personalizado</PresentationFormat>
  <Paragraphs>138</Paragraphs>
  <Slides>14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Arial Unicode MS</vt:lpstr>
      <vt:lpstr>Calibri</vt:lpstr>
      <vt:lpstr>Google Sans Text</vt:lpstr>
      <vt:lpstr>Tecnología 16x9</vt:lpstr>
      <vt:lpstr>Pentesting WEB</vt:lpstr>
      <vt:lpstr>Pentesting Web </vt:lpstr>
      <vt:lpstr>Metodologías Comunes</vt:lpstr>
      <vt:lpstr>Fases del Pentesting Web</vt:lpstr>
      <vt:lpstr>Vulnerabilidades Comunes en Pentesting Web</vt:lpstr>
      <vt:lpstr>Cross-Site Scripting (XSS)</vt:lpstr>
      <vt:lpstr>Insecure Direct Object Reference (IDOR)</vt:lpstr>
      <vt:lpstr>Broken Access Control (Control de Acceso Roto)</vt:lpstr>
      <vt:lpstr>Fallos de Seguridad en la Configuración (Security Misconfiguration)</vt:lpstr>
      <vt:lpstr>Vulnerabilidades de Archivos XML Externos (XXE)</vt:lpstr>
      <vt:lpstr>Herramientas Clave para el Pentesting Web Reconocimiento y Escaneo</vt:lpstr>
      <vt:lpstr>Herramientas de Proxy Interceptor (El Corazón del Pentesting)</vt:lpstr>
      <vt:lpstr>Herramientas de Explotación Específica</vt:lpstr>
      <vt:lpstr>A tomar en cuenta…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Patricio Ignacio Carrasco Zura</dc:creator>
  <cp:lastModifiedBy>Patricio Ignacio Carrasco Zura</cp:lastModifiedBy>
  <cp:revision>1</cp:revision>
  <dcterms:created xsi:type="dcterms:W3CDTF">2025-11-17T12:19:34Z</dcterms:created>
  <dcterms:modified xsi:type="dcterms:W3CDTF">2025-11-17T12:43:05Z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