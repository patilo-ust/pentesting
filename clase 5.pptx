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96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528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5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40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05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55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9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33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35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5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671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39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8/31/2025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641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tilo-ust/Pentesting/blob/main/scaneo.sh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FA88D0-E295-4CF3-934C-6423EACEB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078A15-EB30-6184-032E-AF2FC3D44F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150" r="-1" b="6559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4077353-F0F9-9B64-62EC-E40C982E9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732031"/>
            <a:ext cx="11147071" cy="5251895"/>
          </a:xfrm>
        </p:spPr>
        <p:txBody>
          <a:bodyPr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s-CL" sz="8800" noProof="0" dirty="0" err="1">
                <a:solidFill>
                  <a:srgbClr val="FFFFFF"/>
                </a:solidFill>
              </a:rPr>
              <a:t>Checkpoint</a:t>
            </a:r>
            <a:br>
              <a:rPr lang="es-CL" sz="8800" noProof="0" dirty="0">
                <a:solidFill>
                  <a:srgbClr val="FFFFFF"/>
                </a:solidFill>
              </a:rPr>
            </a:br>
            <a:r>
              <a:rPr lang="es-CL" sz="8800" noProof="0" dirty="0">
                <a:solidFill>
                  <a:srgbClr val="FFFFFF"/>
                </a:solidFill>
              </a:rPr>
              <a:t>antes de aplicar lo aprendido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F4E56A8-93D5-4BE3-AE61-84677331A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492A0C-1773-477B-83B5-C707CB057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158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F60170-91B4-45F0-B88B-9C07AEC46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B01B73-29CC-3FA3-46A2-D021518B2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678" y="702870"/>
            <a:ext cx="5614993" cy="309346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CL" noProof="0" dirty="0"/>
              <a:t>Y ahora que?...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BE3B19C-5EF6-492A-AA6F-EC0C2F236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Graphic 6" descr="Vela">
            <a:extLst>
              <a:ext uri="{FF2B5EF4-FFF2-40B4-BE49-F238E27FC236}">
                <a16:creationId xmlns:a16="http://schemas.microsoft.com/office/drawing/2014/main" id="{214AF0B4-BA2B-7D8D-9271-90D8ACF119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600" y="917356"/>
            <a:ext cx="5026102" cy="5026102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2DB647E-7779-454B-9098-17E6CE33D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650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84EE41-863A-4DE9-9A51-4F014D681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416" y="485369"/>
            <a:ext cx="11147071" cy="2460838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5B72AD-F196-ADCD-9D81-86A4CD751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28" y="976161"/>
            <a:ext cx="11385144" cy="149387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sz="5000" dirty="0"/>
              <a:t>Conclusión de OSINT y Reconocimiento</a:t>
            </a:r>
            <a:endParaRPr lang="es-CL" sz="5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135360-3A7F-436F-B1EA-3628A78B5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990BBA-8A0B-4EF5-A122-0815DEC19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348721-C58A-74DA-1623-DFB8D831B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3408254"/>
            <a:ext cx="8411119" cy="2470031"/>
          </a:xfrm>
        </p:spPr>
        <p:txBody>
          <a:bodyPr>
            <a:normAutofit/>
          </a:bodyPr>
          <a:lstStyle/>
          <a:p>
            <a:r>
              <a:rPr lang="es-MX" sz="2800" dirty="0"/>
              <a:t>Esta clase tiene como objetivo consolidar los conceptos de OSINT y las fases de reconocimiento pasivo y activo, mostrando un flujo de trabajo práctico utilizando las herramientas clave que hemos discutido.</a:t>
            </a:r>
            <a:endParaRPr lang="es-CL" sz="28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8045D80-B59B-4760-8DF9-AECD53044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Offensive OSINT">
            <a:extLst>
              <a:ext uri="{FF2B5EF4-FFF2-40B4-BE49-F238E27FC236}">
                <a16:creationId xmlns:a16="http://schemas.microsoft.com/office/drawing/2014/main" id="{997E7CC1-EB56-AC05-7480-589BB3D40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2097" y="2552365"/>
            <a:ext cx="4011068" cy="4011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263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33BF3-51D3-B377-494E-F5E9F67F7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es OSINT?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E68A6C-BB04-AD7F-6C1E-1DEFD8CFC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3306870"/>
            <a:ext cx="11462966" cy="2572722"/>
          </a:xfrm>
        </p:spPr>
        <p:txBody>
          <a:bodyPr/>
          <a:lstStyle/>
          <a:p>
            <a:r>
              <a:rPr lang="es-MX" b="1" dirty="0"/>
              <a:t>OSINT (Open-</a:t>
            </a:r>
            <a:r>
              <a:rPr lang="es-MX" b="1" dirty="0" err="1"/>
              <a:t>Source</a:t>
            </a:r>
            <a:r>
              <a:rPr lang="es-MX" b="1" dirty="0"/>
              <a:t> Intelligence)</a:t>
            </a:r>
            <a:r>
              <a:rPr lang="es-MX" dirty="0"/>
              <a:t> no es una herramienta, sino un </a:t>
            </a:r>
            <a:r>
              <a:rPr lang="es-MX" b="1" dirty="0"/>
              <a:t>concepto</a:t>
            </a:r>
            <a:r>
              <a:rPr lang="es-MX" dirty="0"/>
              <a:t>. Es la práctica de recolectar información de fuentes públicas. Es la primera fase del </a:t>
            </a:r>
            <a:r>
              <a:rPr lang="es-MX" dirty="0" err="1"/>
              <a:t>pentesting</a:t>
            </a:r>
            <a:r>
              <a:rPr lang="es-MX" dirty="0"/>
              <a:t> porque nos permite construir un perfil del objetivo sin generar ningún tipo de tráfico directo que pueda ser detectado por sus defensas. Es la fase más ética y legal, siempre y cuando no se infrinja la privacidad personal.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20402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2840A2-3EF3-A2C8-7593-2E4E848BB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700392"/>
            <a:ext cx="10506991" cy="5179200"/>
          </a:xfrm>
        </p:spPr>
        <p:txBody>
          <a:bodyPr/>
          <a:lstStyle/>
          <a:p>
            <a:r>
              <a:rPr lang="es-MX" b="1" dirty="0"/>
              <a:t>Herramientas de Reconocimiento OSINT:</a:t>
            </a:r>
            <a:r>
              <a:rPr lang="es-MX" dirty="0"/>
              <a:t> Si bien hemos visto Google </a:t>
            </a:r>
            <a:r>
              <a:rPr lang="es-MX" dirty="0" err="1"/>
              <a:t>Dorking</a:t>
            </a:r>
            <a:r>
              <a:rPr lang="es-MX" dirty="0"/>
              <a:t> y Whois, herramientas como </a:t>
            </a:r>
            <a:r>
              <a:rPr lang="es-MX" b="1" dirty="0" err="1"/>
              <a:t>Maltego</a:t>
            </a:r>
            <a:r>
              <a:rPr lang="es-MX" dirty="0"/>
              <a:t> e </a:t>
            </a:r>
            <a:r>
              <a:rPr lang="es-MX" b="1" dirty="0"/>
              <a:t>i2 de IBM</a:t>
            </a:r>
            <a:r>
              <a:rPr lang="es-MX" dirty="0"/>
              <a:t> automatizan este proceso. </a:t>
            </a:r>
            <a:r>
              <a:rPr lang="es-MX" b="1" dirty="0" err="1"/>
              <a:t>Maltego</a:t>
            </a:r>
            <a:r>
              <a:rPr lang="es-MX" dirty="0"/>
              <a:t> es la herramienta más popular en el mundo de la ciberseguridad para visualizar y correlacionar datos de diversas fuentes públicas (redes sociales, dominios, etc.) en un solo gráfico.</a:t>
            </a:r>
          </a:p>
          <a:p>
            <a:endParaRPr lang="es-MX" dirty="0"/>
          </a:p>
          <a:p>
            <a:r>
              <a:rPr lang="es-MX" dirty="0"/>
              <a:t>Pero </a:t>
            </a:r>
            <a:r>
              <a:rPr lang="es-MX" dirty="0" err="1"/>
              <a:t>uds</a:t>
            </a:r>
            <a:r>
              <a:rPr lang="es-MX" dirty="0"/>
              <a:t> deben aprender primero a utilizar herramientas como </a:t>
            </a:r>
            <a:r>
              <a:rPr lang="es-MX" dirty="0" err="1"/>
              <a:t>Dorking</a:t>
            </a:r>
            <a:r>
              <a:rPr lang="es-MX" dirty="0"/>
              <a:t> y búsqueda web para entender como funciona el reconocimiento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50557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84EE41-863A-4DE9-9A51-4F014D681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416" y="485369"/>
            <a:ext cx="11147071" cy="2460838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FEA98A-8050-350A-9963-D21EFB8F0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60"/>
            <a:ext cx="8411120" cy="1493871"/>
          </a:xfrm>
        </p:spPr>
        <p:txBody>
          <a:bodyPr>
            <a:normAutofit/>
          </a:bodyPr>
          <a:lstStyle/>
          <a:p>
            <a:r>
              <a:rPr lang="es-CL" sz="7200" dirty="0"/>
              <a:t>Nuestras fases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135360-3A7F-436F-B1EA-3628A78B5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990BBA-8A0B-4EF5-A122-0815DEC19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222C01-3BA8-8EC2-A33C-651F6E7DE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3408254"/>
            <a:ext cx="11424055" cy="2470031"/>
          </a:xfrm>
        </p:spPr>
        <p:txBody>
          <a:bodyPr>
            <a:normAutofit lnSpcReduction="10000"/>
          </a:bodyPr>
          <a:lstStyle/>
          <a:p>
            <a:r>
              <a:rPr lang="es-MX" sz="3200" dirty="0"/>
              <a:t>Una vez que tengas una lista de subdominios e </a:t>
            </a:r>
            <a:r>
              <a:rPr lang="es-MX" sz="3200" dirty="0" err="1"/>
              <a:t>IPs</a:t>
            </a:r>
            <a:r>
              <a:rPr lang="es-MX" sz="3200" dirty="0"/>
              <a:t> del reconocimiento pasivo, puedes empezar a escanearlos.</a:t>
            </a:r>
          </a:p>
          <a:p>
            <a:r>
              <a:rPr lang="es-MX" sz="3200" dirty="0"/>
              <a:t>Con la lista de </a:t>
            </a:r>
            <a:r>
              <a:rPr lang="es-MX" sz="3200" dirty="0" err="1"/>
              <a:t>IPs</a:t>
            </a:r>
            <a:r>
              <a:rPr lang="es-MX" sz="3200" dirty="0"/>
              <a:t> y subdominios, es hora de usar </a:t>
            </a:r>
            <a:r>
              <a:rPr lang="es-MX" sz="3200" dirty="0" err="1"/>
              <a:t>Nmap</a:t>
            </a:r>
            <a:r>
              <a:rPr lang="es-MX" sz="3200" dirty="0"/>
              <a:t>. Recuerda que esta fase es ruidosa y </a:t>
            </a:r>
            <a:r>
              <a:rPr lang="es-MX" sz="3200" b="1" dirty="0">
                <a:solidFill>
                  <a:srgbClr val="FF0000"/>
                </a:solidFill>
              </a:rPr>
              <a:t>siempre requiere consentimiento</a:t>
            </a:r>
            <a:r>
              <a:rPr lang="es-MX" sz="3200" dirty="0">
                <a:solidFill>
                  <a:srgbClr val="FF0000"/>
                </a:solidFill>
              </a:rPr>
              <a:t>.</a:t>
            </a:r>
            <a:endParaRPr lang="es-CL" sz="3200" dirty="0">
              <a:solidFill>
                <a:srgbClr val="FF0000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8045D80-B59B-4760-8DF9-AECD53044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751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DAABD33-4C2B-E447-8A3B-EF33A77D4F47}"/>
              </a:ext>
            </a:extLst>
          </p:cNvPr>
          <p:cNvSpPr txBox="1"/>
          <p:nvPr/>
        </p:nvSpPr>
        <p:spPr>
          <a:xfrm>
            <a:off x="534521" y="938243"/>
            <a:ext cx="60982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# 1.1 Whois básico</a:t>
            </a:r>
          </a:p>
          <a:p>
            <a:r>
              <a:rPr lang="es-CL" dirty="0"/>
              <a:t>whois dominio.com</a:t>
            </a:r>
          </a:p>
          <a:p>
            <a:endParaRPr lang="es-CL" dirty="0"/>
          </a:p>
          <a:p>
            <a:r>
              <a:rPr lang="es-CL" dirty="0"/>
              <a:t># 1.2 Google </a:t>
            </a:r>
            <a:r>
              <a:rPr lang="es-CL" dirty="0" err="1"/>
              <a:t>Dorking</a:t>
            </a:r>
            <a:r>
              <a:rPr lang="es-CL" dirty="0"/>
              <a:t> (ejemplos)</a:t>
            </a:r>
          </a:p>
          <a:p>
            <a:r>
              <a:rPr lang="es-CL" dirty="0"/>
              <a:t># Buscar subdominios</a:t>
            </a:r>
          </a:p>
          <a:p>
            <a:r>
              <a:rPr lang="es-CL" dirty="0"/>
              <a:t>site:*.dominio.com</a:t>
            </a:r>
          </a:p>
          <a:p>
            <a:endParaRPr lang="es-CL" dirty="0"/>
          </a:p>
          <a:p>
            <a:r>
              <a:rPr lang="es-CL" dirty="0"/>
              <a:t># Buscar documentos sensibles</a:t>
            </a:r>
          </a:p>
          <a:p>
            <a:r>
              <a:rPr lang="es-CL" dirty="0" err="1"/>
              <a:t>site:dominio.com</a:t>
            </a:r>
            <a:r>
              <a:rPr lang="es-CL" dirty="0"/>
              <a:t> </a:t>
            </a:r>
            <a:r>
              <a:rPr lang="es-CL" dirty="0" err="1"/>
              <a:t>filetype:pdf</a:t>
            </a:r>
            <a:r>
              <a:rPr lang="es-CL" dirty="0"/>
              <a:t> | </a:t>
            </a:r>
            <a:r>
              <a:rPr lang="es-CL" dirty="0" err="1"/>
              <a:t>filetype:doc</a:t>
            </a:r>
            <a:r>
              <a:rPr lang="es-CL" dirty="0"/>
              <a:t> | </a:t>
            </a:r>
            <a:r>
              <a:rPr lang="es-CL" dirty="0" err="1"/>
              <a:t>filetype:xls</a:t>
            </a:r>
            <a:endParaRPr lang="es-CL" dirty="0"/>
          </a:p>
          <a:p>
            <a:endParaRPr lang="es-CL" dirty="0"/>
          </a:p>
          <a:p>
            <a:r>
              <a:rPr lang="es-CL" dirty="0"/>
              <a:t># Directorios expuestos</a:t>
            </a:r>
          </a:p>
          <a:p>
            <a:r>
              <a:rPr lang="es-CL" dirty="0" err="1"/>
              <a:t>site:dominio.com</a:t>
            </a:r>
            <a:r>
              <a:rPr lang="es-CL" dirty="0"/>
              <a:t> </a:t>
            </a:r>
            <a:r>
              <a:rPr lang="es-CL" dirty="0" err="1"/>
              <a:t>intitle</a:t>
            </a:r>
            <a:r>
              <a:rPr lang="es-CL" dirty="0"/>
              <a:t>:"</a:t>
            </a:r>
            <a:r>
              <a:rPr lang="es-CL" dirty="0" err="1"/>
              <a:t>index</a:t>
            </a:r>
            <a:r>
              <a:rPr lang="es-CL" dirty="0"/>
              <a:t> </a:t>
            </a:r>
            <a:r>
              <a:rPr lang="es-CL" dirty="0" err="1"/>
              <a:t>of</a:t>
            </a:r>
            <a:r>
              <a:rPr lang="es-CL" dirty="0"/>
              <a:t>"</a:t>
            </a:r>
          </a:p>
          <a:p>
            <a:endParaRPr lang="es-CL" dirty="0"/>
          </a:p>
          <a:p>
            <a:r>
              <a:rPr lang="es-CL" dirty="0"/>
              <a:t># 1.3 Herramientas OSINT automatizadas</a:t>
            </a:r>
          </a:p>
          <a:p>
            <a:r>
              <a:rPr lang="es-CL" dirty="0"/>
              <a:t># ideal </a:t>
            </a:r>
            <a:r>
              <a:rPr lang="es-CL" dirty="0" err="1"/>
              <a:t>maltego</a:t>
            </a:r>
            <a:r>
              <a:rPr lang="es-CL" dirty="0"/>
              <a:t> versión </a:t>
            </a:r>
            <a:r>
              <a:rPr lang="es-CL" dirty="0" err="1"/>
              <a:t>community</a:t>
            </a:r>
            <a:endParaRPr lang="es-C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53A6DB-ECB8-F5CD-F4F9-0D5D7AEA9F70}"/>
              </a:ext>
            </a:extLst>
          </p:cNvPr>
          <p:cNvSpPr txBox="1"/>
          <p:nvPr/>
        </p:nvSpPr>
        <p:spPr>
          <a:xfrm>
            <a:off x="6316756" y="1215241"/>
            <a:ext cx="60982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# 2.1 Usando Sublist3r</a:t>
            </a:r>
          </a:p>
          <a:p>
            <a:r>
              <a:rPr lang="es-CL" dirty="0"/>
              <a:t>python3 sublist3r.py -d dominio.com -o subdominios.txt</a:t>
            </a:r>
          </a:p>
          <a:p>
            <a:endParaRPr lang="es-CL" dirty="0"/>
          </a:p>
          <a:p>
            <a:r>
              <a:rPr lang="es-CL" dirty="0"/>
              <a:t># 2.2 Usando </a:t>
            </a:r>
            <a:r>
              <a:rPr lang="es-CL" dirty="0" err="1"/>
              <a:t>Subfinder</a:t>
            </a:r>
            <a:endParaRPr lang="es-CL" dirty="0"/>
          </a:p>
          <a:p>
            <a:r>
              <a:rPr lang="es-CL" dirty="0" err="1"/>
              <a:t>subfinder</a:t>
            </a:r>
            <a:r>
              <a:rPr lang="es-CL" dirty="0"/>
              <a:t> -d dominio.com -o subdominios_finder.txt</a:t>
            </a:r>
          </a:p>
          <a:p>
            <a:endParaRPr lang="es-CL" dirty="0"/>
          </a:p>
          <a:p>
            <a:r>
              <a:rPr lang="es-CL" dirty="0"/>
              <a:t># 2.3 Combinar y filtrar resultados</a:t>
            </a:r>
          </a:p>
          <a:p>
            <a:r>
              <a:rPr lang="es-CL" dirty="0" err="1"/>
              <a:t>cat</a:t>
            </a:r>
            <a:r>
              <a:rPr lang="es-CL" dirty="0"/>
              <a:t> subdominios.txt subdominios_finder.txt | </a:t>
            </a:r>
            <a:r>
              <a:rPr lang="es-CL" dirty="0" err="1"/>
              <a:t>sort</a:t>
            </a:r>
            <a:r>
              <a:rPr lang="es-CL" dirty="0"/>
              <a:t> -u &gt; todos_subdominios.txt</a:t>
            </a:r>
          </a:p>
          <a:p>
            <a:endParaRPr lang="es-CL" dirty="0"/>
          </a:p>
          <a:p>
            <a:r>
              <a:rPr lang="es-CL" dirty="0"/>
              <a:t># 2.4 Resolver DNS para obtener </a:t>
            </a:r>
            <a:r>
              <a:rPr lang="es-CL" dirty="0" err="1"/>
              <a:t>IPs</a:t>
            </a:r>
            <a:endParaRPr lang="es-CL" dirty="0"/>
          </a:p>
          <a:p>
            <a:r>
              <a:rPr lang="es-CL" dirty="0" err="1"/>
              <a:t>for</a:t>
            </a:r>
            <a:r>
              <a:rPr lang="es-CL" dirty="0"/>
              <a:t> sub in $(</a:t>
            </a:r>
            <a:r>
              <a:rPr lang="es-CL" dirty="0" err="1"/>
              <a:t>cat</a:t>
            </a:r>
            <a:r>
              <a:rPr lang="es-CL" dirty="0"/>
              <a:t> todos_subdominios.txt); do</a:t>
            </a:r>
          </a:p>
          <a:p>
            <a:r>
              <a:rPr lang="es-CL" dirty="0"/>
              <a:t>    host $sub | grep "has </a:t>
            </a:r>
            <a:r>
              <a:rPr lang="es-CL" dirty="0" err="1"/>
              <a:t>address</a:t>
            </a:r>
            <a:r>
              <a:rPr lang="es-CL" dirty="0"/>
              <a:t>" | </a:t>
            </a:r>
            <a:r>
              <a:rPr lang="es-CL" dirty="0" err="1"/>
              <a:t>awk</a:t>
            </a:r>
            <a:r>
              <a:rPr lang="es-CL" dirty="0"/>
              <a:t> '{</a:t>
            </a:r>
            <a:r>
              <a:rPr lang="es-CL" dirty="0" err="1"/>
              <a:t>print</a:t>
            </a:r>
            <a:r>
              <a:rPr lang="es-CL" dirty="0"/>
              <a:t> $4}'</a:t>
            </a:r>
          </a:p>
          <a:p>
            <a:r>
              <a:rPr lang="es-CL" dirty="0"/>
              <a:t>done | </a:t>
            </a:r>
            <a:r>
              <a:rPr lang="es-CL" dirty="0" err="1"/>
              <a:t>sort</a:t>
            </a:r>
            <a:r>
              <a:rPr lang="es-CL" dirty="0"/>
              <a:t> -u &gt; ips_target.txt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063BAC-0F0F-48C2-8153-AB18D5C251E7}"/>
              </a:ext>
            </a:extLst>
          </p:cNvPr>
          <p:cNvSpPr txBox="1"/>
          <p:nvPr/>
        </p:nvSpPr>
        <p:spPr>
          <a:xfrm>
            <a:off x="2433917" y="568911"/>
            <a:ext cx="879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Fase 1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041EAA9-5C97-CCDE-F2DE-440B26C518D3}"/>
              </a:ext>
            </a:extLst>
          </p:cNvPr>
          <p:cNvSpPr txBox="1"/>
          <p:nvPr/>
        </p:nvSpPr>
        <p:spPr>
          <a:xfrm>
            <a:off x="6996952" y="522744"/>
            <a:ext cx="879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Fase 2 </a:t>
            </a:r>
          </a:p>
        </p:txBody>
      </p:sp>
    </p:spTree>
    <p:extLst>
      <p:ext uri="{BB962C8B-B14F-4D97-AF65-F5344CB8AC3E}">
        <p14:creationId xmlns:p14="http://schemas.microsoft.com/office/powerpoint/2010/main" val="3645901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E70BD5D-17E6-4887-A29F-C82092681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381AC9-41D0-4F64-874D-F7C128E77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600" y="489855"/>
            <a:ext cx="11147071" cy="587827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1C954A-4D7B-A3EB-CEC0-211708319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568" y="1275388"/>
            <a:ext cx="5363432" cy="474217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Break para analizar lo recolectado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D5954AA-5123-4815-AA16-474FB4B32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E3095D-6D59-44B6-85DE-E5EA58733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22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58B7B7-1156-F8B2-74BA-9BB37857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63672"/>
            <a:ext cx="10634472" cy="996188"/>
          </a:xfrm>
        </p:spPr>
        <p:txBody>
          <a:bodyPr/>
          <a:lstStyle/>
          <a:p>
            <a:r>
              <a:rPr lang="es-CL" dirty="0"/>
              <a:t>Vamos con </a:t>
            </a:r>
            <a:r>
              <a:rPr lang="es-CL" dirty="0" err="1"/>
              <a:t>nmap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F47B68-FFE3-FBB1-AD23-D5AE03353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694330"/>
            <a:ext cx="10987741" cy="4599998"/>
          </a:xfrm>
        </p:spPr>
        <p:txBody>
          <a:bodyPr>
            <a:normAutofit lnSpcReduction="10000"/>
          </a:bodyPr>
          <a:lstStyle/>
          <a:p>
            <a:r>
              <a:rPr lang="es-CL" dirty="0"/>
              <a:t>Escaneo Sigiloso + Detección de SO/Servicios + Scripts Básicos</a:t>
            </a:r>
          </a:p>
          <a:p>
            <a:r>
              <a:rPr lang="es-CL" i="1" dirty="0" err="1"/>
              <a:t>nmap</a:t>
            </a:r>
            <a:r>
              <a:rPr lang="es-CL" i="1" dirty="0"/>
              <a:t> -</a:t>
            </a:r>
            <a:r>
              <a:rPr lang="es-CL" i="1" dirty="0" err="1"/>
              <a:t>sS</a:t>
            </a:r>
            <a:r>
              <a:rPr lang="es-CL" i="1" dirty="0"/>
              <a:t> -</a:t>
            </a:r>
            <a:r>
              <a:rPr lang="es-CL" i="1" dirty="0" err="1"/>
              <a:t>sV</a:t>
            </a:r>
            <a:r>
              <a:rPr lang="es-CL" i="1" dirty="0"/>
              <a:t> -O -T4 --script=</a:t>
            </a:r>
            <a:r>
              <a:rPr lang="es-CL" i="1" dirty="0" err="1"/>
              <a:t>default,vuln</a:t>
            </a:r>
            <a:r>
              <a:rPr lang="es-CL" i="1" dirty="0"/>
              <a:t> -</a:t>
            </a:r>
            <a:r>
              <a:rPr lang="es-CL" i="1" dirty="0" err="1"/>
              <a:t>Pn</a:t>
            </a:r>
            <a:r>
              <a:rPr lang="es-CL" i="1" dirty="0"/>
              <a:t> -p- &lt;target&gt; -</a:t>
            </a:r>
            <a:r>
              <a:rPr lang="es-CL" i="1" dirty="0" err="1"/>
              <a:t>oN</a:t>
            </a:r>
            <a:r>
              <a:rPr lang="es-CL" i="1" dirty="0"/>
              <a:t> scan_results.txt</a:t>
            </a:r>
          </a:p>
          <a:p>
            <a:r>
              <a:rPr lang="es-CL" dirty="0"/>
              <a:t>Escaneo Rápido con Foco en Vulnerabilidades Críticas</a:t>
            </a:r>
          </a:p>
          <a:p>
            <a:r>
              <a:rPr lang="es-CL" i="1" dirty="0" err="1"/>
              <a:t>nmap</a:t>
            </a:r>
            <a:r>
              <a:rPr lang="es-CL" i="1" dirty="0"/>
              <a:t> -</a:t>
            </a:r>
            <a:r>
              <a:rPr lang="es-CL" i="1" dirty="0" err="1"/>
              <a:t>sV</a:t>
            </a:r>
            <a:r>
              <a:rPr lang="es-CL" i="1" dirty="0"/>
              <a:t> --script=</a:t>
            </a:r>
            <a:r>
              <a:rPr lang="es-CL" i="1" dirty="0" err="1"/>
              <a:t>vulners,cve,exploit</a:t>
            </a:r>
            <a:r>
              <a:rPr lang="es-CL" i="1" dirty="0"/>
              <a:t> -</a:t>
            </a:r>
            <a:r>
              <a:rPr lang="es-CL" i="1" dirty="0" err="1"/>
              <a:t>Pn</a:t>
            </a:r>
            <a:r>
              <a:rPr lang="es-CL" i="1" dirty="0"/>
              <a:t> --top-</a:t>
            </a:r>
            <a:r>
              <a:rPr lang="es-CL" i="1" dirty="0" err="1"/>
              <a:t>ports</a:t>
            </a:r>
            <a:r>
              <a:rPr lang="es-CL" i="1" dirty="0"/>
              <a:t> 1000 &lt;target&gt;</a:t>
            </a:r>
          </a:p>
          <a:p>
            <a:r>
              <a:rPr lang="es-CL" dirty="0"/>
              <a:t>escaneo de red completo</a:t>
            </a:r>
          </a:p>
          <a:p>
            <a:r>
              <a:rPr lang="es-CL" i="1" dirty="0" err="1"/>
              <a:t>nmap</a:t>
            </a:r>
            <a:r>
              <a:rPr lang="es-CL" i="1" dirty="0"/>
              <a:t> -</a:t>
            </a:r>
            <a:r>
              <a:rPr lang="es-CL" i="1" dirty="0" err="1"/>
              <a:t>sS</a:t>
            </a:r>
            <a:r>
              <a:rPr lang="es-CL" i="1" dirty="0"/>
              <a:t> -</a:t>
            </a:r>
            <a:r>
              <a:rPr lang="es-CL" i="1" dirty="0" err="1"/>
              <a:t>sV</a:t>
            </a:r>
            <a:r>
              <a:rPr lang="es-CL" i="1" dirty="0"/>
              <a:t> -O -T2 --</a:t>
            </a:r>
            <a:r>
              <a:rPr lang="es-CL" i="1" dirty="0" err="1"/>
              <a:t>max-parallelism</a:t>
            </a:r>
            <a:r>
              <a:rPr lang="es-CL" i="1" dirty="0"/>
              <a:t> 1 --</a:t>
            </a:r>
            <a:r>
              <a:rPr lang="es-CL" i="1" dirty="0" err="1"/>
              <a:t>max-retries</a:t>
            </a:r>
            <a:r>
              <a:rPr lang="es-CL" i="1" dirty="0"/>
              <a:t> 3 --script=</a:t>
            </a:r>
            <a:r>
              <a:rPr lang="es-CL" i="1" dirty="0" err="1"/>
              <a:t>safe</a:t>
            </a:r>
            <a:r>
              <a:rPr lang="es-CL" i="1" dirty="0"/>
              <a:t> -</a:t>
            </a:r>
            <a:r>
              <a:rPr lang="es-CL" i="1" dirty="0" err="1"/>
              <a:t>iL</a:t>
            </a:r>
            <a:r>
              <a:rPr lang="es-CL" i="1" dirty="0"/>
              <a:t> targets.txt -</a:t>
            </a:r>
            <a:r>
              <a:rPr lang="es-CL" i="1" dirty="0" err="1"/>
              <a:t>oA</a:t>
            </a:r>
            <a:r>
              <a:rPr lang="es-CL" i="1" dirty="0"/>
              <a:t> </a:t>
            </a:r>
            <a:r>
              <a:rPr lang="es-CL" i="1" dirty="0" err="1"/>
              <a:t>full_scan</a:t>
            </a:r>
            <a:endParaRPr lang="es-CL" i="1" dirty="0"/>
          </a:p>
          <a:p>
            <a:r>
              <a:rPr lang="es-CL" dirty="0"/>
              <a:t>Evadir IDS/IPS</a:t>
            </a:r>
          </a:p>
          <a:p>
            <a:r>
              <a:rPr lang="es-CL" i="1" dirty="0" err="1"/>
              <a:t>nmap</a:t>
            </a:r>
            <a:r>
              <a:rPr lang="es-CL" i="1" dirty="0"/>
              <a:t> -</a:t>
            </a:r>
            <a:r>
              <a:rPr lang="es-CL" i="1" dirty="0" err="1"/>
              <a:t>sS</a:t>
            </a:r>
            <a:r>
              <a:rPr lang="es-CL" i="1" dirty="0"/>
              <a:t> -f --data-</a:t>
            </a:r>
            <a:r>
              <a:rPr lang="es-CL" i="1" dirty="0" err="1"/>
              <a:t>length</a:t>
            </a:r>
            <a:r>
              <a:rPr lang="es-CL" i="1" dirty="0"/>
              <a:t> 24 --</a:t>
            </a:r>
            <a:r>
              <a:rPr lang="es-CL" i="1" dirty="0" err="1"/>
              <a:t>ttl</a:t>
            </a:r>
            <a:r>
              <a:rPr lang="es-CL" i="1" dirty="0"/>
              <a:t> 64 --</a:t>
            </a:r>
            <a:r>
              <a:rPr lang="es-CL" i="1" dirty="0" err="1"/>
              <a:t>spoof-mac</a:t>
            </a:r>
            <a:r>
              <a:rPr lang="es-CL" i="1" dirty="0"/>
              <a:t> 0 --</a:t>
            </a:r>
            <a:r>
              <a:rPr lang="es-CL" i="1" dirty="0" err="1"/>
              <a:t>badsum</a:t>
            </a:r>
            <a:r>
              <a:rPr lang="es-CL" i="1" dirty="0"/>
              <a:t> -D RND:5 &lt;target&gt;  </a:t>
            </a:r>
            <a:r>
              <a:rPr lang="es-CL" dirty="0"/>
              <a:t>Usa -</a:t>
            </a:r>
            <a:r>
              <a:rPr lang="es-CL" dirty="0" err="1"/>
              <a:t>Pn</a:t>
            </a:r>
            <a:r>
              <a:rPr lang="es-CL" dirty="0"/>
              <a:t> si el host bloquea pings.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21099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2C2D9-8648-81C2-C7C7-8FB1D0139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61549"/>
            <a:ext cx="10745694" cy="1038651"/>
          </a:xfrm>
        </p:spPr>
        <p:txBody>
          <a:bodyPr/>
          <a:lstStyle/>
          <a:p>
            <a:r>
              <a:rPr lang="es-CL" dirty="0"/>
              <a:t>Y si lo automatizamos?...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C1B714-BED1-B5A5-6030-6A5DF761C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124636"/>
            <a:ext cx="10506991" cy="3754956"/>
          </a:xfrm>
        </p:spPr>
        <p:txBody>
          <a:bodyPr/>
          <a:lstStyle/>
          <a:p>
            <a:r>
              <a:rPr lang="es-CL" dirty="0"/>
              <a:t>Chequeemos: </a:t>
            </a:r>
            <a:r>
              <a:rPr lang="es-CL" dirty="0">
                <a:hlinkClick r:id="rId2"/>
              </a:rPr>
              <a:t>repositorio con archivo automatizado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69583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03A68E-778D-C578-3963-2D8E76744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796604"/>
          </a:xfrm>
        </p:spPr>
        <p:txBody>
          <a:bodyPr/>
          <a:lstStyle/>
          <a:p>
            <a:r>
              <a:rPr lang="es-CL" dirty="0"/>
              <a:t>Recordemos que con </a:t>
            </a:r>
            <a:r>
              <a:rPr lang="es-CL" dirty="0" err="1"/>
              <a:t>nmap</a:t>
            </a:r>
            <a:r>
              <a:rPr lang="es-CL" dirty="0"/>
              <a:t>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181B3D-DEAA-A2C5-A2EC-2F0D2A627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151530"/>
            <a:ext cx="10506991" cy="3728062"/>
          </a:xfrm>
        </p:spPr>
        <p:txBody>
          <a:bodyPr/>
          <a:lstStyle/>
          <a:p>
            <a:r>
              <a:rPr lang="es-CL" dirty="0"/>
              <a:t>Tenemos la fase de: </a:t>
            </a:r>
          </a:p>
          <a:p>
            <a:pPr marL="342900" indent="-342900">
              <a:buFontTx/>
              <a:buChar char="-"/>
            </a:pPr>
            <a:r>
              <a:rPr lang="es-CL" dirty="0"/>
              <a:t>Escaneos de puertos, </a:t>
            </a:r>
            <a:r>
              <a:rPr lang="es-CL" dirty="0" err="1"/>
              <a:t>s.o</a:t>
            </a:r>
            <a:r>
              <a:rPr lang="es-CL" dirty="0"/>
              <a:t>, </a:t>
            </a:r>
            <a:r>
              <a:rPr lang="es-CL" dirty="0" err="1"/>
              <a:t>ips</a:t>
            </a:r>
            <a:r>
              <a:rPr lang="es-CL" dirty="0"/>
              <a:t>, servicios tipos TCP y UDP</a:t>
            </a:r>
          </a:p>
          <a:p>
            <a:pPr marL="342900" indent="-342900">
              <a:buFontTx/>
              <a:buChar char="-"/>
            </a:pPr>
            <a:r>
              <a:rPr lang="es-CL" dirty="0"/>
              <a:t>Escaneos NSE donde se busca vulnerabilidades y hace brute forcé</a:t>
            </a:r>
          </a:p>
          <a:p>
            <a:pPr marL="342900" indent="-342900">
              <a:buFontTx/>
              <a:buChar char="-"/>
            </a:pPr>
            <a:r>
              <a:rPr lang="es-CL" dirty="0"/>
              <a:t>Enumeración de servicios HTTP</a:t>
            </a:r>
          </a:p>
        </p:txBody>
      </p:sp>
    </p:spTree>
    <p:extLst>
      <p:ext uri="{BB962C8B-B14F-4D97-AF65-F5344CB8AC3E}">
        <p14:creationId xmlns:p14="http://schemas.microsoft.com/office/powerpoint/2010/main" val="590011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F07D0-1B3B-7794-2030-14FA1E0C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850392"/>
          </a:xfrm>
        </p:spPr>
        <p:txBody>
          <a:bodyPr/>
          <a:lstStyle/>
          <a:p>
            <a:r>
              <a:rPr lang="es-CL" dirty="0"/>
              <a:t>Pasando a lo profesional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2D115D-A1B5-00D3-61CE-6A4ECD47E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138082"/>
            <a:ext cx="10506991" cy="3741509"/>
          </a:xfrm>
        </p:spPr>
        <p:txBody>
          <a:bodyPr/>
          <a:lstStyle/>
          <a:p>
            <a:r>
              <a:rPr lang="es-CL" dirty="0"/>
              <a:t>Este jueves aplicaremos ambas fases en el laboratorio</a:t>
            </a:r>
          </a:p>
          <a:p>
            <a:r>
              <a:rPr lang="es-CL" dirty="0"/>
              <a:t>En caso de no tener tu equipo con Kali Linux, es necesario tener instalado</a:t>
            </a:r>
          </a:p>
          <a:p>
            <a:r>
              <a:rPr lang="es-CL" dirty="0" err="1"/>
              <a:t>Nmap</a:t>
            </a:r>
            <a:r>
              <a:rPr lang="es-CL" dirty="0"/>
              <a:t> y </a:t>
            </a:r>
            <a:r>
              <a:rPr lang="es-CL" dirty="0" err="1"/>
              <a:t>shodan</a:t>
            </a:r>
            <a:r>
              <a:rPr lang="es-CL" dirty="0"/>
              <a:t>(te debes registrar para utilizar la api </a:t>
            </a:r>
            <a:r>
              <a:rPr lang="es-CL" dirty="0" err="1"/>
              <a:t>key</a:t>
            </a:r>
            <a:r>
              <a:rPr lang="es-CL" dirty="0"/>
              <a:t>)</a:t>
            </a:r>
          </a:p>
          <a:p>
            <a:r>
              <a:rPr lang="es-CL" dirty="0"/>
              <a:t>En cualquier distro de </a:t>
            </a:r>
            <a:r>
              <a:rPr lang="es-CL" dirty="0" err="1"/>
              <a:t>linux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303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9CB57-EDA6-BD9F-465F-778A11FB6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742816"/>
          </a:xfrm>
        </p:spPr>
        <p:txBody>
          <a:bodyPr/>
          <a:lstStyle/>
          <a:p>
            <a:r>
              <a:rPr lang="es-CL" dirty="0"/>
              <a:t>Y para OSINT profesional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F99832-E432-3FB8-72D4-77610F083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191872"/>
            <a:ext cx="10506991" cy="3687720"/>
          </a:xfrm>
        </p:spPr>
        <p:txBody>
          <a:bodyPr/>
          <a:lstStyle/>
          <a:p>
            <a:r>
              <a:rPr lang="es-CL" dirty="0"/>
              <a:t>Contamos con 2 aplicaciones de automatización y globales</a:t>
            </a:r>
          </a:p>
          <a:p>
            <a:pPr marL="342900" indent="-342900">
              <a:buFontTx/>
              <a:buChar char="-"/>
            </a:pPr>
            <a:r>
              <a:rPr lang="es-CL" dirty="0" err="1"/>
              <a:t>Maltego</a:t>
            </a:r>
            <a:r>
              <a:rPr lang="es-CL" dirty="0"/>
              <a:t> e i2 IBM (ambas profesionales)</a:t>
            </a:r>
          </a:p>
          <a:p>
            <a:r>
              <a:rPr lang="es-CL" dirty="0"/>
              <a:t>Contamos con 3 herramientas para búsqueda de vulnerabilidades y host</a:t>
            </a:r>
          </a:p>
          <a:p>
            <a:pPr marL="342900" indent="-342900">
              <a:buFontTx/>
              <a:buChar char="-"/>
            </a:pPr>
            <a:r>
              <a:rPr lang="es-CL" dirty="0"/>
              <a:t>Nessus (herramienta por default)</a:t>
            </a:r>
          </a:p>
          <a:p>
            <a:pPr marL="342900" indent="-342900">
              <a:buFontTx/>
              <a:buChar char="-"/>
            </a:pPr>
            <a:r>
              <a:rPr lang="es-CL" dirty="0" err="1"/>
              <a:t>Nmap</a:t>
            </a:r>
            <a:r>
              <a:rPr lang="es-CL" dirty="0"/>
              <a:t> (uso global y comercial)</a:t>
            </a:r>
          </a:p>
          <a:p>
            <a:pPr marL="342900" indent="-342900">
              <a:buFontTx/>
              <a:buChar char="-"/>
            </a:pPr>
            <a:r>
              <a:rPr lang="es-CL" dirty="0" err="1"/>
              <a:t>OpenVas</a:t>
            </a:r>
            <a:r>
              <a:rPr lang="es-CL" dirty="0"/>
              <a:t> (mucho mas potente que </a:t>
            </a:r>
            <a:r>
              <a:rPr lang="es-CL" dirty="0" err="1"/>
              <a:t>nmap</a:t>
            </a:r>
            <a:r>
              <a:rPr lang="es-CL" dirty="0"/>
              <a:t>)</a:t>
            </a:r>
          </a:p>
          <a:p>
            <a:r>
              <a:rPr lang="es-CL" dirty="0"/>
              <a:t>Como dato, dominando esas herramientas ya consigues chamba</a:t>
            </a:r>
          </a:p>
        </p:txBody>
      </p:sp>
    </p:spTree>
    <p:extLst>
      <p:ext uri="{BB962C8B-B14F-4D97-AF65-F5344CB8AC3E}">
        <p14:creationId xmlns:p14="http://schemas.microsoft.com/office/powerpoint/2010/main" val="3766773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73B04-E286-333C-BD14-6B68CC04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Que hago con la vulnerabilidad?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DE25C8-8F53-AB14-0030-F12CDBCF0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Ahora que ya tenemos todo recopilado y sabemos a que es vulnerable nuestra host, debemos aplicar el siguiente comando en Kali o </a:t>
            </a:r>
            <a:r>
              <a:rPr lang="es-CL" dirty="0" err="1"/>
              <a:t>parrot</a:t>
            </a:r>
            <a:endParaRPr lang="es-CL" dirty="0"/>
          </a:p>
          <a:p>
            <a:r>
              <a:rPr lang="es-CL" dirty="0" err="1"/>
              <a:t>Searchsploit</a:t>
            </a:r>
            <a:r>
              <a:rPr lang="es-CL" dirty="0"/>
              <a:t> &lt;vulnerabilidad&gt;</a:t>
            </a:r>
          </a:p>
          <a:p>
            <a:r>
              <a:rPr lang="es-CL" dirty="0"/>
              <a:t>Por ejemplo: </a:t>
            </a:r>
            <a:r>
              <a:rPr lang="es-CL" dirty="0" err="1"/>
              <a:t>searchsploit</a:t>
            </a:r>
            <a:r>
              <a:rPr lang="es-CL"/>
              <a:t> CVE-2017-1001000</a:t>
            </a:r>
          </a:p>
        </p:txBody>
      </p:sp>
    </p:spTree>
    <p:extLst>
      <p:ext uri="{BB962C8B-B14F-4D97-AF65-F5344CB8AC3E}">
        <p14:creationId xmlns:p14="http://schemas.microsoft.com/office/powerpoint/2010/main" val="2329013948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764</Words>
  <Application>Microsoft Office PowerPoint</Application>
  <PresentationFormat>Panorámica</PresentationFormat>
  <Paragraphs>77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Seaford</vt:lpstr>
      <vt:lpstr>LevelVTI</vt:lpstr>
      <vt:lpstr>Checkpoint antes de aplicar lo aprendido</vt:lpstr>
      <vt:lpstr>Y ahora que?...</vt:lpstr>
      <vt:lpstr>Conclusión de OSINT y Reconocimiento</vt:lpstr>
      <vt:lpstr>¿Qué es OSINT?</vt:lpstr>
      <vt:lpstr>Presentación de PowerPoint</vt:lpstr>
      <vt:lpstr>Nuestras fases</vt:lpstr>
      <vt:lpstr>Presentación de PowerPoint</vt:lpstr>
      <vt:lpstr>Break para analizar lo recolectado</vt:lpstr>
      <vt:lpstr>Vamos con nmap</vt:lpstr>
      <vt:lpstr>Y si lo automatizamos?...</vt:lpstr>
      <vt:lpstr>Recordemos que con nmap…</vt:lpstr>
      <vt:lpstr>Pasando a lo profesional</vt:lpstr>
      <vt:lpstr>Y para OSINT profesional</vt:lpstr>
      <vt:lpstr>Que hago con la vulnerabilidad?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Ignacio Carrasco Zura</dc:creator>
  <cp:lastModifiedBy>Patricio Ignacio Carrasco Zura</cp:lastModifiedBy>
  <cp:revision>1</cp:revision>
  <dcterms:created xsi:type="dcterms:W3CDTF">2025-09-01T02:12:25Z</dcterms:created>
  <dcterms:modified xsi:type="dcterms:W3CDTF">2025-09-01T05:22:52Z</dcterms:modified>
</cp:coreProperties>
</file>